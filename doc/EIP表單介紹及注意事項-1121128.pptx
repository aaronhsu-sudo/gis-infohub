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341" r:id="rId2"/>
    <p:sldId id="342" r:id="rId3"/>
    <p:sldId id="345" r:id="rId4"/>
    <p:sldId id="322" r:id="rId5"/>
    <p:sldId id="374" r:id="rId6"/>
    <p:sldId id="343" r:id="rId7"/>
    <p:sldId id="344" r:id="rId8"/>
    <p:sldId id="309" r:id="rId9"/>
    <p:sldId id="346" r:id="rId10"/>
    <p:sldId id="347" r:id="rId11"/>
    <p:sldId id="349" r:id="rId12"/>
    <p:sldId id="348" r:id="rId13"/>
    <p:sldId id="350" r:id="rId14"/>
    <p:sldId id="372" r:id="rId15"/>
    <p:sldId id="351" r:id="rId16"/>
    <p:sldId id="353" r:id="rId17"/>
    <p:sldId id="352" r:id="rId18"/>
    <p:sldId id="328" r:id="rId19"/>
    <p:sldId id="307" r:id="rId20"/>
    <p:sldId id="323" r:id="rId21"/>
    <p:sldId id="308" r:id="rId22"/>
    <p:sldId id="327" r:id="rId23"/>
    <p:sldId id="359" r:id="rId24"/>
    <p:sldId id="371" r:id="rId25"/>
    <p:sldId id="361" r:id="rId26"/>
    <p:sldId id="360" r:id="rId27"/>
    <p:sldId id="362" r:id="rId28"/>
    <p:sldId id="331" r:id="rId29"/>
    <p:sldId id="334" r:id="rId30"/>
    <p:sldId id="332" r:id="rId31"/>
    <p:sldId id="369" r:id="rId32"/>
    <p:sldId id="363" r:id="rId33"/>
    <p:sldId id="364" r:id="rId34"/>
    <p:sldId id="311" r:id="rId35"/>
    <p:sldId id="339" r:id="rId36"/>
    <p:sldId id="319" r:id="rId37"/>
    <p:sldId id="365" r:id="rId38"/>
    <p:sldId id="305" r:id="rId39"/>
    <p:sldId id="370" r:id="rId40"/>
    <p:sldId id="302" r:id="rId41"/>
    <p:sldId id="336" r:id="rId42"/>
    <p:sldId id="321" r:id="rId43"/>
    <p:sldId id="377" r:id="rId44"/>
    <p:sldId id="355" r:id="rId45"/>
    <p:sldId id="357" r:id="rId46"/>
    <p:sldId id="356" r:id="rId47"/>
    <p:sldId id="373" r:id="rId48"/>
    <p:sldId id="375" r:id="rId49"/>
    <p:sldId id="354" r:id="rId50"/>
    <p:sldId id="358" r:id="rId51"/>
    <p:sldId id="326" r:id="rId5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6"/>
    <a:srgbClr val="218DBD"/>
    <a:srgbClr val="FFCCCC"/>
    <a:srgbClr val="EC2B32"/>
    <a:srgbClr val="FAFA12"/>
    <a:srgbClr val="FFFF66"/>
    <a:srgbClr val="FFFF99"/>
    <a:srgbClr val="50637C"/>
    <a:srgbClr val="38A9DC"/>
    <a:srgbClr val="3886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5" autoAdjust="0"/>
    <p:restoredTop sz="94534" autoAdjust="0"/>
  </p:normalViewPr>
  <p:slideViewPr>
    <p:cSldViewPr snapToGrid="0">
      <p:cViewPr varScale="1">
        <p:scale>
          <a:sx n="106" d="100"/>
          <a:sy n="106" d="100"/>
        </p:scale>
        <p:origin x="219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44AB94-4FE0-4D3A-AA95-2C4E6B4B4B50}" type="doc">
      <dgm:prSet loTypeId="urn:microsoft.com/office/officeart/2005/8/layout/hChevron3" loCatId="process" qsTypeId="urn:microsoft.com/office/officeart/2005/8/quickstyle/simple1" qsCatId="simple" csTypeId="urn:microsoft.com/office/officeart/2005/8/colors/accent0_3" csCatId="mainScheme" phldr="1"/>
      <dgm:spPr/>
    </dgm:pt>
    <dgm:pt modelId="{F4C69471-92DE-4DA0-964B-AC8B0FDF6A7E}">
      <dgm:prSet phldrT="[文字]" custT="1"/>
      <dgm:spPr/>
      <dgm:t>
        <a:bodyPr/>
        <a:lstStyle/>
        <a:p>
          <a:r>
            <a:rPr lang="zh-TW" altLang="en-US" sz="2000" b="1" dirty="0"/>
            <a:t>申請人取得主管同意</a:t>
          </a:r>
        </a:p>
      </dgm:t>
    </dgm:pt>
    <dgm:pt modelId="{B03614E9-A021-49BD-B5DA-B31D9CCAAA43}" type="parTrans" cxnId="{EB4A0008-6DEE-4CDD-BAA4-F5CA258F17A7}">
      <dgm:prSet/>
      <dgm:spPr/>
      <dgm:t>
        <a:bodyPr/>
        <a:lstStyle/>
        <a:p>
          <a:endParaRPr lang="zh-TW" altLang="en-US"/>
        </a:p>
      </dgm:t>
    </dgm:pt>
    <dgm:pt modelId="{A98EF554-9D42-41F9-A3DB-4F1F3F8BC7CA}" type="sibTrans" cxnId="{EB4A0008-6DEE-4CDD-BAA4-F5CA258F17A7}">
      <dgm:prSet/>
      <dgm:spPr/>
      <dgm:t>
        <a:bodyPr/>
        <a:lstStyle/>
        <a:p>
          <a:endParaRPr lang="zh-TW" altLang="en-US"/>
        </a:p>
      </dgm:t>
    </dgm:pt>
    <dgm:pt modelId="{7B7FB60D-623B-443A-86CA-B4C2BDD99DFC}">
      <dgm:prSet phldrT="[文字]" custT="1"/>
      <dgm:spPr/>
      <dgm:t>
        <a:bodyPr/>
        <a:lstStyle/>
        <a:p>
          <a:r>
            <a:rPr lang="zh-TW" altLang="en-US" sz="2000" b="1" dirty="0"/>
            <a:t>送請購單</a:t>
          </a:r>
        </a:p>
      </dgm:t>
    </dgm:pt>
    <dgm:pt modelId="{E627475C-545C-48CC-BD79-AC4EACCCADBF}" type="parTrans" cxnId="{DC57F1B4-3FA4-4E1D-9F3A-B6E12AFF3286}">
      <dgm:prSet/>
      <dgm:spPr/>
      <dgm:t>
        <a:bodyPr/>
        <a:lstStyle/>
        <a:p>
          <a:endParaRPr lang="zh-TW" altLang="en-US"/>
        </a:p>
      </dgm:t>
    </dgm:pt>
    <dgm:pt modelId="{75B85FF5-C359-4865-B1DD-BF91E44418C7}" type="sibTrans" cxnId="{DC57F1B4-3FA4-4E1D-9F3A-B6E12AFF3286}">
      <dgm:prSet/>
      <dgm:spPr/>
      <dgm:t>
        <a:bodyPr/>
        <a:lstStyle/>
        <a:p>
          <a:endParaRPr lang="zh-TW" altLang="en-US"/>
        </a:p>
      </dgm:t>
    </dgm:pt>
    <dgm:pt modelId="{5AF835EF-1243-4632-83CB-288F35A0C1BA}">
      <dgm:prSet phldrT="[文字]" custT="1"/>
      <dgm:spPr/>
      <dgm:t>
        <a:bodyPr/>
        <a:lstStyle/>
        <a:p>
          <a:r>
            <a:rPr lang="zh-TW" altLang="en-US" sz="2000" b="1" dirty="0"/>
            <a:t>簽核完成</a:t>
          </a:r>
        </a:p>
      </dgm:t>
    </dgm:pt>
    <dgm:pt modelId="{4A202C0D-DE0B-40D1-BCC6-DABAE6C35120}" type="parTrans" cxnId="{1E85581E-8BE0-4DC5-BC5D-FDCF7173FD1F}">
      <dgm:prSet/>
      <dgm:spPr/>
      <dgm:t>
        <a:bodyPr/>
        <a:lstStyle/>
        <a:p>
          <a:endParaRPr lang="zh-TW" altLang="en-US"/>
        </a:p>
      </dgm:t>
    </dgm:pt>
    <dgm:pt modelId="{CA69986B-919E-4137-908E-5E9CBC08EB9E}" type="sibTrans" cxnId="{1E85581E-8BE0-4DC5-BC5D-FDCF7173FD1F}">
      <dgm:prSet/>
      <dgm:spPr/>
      <dgm:t>
        <a:bodyPr/>
        <a:lstStyle/>
        <a:p>
          <a:endParaRPr lang="zh-TW" altLang="en-US"/>
        </a:p>
      </dgm:t>
    </dgm:pt>
    <dgm:pt modelId="{04DD840A-642B-4953-A3F5-4C82B367E6A6}">
      <dgm:prSet phldrT="[文字]" custT="1"/>
      <dgm:spPr/>
      <dgm:t>
        <a:bodyPr/>
        <a:lstStyle/>
        <a:p>
          <a:r>
            <a:rPr lang="zh-TW" altLang="en-US" sz="2000" b="1" dirty="0"/>
            <a:t>通知</a:t>
          </a:r>
          <a:r>
            <a:rPr lang="zh-TW" altLang="en-US" sz="2000" b="1" dirty="0">
              <a:solidFill>
                <a:schemeClr val="accent2"/>
              </a:solidFill>
            </a:rPr>
            <a:t>財務長</a:t>
          </a:r>
          <a:endParaRPr lang="en-US" altLang="zh-TW" sz="2000" b="1" dirty="0">
            <a:solidFill>
              <a:schemeClr val="accent2"/>
            </a:solidFill>
          </a:endParaRPr>
        </a:p>
        <a:p>
          <a:r>
            <a:rPr lang="zh-TW" altLang="en-US" sz="2000" b="1" dirty="0"/>
            <a:t>刷卡</a:t>
          </a:r>
        </a:p>
      </dgm:t>
    </dgm:pt>
    <dgm:pt modelId="{D49C5080-D94A-4A28-B6A3-54D2F4E7F974}" type="parTrans" cxnId="{DCBF6CCB-F2A8-4716-83F6-33C80ECC9BC8}">
      <dgm:prSet/>
      <dgm:spPr/>
      <dgm:t>
        <a:bodyPr/>
        <a:lstStyle/>
        <a:p>
          <a:endParaRPr lang="zh-TW" altLang="en-US"/>
        </a:p>
      </dgm:t>
    </dgm:pt>
    <dgm:pt modelId="{17313608-1041-4015-9268-5A254A589B33}" type="sibTrans" cxnId="{DCBF6CCB-F2A8-4716-83F6-33C80ECC9BC8}">
      <dgm:prSet/>
      <dgm:spPr/>
      <dgm:t>
        <a:bodyPr/>
        <a:lstStyle/>
        <a:p>
          <a:endParaRPr lang="zh-TW" altLang="en-US"/>
        </a:p>
      </dgm:t>
    </dgm:pt>
    <dgm:pt modelId="{41B86A2B-8BBD-4ABB-BE30-0AE5B2A0B257}">
      <dgm:prSet phldrT="[文字]" custT="1"/>
      <dgm:spPr/>
      <dgm:t>
        <a:bodyPr/>
        <a:lstStyle/>
        <a:p>
          <a:r>
            <a:rPr lang="zh-TW" altLang="en-US" sz="2000" b="1" dirty="0"/>
            <a:t>刷卡完成，待出納通知核銷</a:t>
          </a:r>
        </a:p>
      </dgm:t>
    </dgm:pt>
    <dgm:pt modelId="{0DE164DD-73BC-46AF-B0F2-4F1915F14CEC}" type="parTrans" cxnId="{AB61CAC0-21B7-41B0-9201-0575B951B7A3}">
      <dgm:prSet/>
      <dgm:spPr/>
      <dgm:t>
        <a:bodyPr/>
        <a:lstStyle/>
        <a:p>
          <a:endParaRPr lang="zh-TW" altLang="en-US"/>
        </a:p>
      </dgm:t>
    </dgm:pt>
    <dgm:pt modelId="{DF375F72-E716-498E-BD50-6E3CEF2ECFCA}" type="sibTrans" cxnId="{AB61CAC0-21B7-41B0-9201-0575B951B7A3}">
      <dgm:prSet/>
      <dgm:spPr/>
      <dgm:t>
        <a:bodyPr/>
        <a:lstStyle/>
        <a:p>
          <a:endParaRPr lang="zh-TW" altLang="en-US"/>
        </a:p>
      </dgm:t>
    </dgm:pt>
    <dgm:pt modelId="{97C792B1-DE67-4780-BA99-18B2228C5F5C}" type="pres">
      <dgm:prSet presAssocID="{3844AB94-4FE0-4D3A-AA95-2C4E6B4B4B50}" presName="Name0" presStyleCnt="0">
        <dgm:presLayoutVars>
          <dgm:dir/>
          <dgm:resizeHandles val="exact"/>
        </dgm:presLayoutVars>
      </dgm:prSet>
      <dgm:spPr/>
    </dgm:pt>
    <dgm:pt modelId="{09C86C61-CF6D-4654-B106-F968F516D945}" type="pres">
      <dgm:prSet presAssocID="{F4C69471-92DE-4DA0-964B-AC8B0FDF6A7E}" presName="parTxOnly" presStyleLbl="node1" presStyleIdx="0" presStyleCnt="5">
        <dgm:presLayoutVars>
          <dgm:bulletEnabled val="1"/>
        </dgm:presLayoutVars>
      </dgm:prSet>
      <dgm:spPr/>
    </dgm:pt>
    <dgm:pt modelId="{AC738911-78DC-4AE7-B470-F10CE406F42E}" type="pres">
      <dgm:prSet presAssocID="{A98EF554-9D42-41F9-A3DB-4F1F3F8BC7CA}" presName="parSpace" presStyleCnt="0"/>
      <dgm:spPr/>
    </dgm:pt>
    <dgm:pt modelId="{000992D1-FB1D-4A12-A6E0-F2BE11C3A6E3}" type="pres">
      <dgm:prSet presAssocID="{7B7FB60D-623B-443A-86CA-B4C2BDD99DFC}" presName="parTxOnly" presStyleLbl="node1" presStyleIdx="1" presStyleCnt="5">
        <dgm:presLayoutVars>
          <dgm:bulletEnabled val="1"/>
        </dgm:presLayoutVars>
      </dgm:prSet>
      <dgm:spPr/>
    </dgm:pt>
    <dgm:pt modelId="{67F48815-4D35-423A-8855-BF019FD5A12F}" type="pres">
      <dgm:prSet presAssocID="{75B85FF5-C359-4865-B1DD-BF91E44418C7}" presName="parSpace" presStyleCnt="0"/>
      <dgm:spPr/>
    </dgm:pt>
    <dgm:pt modelId="{FE6DBF6B-E14C-47C3-AE42-52B5F58A2220}" type="pres">
      <dgm:prSet presAssocID="{5AF835EF-1243-4632-83CB-288F35A0C1BA}" presName="parTxOnly" presStyleLbl="node1" presStyleIdx="2" presStyleCnt="5">
        <dgm:presLayoutVars>
          <dgm:bulletEnabled val="1"/>
        </dgm:presLayoutVars>
      </dgm:prSet>
      <dgm:spPr/>
    </dgm:pt>
    <dgm:pt modelId="{695A6C93-619B-4045-A11E-F11BE919F3D0}" type="pres">
      <dgm:prSet presAssocID="{CA69986B-919E-4137-908E-5E9CBC08EB9E}" presName="parSpace" presStyleCnt="0"/>
      <dgm:spPr/>
    </dgm:pt>
    <dgm:pt modelId="{BA7CFD98-0399-46FD-ADFE-2D6DFD611B5D}" type="pres">
      <dgm:prSet presAssocID="{04DD840A-642B-4953-A3F5-4C82B367E6A6}" presName="parTxOnly" presStyleLbl="node1" presStyleIdx="3" presStyleCnt="5">
        <dgm:presLayoutVars>
          <dgm:bulletEnabled val="1"/>
        </dgm:presLayoutVars>
      </dgm:prSet>
      <dgm:spPr/>
    </dgm:pt>
    <dgm:pt modelId="{27DD6037-2E60-43E6-8B46-37AD0D4E7546}" type="pres">
      <dgm:prSet presAssocID="{17313608-1041-4015-9268-5A254A589B33}" presName="parSpace" presStyleCnt="0"/>
      <dgm:spPr/>
    </dgm:pt>
    <dgm:pt modelId="{D51DCC39-A179-4142-B80B-0F50FF0BA658}" type="pres">
      <dgm:prSet presAssocID="{41B86A2B-8BBD-4ABB-BE30-0AE5B2A0B257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EB4A0008-6DEE-4CDD-BAA4-F5CA258F17A7}" srcId="{3844AB94-4FE0-4D3A-AA95-2C4E6B4B4B50}" destId="{F4C69471-92DE-4DA0-964B-AC8B0FDF6A7E}" srcOrd="0" destOrd="0" parTransId="{B03614E9-A021-49BD-B5DA-B31D9CCAAA43}" sibTransId="{A98EF554-9D42-41F9-A3DB-4F1F3F8BC7CA}"/>
    <dgm:cxn modelId="{7F1DEE16-90D0-440F-836A-61EC790D285F}" type="presOf" srcId="{F4C69471-92DE-4DA0-964B-AC8B0FDF6A7E}" destId="{09C86C61-CF6D-4654-B106-F968F516D945}" srcOrd="0" destOrd="0" presId="urn:microsoft.com/office/officeart/2005/8/layout/hChevron3"/>
    <dgm:cxn modelId="{006D4718-D9F9-482F-9DC4-6017EA8C5231}" type="presOf" srcId="{5AF835EF-1243-4632-83CB-288F35A0C1BA}" destId="{FE6DBF6B-E14C-47C3-AE42-52B5F58A2220}" srcOrd="0" destOrd="0" presId="urn:microsoft.com/office/officeart/2005/8/layout/hChevron3"/>
    <dgm:cxn modelId="{1E85581E-8BE0-4DC5-BC5D-FDCF7173FD1F}" srcId="{3844AB94-4FE0-4D3A-AA95-2C4E6B4B4B50}" destId="{5AF835EF-1243-4632-83CB-288F35A0C1BA}" srcOrd="2" destOrd="0" parTransId="{4A202C0D-DE0B-40D1-BCC6-DABAE6C35120}" sibTransId="{CA69986B-919E-4137-908E-5E9CBC08EB9E}"/>
    <dgm:cxn modelId="{E9544B2F-E414-447B-9161-C6F03B10694D}" type="presOf" srcId="{04DD840A-642B-4953-A3F5-4C82B367E6A6}" destId="{BA7CFD98-0399-46FD-ADFE-2D6DFD611B5D}" srcOrd="0" destOrd="0" presId="urn:microsoft.com/office/officeart/2005/8/layout/hChevron3"/>
    <dgm:cxn modelId="{AF06945D-94DF-4653-A4E5-1E467F256752}" type="presOf" srcId="{7B7FB60D-623B-443A-86CA-B4C2BDD99DFC}" destId="{000992D1-FB1D-4A12-A6E0-F2BE11C3A6E3}" srcOrd="0" destOrd="0" presId="urn:microsoft.com/office/officeart/2005/8/layout/hChevron3"/>
    <dgm:cxn modelId="{0C316F76-CA41-4E0D-B32E-8DDFF9FD9C18}" type="presOf" srcId="{3844AB94-4FE0-4D3A-AA95-2C4E6B4B4B50}" destId="{97C792B1-DE67-4780-BA99-18B2228C5F5C}" srcOrd="0" destOrd="0" presId="urn:microsoft.com/office/officeart/2005/8/layout/hChevron3"/>
    <dgm:cxn modelId="{4DE04B79-26DA-415E-A7A1-727D4D2AFA2A}" type="presOf" srcId="{41B86A2B-8BBD-4ABB-BE30-0AE5B2A0B257}" destId="{D51DCC39-A179-4142-B80B-0F50FF0BA658}" srcOrd="0" destOrd="0" presId="urn:microsoft.com/office/officeart/2005/8/layout/hChevron3"/>
    <dgm:cxn modelId="{DC57F1B4-3FA4-4E1D-9F3A-B6E12AFF3286}" srcId="{3844AB94-4FE0-4D3A-AA95-2C4E6B4B4B50}" destId="{7B7FB60D-623B-443A-86CA-B4C2BDD99DFC}" srcOrd="1" destOrd="0" parTransId="{E627475C-545C-48CC-BD79-AC4EACCCADBF}" sibTransId="{75B85FF5-C359-4865-B1DD-BF91E44418C7}"/>
    <dgm:cxn modelId="{AB61CAC0-21B7-41B0-9201-0575B951B7A3}" srcId="{3844AB94-4FE0-4D3A-AA95-2C4E6B4B4B50}" destId="{41B86A2B-8BBD-4ABB-BE30-0AE5B2A0B257}" srcOrd="4" destOrd="0" parTransId="{0DE164DD-73BC-46AF-B0F2-4F1915F14CEC}" sibTransId="{DF375F72-E716-498E-BD50-6E3CEF2ECFCA}"/>
    <dgm:cxn modelId="{DCBF6CCB-F2A8-4716-83F6-33C80ECC9BC8}" srcId="{3844AB94-4FE0-4D3A-AA95-2C4E6B4B4B50}" destId="{04DD840A-642B-4953-A3F5-4C82B367E6A6}" srcOrd="3" destOrd="0" parTransId="{D49C5080-D94A-4A28-B6A3-54D2F4E7F974}" sibTransId="{17313608-1041-4015-9268-5A254A589B33}"/>
    <dgm:cxn modelId="{C34FFCDB-E098-4681-887E-368C1F9622AD}" type="presParOf" srcId="{97C792B1-DE67-4780-BA99-18B2228C5F5C}" destId="{09C86C61-CF6D-4654-B106-F968F516D945}" srcOrd="0" destOrd="0" presId="urn:microsoft.com/office/officeart/2005/8/layout/hChevron3"/>
    <dgm:cxn modelId="{AC1C1315-6733-4A30-8ACC-D5DB7A1B2634}" type="presParOf" srcId="{97C792B1-DE67-4780-BA99-18B2228C5F5C}" destId="{AC738911-78DC-4AE7-B470-F10CE406F42E}" srcOrd="1" destOrd="0" presId="urn:microsoft.com/office/officeart/2005/8/layout/hChevron3"/>
    <dgm:cxn modelId="{2293A805-3CF2-4DE3-A293-DE9747FC9B0F}" type="presParOf" srcId="{97C792B1-DE67-4780-BA99-18B2228C5F5C}" destId="{000992D1-FB1D-4A12-A6E0-F2BE11C3A6E3}" srcOrd="2" destOrd="0" presId="urn:microsoft.com/office/officeart/2005/8/layout/hChevron3"/>
    <dgm:cxn modelId="{1679DDAB-47F0-4DB9-A764-280D92DD91B0}" type="presParOf" srcId="{97C792B1-DE67-4780-BA99-18B2228C5F5C}" destId="{67F48815-4D35-423A-8855-BF019FD5A12F}" srcOrd="3" destOrd="0" presId="urn:microsoft.com/office/officeart/2005/8/layout/hChevron3"/>
    <dgm:cxn modelId="{763FA5AA-1FA2-413A-AC97-1812AE801490}" type="presParOf" srcId="{97C792B1-DE67-4780-BA99-18B2228C5F5C}" destId="{FE6DBF6B-E14C-47C3-AE42-52B5F58A2220}" srcOrd="4" destOrd="0" presId="urn:microsoft.com/office/officeart/2005/8/layout/hChevron3"/>
    <dgm:cxn modelId="{00962AC4-B60A-4B6B-90AE-DEF7A135B97F}" type="presParOf" srcId="{97C792B1-DE67-4780-BA99-18B2228C5F5C}" destId="{695A6C93-619B-4045-A11E-F11BE919F3D0}" srcOrd="5" destOrd="0" presId="urn:microsoft.com/office/officeart/2005/8/layout/hChevron3"/>
    <dgm:cxn modelId="{174832D5-39A6-42F6-A462-3B65CC7BBC82}" type="presParOf" srcId="{97C792B1-DE67-4780-BA99-18B2228C5F5C}" destId="{BA7CFD98-0399-46FD-ADFE-2D6DFD611B5D}" srcOrd="6" destOrd="0" presId="urn:microsoft.com/office/officeart/2005/8/layout/hChevron3"/>
    <dgm:cxn modelId="{87B02D75-7DE9-4DE8-BA52-810DB9602BC5}" type="presParOf" srcId="{97C792B1-DE67-4780-BA99-18B2228C5F5C}" destId="{27DD6037-2E60-43E6-8B46-37AD0D4E7546}" srcOrd="7" destOrd="0" presId="urn:microsoft.com/office/officeart/2005/8/layout/hChevron3"/>
    <dgm:cxn modelId="{85B98A95-680D-441C-AD5B-D275B7CACEE1}" type="presParOf" srcId="{97C792B1-DE67-4780-BA99-18B2228C5F5C}" destId="{D51DCC39-A179-4142-B80B-0F50FF0BA658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2FE006-A250-4357-A7FE-32FCC46EFFEE}" type="doc">
      <dgm:prSet loTypeId="urn:microsoft.com/office/officeart/2005/8/layout/bProcess3" loCatId="process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zh-TW" altLang="en-US"/>
        </a:p>
      </dgm:t>
    </dgm:pt>
    <dgm:pt modelId="{5B905699-C58F-4F32-9DDB-D8CB842B40D9}">
      <dgm:prSet phldrT="[文字]" custT="1"/>
      <dgm:spPr>
        <a:solidFill>
          <a:srgbClr val="FFCC66"/>
        </a:solidFill>
      </dgm:spPr>
      <dgm:t>
        <a:bodyPr/>
        <a:lstStyle/>
        <a:p>
          <a:r>
            <a:rPr lang="zh-TW" altLang="en-US" sz="1800" b="1" dirty="0"/>
            <a:t>申請人送出</a:t>
          </a:r>
          <a:endParaRPr lang="en-US" altLang="zh-TW" sz="1800" b="1" dirty="0"/>
        </a:p>
        <a:p>
          <a:r>
            <a:rPr lang="zh-TW" altLang="en-US" sz="1800" b="1" dirty="0"/>
            <a:t>預支單</a:t>
          </a:r>
        </a:p>
      </dgm:t>
    </dgm:pt>
    <dgm:pt modelId="{2E6EC4E7-6FFF-43F8-B78A-81618B923ECC}" type="parTrans" cxnId="{EAFE482A-145C-42F4-80C1-A7B8FBE238AC}">
      <dgm:prSet/>
      <dgm:spPr/>
      <dgm:t>
        <a:bodyPr/>
        <a:lstStyle/>
        <a:p>
          <a:endParaRPr lang="zh-TW" altLang="en-US"/>
        </a:p>
      </dgm:t>
    </dgm:pt>
    <dgm:pt modelId="{E6DE44A9-F0A1-41AD-A6B5-4A34685D3A21}" type="sibTrans" cxnId="{EAFE482A-145C-42F4-80C1-A7B8FBE238AC}">
      <dgm:prSet/>
      <dgm:spPr/>
      <dgm:t>
        <a:bodyPr/>
        <a:lstStyle/>
        <a:p>
          <a:endParaRPr lang="zh-TW" altLang="en-US"/>
        </a:p>
      </dgm:t>
    </dgm:pt>
    <dgm:pt modelId="{E67BB650-F908-4FB8-946A-66FCB76DD53B}">
      <dgm:prSet phldrT="[文字]" custT="1"/>
      <dgm:spPr>
        <a:solidFill>
          <a:srgbClr val="FFCC66"/>
        </a:solidFill>
      </dgm:spPr>
      <dgm:t>
        <a:bodyPr/>
        <a:lstStyle/>
        <a:p>
          <a:r>
            <a:rPr lang="zh-TW" altLang="en-US" sz="1800" b="1" dirty="0"/>
            <a:t>預支單簽核完畢</a:t>
          </a:r>
        </a:p>
      </dgm:t>
    </dgm:pt>
    <dgm:pt modelId="{4A01BD71-787B-49CB-B4A6-59A58529BB9E}" type="parTrans" cxnId="{839ECD4D-3895-4B70-94A8-5CDC3EC9A10D}">
      <dgm:prSet/>
      <dgm:spPr/>
      <dgm:t>
        <a:bodyPr/>
        <a:lstStyle/>
        <a:p>
          <a:endParaRPr lang="zh-TW" altLang="en-US"/>
        </a:p>
      </dgm:t>
    </dgm:pt>
    <dgm:pt modelId="{F77A8D61-CF90-4D2D-B0CE-CE73A36E155B}" type="sibTrans" cxnId="{839ECD4D-3895-4B70-94A8-5CDC3EC9A10D}">
      <dgm:prSet/>
      <dgm:spPr/>
      <dgm:t>
        <a:bodyPr/>
        <a:lstStyle/>
        <a:p>
          <a:endParaRPr lang="zh-TW" altLang="en-US"/>
        </a:p>
      </dgm:t>
    </dgm:pt>
    <dgm:pt modelId="{48AA7932-0E25-4015-A5DB-43BAF61AD95F}">
      <dgm:prSet phldrT="[文字]" custT="1"/>
      <dgm:spPr/>
      <dgm:t>
        <a:bodyPr/>
        <a:lstStyle/>
        <a:p>
          <a:r>
            <a:rPr lang="zh-TW" altLang="en-US" sz="1800" b="1" dirty="0"/>
            <a:t>出納作帳</a:t>
          </a:r>
          <a:endParaRPr lang="en-US" altLang="zh-TW" sz="1800" b="1" dirty="0"/>
        </a:p>
        <a:p>
          <a:r>
            <a:rPr lang="zh-TW" altLang="en-US" sz="1800" b="1" dirty="0"/>
            <a:t>主管覆核</a:t>
          </a:r>
        </a:p>
      </dgm:t>
    </dgm:pt>
    <dgm:pt modelId="{D6CEE549-5D69-4C85-8558-BFE474AA4C24}" type="parTrans" cxnId="{31B345DE-8739-4213-BD56-1D4394CC6358}">
      <dgm:prSet/>
      <dgm:spPr/>
      <dgm:t>
        <a:bodyPr/>
        <a:lstStyle/>
        <a:p>
          <a:endParaRPr lang="zh-TW" altLang="en-US"/>
        </a:p>
      </dgm:t>
    </dgm:pt>
    <dgm:pt modelId="{D2DAFB68-E809-4245-A5A9-F333E7432A82}" type="sibTrans" cxnId="{31B345DE-8739-4213-BD56-1D4394CC6358}">
      <dgm:prSet/>
      <dgm:spPr/>
      <dgm:t>
        <a:bodyPr/>
        <a:lstStyle/>
        <a:p>
          <a:endParaRPr lang="zh-TW" altLang="en-US"/>
        </a:p>
      </dgm:t>
    </dgm:pt>
    <dgm:pt modelId="{5839110A-4E24-433C-9AF3-E05D94721918}">
      <dgm:prSet phldrT="[文字]" custT="1"/>
      <dgm:spPr/>
      <dgm:t>
        <a:bodyPr/>
        <a:lstStyle/>
        <a:p>
          <a:r>
            <a:rPr lang="zh-TW" altLang="en-US" sz="1800" b="1" dirty="0"/>
            <a:t>網銀放行，</a:t>
          </a:r>
          <a:endParaRPr lang="en-US" altLang="zh-TW" sz="1800" b="1" dirty="0"/>
        </a:p>
        <a:p>
          <a:r>
            <a:rPr lang="zh-TW" altLang="en-US" sz="1800" b="1" dirty="0"/>
            <a:t>交易進入排程</a:t>
          </a:r>
        </a:p>
      </dgm:t>
    </dgm:pt>
    <dgm:pt modelId="{3B5D9F93-72B3-4B4C-9485-0536D5FDB9B8}" type="parTrans" cxnId="{54CB7320-840B-4C7C-8784-30F81A12FF93}">
      <dgm:prSet/>
      <dgm:spPr/>
      <dgm:t>
        <a:bodyPr/>
        <a:lstStyle/>
        <a:p>
          <a:endParaRPr lang="zh-TW" altLang="en-US"/>
        </a:p>
      </dgm:t>
    </dgm:pt>
    <dgm:pt modelId="{7E83AF21-0485-41BB-8815-CBAE0FB764D6}" type="sibTrans" cxnId="{54CB7320-840B-4C7C-8784-30F81A12FF93}">
      <dgm:prSet/>
      <dgm:spPr/>
      <dgm:t>
        <a:bodyPr/>
        <a:lstStyle/>
        <a:p>
          <a:endParaRPr lang="zh-TW" altLang="en-US"/>
        </a:p>
      </dgm:t>
    </dgm:pt>
    <dgm:pt modelId="{4F0A3D69-DD12-47D7-A923-297CFB816232}">
      <dgm:prSet phldrT="[文字]" custT="1"/>
      <dgm:spPr/>
      <dgm:t>
        <a:bodyPr/>
        <a:lstStyle/>
        <a:p>
          <a:r>
            <a:rPr lang="zh-TW" altLang="en-US" sz="1800" b="1" dirty="0"/>
            <a:t>匯出款項</a:t>
          </a:r>
        </a:p>
      </dgm:t>
    </dgm:pt>
    <dgm:pt modelId="{A8909B38-F5D5-4CB2-A5F1-E48CC95F17D3}" type="parTrans" cxnId="{636672D2-0DA9-4E72-9F48-83FFD2BE9C98}">
      <dgm:prSet/>
      <dgm:spPr/>
      <dgm:t>
        <a:bodyPr/>
        <a:lstStyle/>
        <a:p>
          <a:endParaRPr lang="zh-TW" altLang="en-US"/>
        </a:p>
      </dgm:t>
    </dgm:pt>
    <dgm:pt modelId="{CEAB0C92-97F5-4022-8B04-1479C033756E}" type="sibTrans" cxnId="{636672D2-0DA9-4E72-9F48-83FFD2BE9C98}">
      <dgm:prSet/>
      <dgm:spPr/>
      <dgm:t>
        <a:bodyPr/>
        <a:lstStyle/>
        <a:p>
          <a:endParaRPr lang="zh-TW" altLang="en-US"/>
        </a:p>
      </dgm:t>
    </dgm:pt>
    <dgm:pt modelId="{5FA57756-B46A-4BDA-BD57-89E9DECD5320}">
      <dgm:prSet phldrT="[文字]" custT="1"/>
      <dgm:spPr/>
      <dgm:t>
        <a:bodyPr/>
        <a:lstStyle/>
        <a:p>
          <a:r>
            <a:rPr lang="zh-TW" altLang="en-US" sz="1800" b="1" dirty="0"/>
            <a:t>出納</a:t>
          </a:r>
          <a:r>
            <a:rPr lang="en-US" altLang="zh-TW" sz="1800" b="1" dirty="0"/>
            <a:t>mail</a:t>
          </a:r>
          <a:r>
            <a:rPr lang="zh-TW" altLang="en-US" sz="1800" b="1" dirty="0"/>
            <a:t>匯款證明給申請人</a:t>
          </a:r>
        </a:p>
      </dgm:t>
    </dgm:pt>
    <dgm:pt modelId="{E639E102-46A0-4835-91FF-35BC470C6BCE}" type="parTrans" cxnId="{FF5BA893-CA95-4BBC-A847-7DCF0E704638}">
      <dgm:prSet/>
      <dgm:spPr/>
      <dgm:t>
        <a:bodyPr/>
        <a:lstStyle/>
        <a:p>
          <a:endParaRPr lang="zh-TW" altLang="en-US"/>
        </a:p>
      </dgm:t>
    </dgm:pt>
    <dgm:pt modelId="{C40E82E9-C829-499D-BAAE-021E040C3A9C}" type="sibTrans" cxnId="{FF5BA893-CA95-4BBC-A847-7DCF0E704638}">
      <dgm:prSet/>
      <dgm:spPr/>
      <dgm:t>
        <a:bodyPr/>
        <a:lstStyle/>
        <a:p>
          <a:endParaRPr lang="zh-TW" altLang="en-US"/>
        </a:p>
      </dgm:t>
    </dgm:pt>
    <dgm:pt modelId="{FB043B68-20F8-4707-8B45-336811C31808}">
      <dgm:prSet phldrT="[文字]" custT="1"/>
      <dgm:spPr>
        <a:solidFill>
          <a:srgbClr val="FFCC66"/>
        </a:solidFill>
      </dgm:spPr>
      <dgm:t>
        <a:bodyPr/>
        <a:lstStyle/>
        <a:p>
          <a:r>
            <a:rPr lang="zh-TW" altLang="en-US" sz="1800" b="1" dirty="0"/>
            <a:t>申請人取得憑證並送出表單核銷</a:t>
          </a:r>
        </a:p>
      </dgm:t>
    </dgm:pt>
    <dgm:pt modelId="{21DD54F7-4EFD-4FC4-B82B-978575834AE5}" type="parTrans" cxnId="{A5FE9EAB-76F5-4455-855E-C0E1A6D58890}">
      <dgm:prSet/>
      <dgm:spPr/>
      <dgm:t>
        <a:bodyPr/>
        <a:lstStyle/>
        <a:p>
          <a:endParaRPr lang="zh-TW" altLang="en-US"/>
        </a:p>
      </dgm:t>
    </dgm:pt>
    <dgm:pt modelId="{C9CAA9E3-EABF-4485-B403-4870FBF25575}" type="sibTrans" cxnId="{A5FE9EAB-76F5-4455-855E-C0E1A6D58890}">
      <dgm:prSet/>
      <dgm:spPr/>
      <dgm:t>
        <a:bodyPr/>
        <a:lstStyle/>
        <a:p>
          <a:endParaRPr lang="zh-TW" altLang="en-US"/>
        </a:p>
      </dgm:t>
    </dgm:pt>
    <dgm:pt modelId="{E4085471-1766-445B-9136-AFBD3B3A3ED3}">
      <dgm:prSet phldrT="[文字]" custT="1"/>
      <dgm:spPr>
        <a:solidFill>
          <a:srgbClr val="FFCC66"/>
        </a:solidFill>
      </dgm:spPr>
      <dgm:t>
        <a:bodyPr/>
        <a:lstStyle/>
        <a:p>
          <a:r>
            <a:rPr lang="zh-TW" altLang="en-US" sz="1800" b="1" dirty="0"/>
            <a:t>有剩餘款須匯款繳回至出納指定帳戶</a:t>
          </a:r>
        </a:p>
      </dgm:t>
    </dgm:pt>
    <dgm:pt modelId="{95F50447-561C-4CDA-BB1C-14E2BAB84B3E}" type="parTrans" cxnId="{52101CBE-8D2B-44D3-AB43-290F62DAF108}">
      <dgm:prSet/>
      <dgm:spPr/>
      <dgm:t>
        <a:bodyPr/>
        <a:lstStyle/>
        <a:p>
          <a:endParaRPr lang="zh-TW" altLang="en-US"/>
        </a:p>
      </dgm:t>
    </dgm:pt>
    <dgm:pt modelId="{3BF28D98-B7F6-4A05-801A-C6B00CF56EC3}" type="sibTrans" cxnId="{52101CBE-8D2B-44D3-AB43-290F62DAF108}">
      <dgm:prSet/>
      <dgm:spPr/>
      <dgm:t>
        <a:bodyPr/>
        <a:lstStyle/>
        <a:p>
          <a:endParaRPr lang="zh-TW" altLang="en-US"/>
        </a:p>
      </dgm:t>
    </dgm:pt>
    <dgm:pt modelId="{6F45BCA8-DB7A-4FCF-88A7-78A4380B5E77}">
      <dgm:prSet phldrT="[文字]" custT="1"/>
      <dgm:spPr/>
      <dgm:t>
        <a:bodyPr/>
        <a:lstStyle/>
        <a:p>
          <a:r>
            <a:rPr lang="zh-TW" altLang="en-US" sz="1800" b="1" dirty="0"/>
            <a:t>簽核完畢</a:t>
          </a:r>
          <a:endParaRPr lang="en-US" altLang="zh-TW" sz="1800" b="1" dirty="0"/>
        </a:p>
        <a:p>
          <a:r>
            <a:rPr lang="zh-TW" altLang="en-US" sz="1800" b="1" dirty="0"/>
            <a:t>表單結束</a:t>
          </a:r>
        </a:p>
      </dgm:t>
    </dgm:pt>
    <dgm:pt modelId="{8D6EE541-BCC2-45DA-9033-BDFCCDE0A6C9}" type="parTrans" cxnId="{22376AC4-7A7D-4154-9556-EC5C09633F7C}">
      <dgm:prSet/>
      <dgm:spPr/>
      <dgm:t>
        <a:bodyPr/>
        <a:lstStyle/>
        <a:p>
          <a:endParaRPr lang="zh-TW" altLang="en-US"/>
        </a:p>
      </dgm:t>
    </dgm:pt>
    <dgm:pt modelId="{541CF833-E95C-416F-8BEC-CF10DF439984}" type="sibTrans" cxnId="{22376AC4-7A7D-4154-9556-EC5C09633F7C}">
      <dgm:prSet/>
      <dgm:spPr/>
      <dgm:t>
        <a:bodyPr/>
        <a:lstStyle/>
        <a:p>
          <a:endParaRPr lang="zh-TW" altLang="en-US"/>
        </a:p>
      </dgm:t>
    </dgm:pt>
    <dgm:pt modelId="{F615BEC2-1C23-4BCE-B495-8ACA85966244}" type="pres">
      <dgm:prSet presAssocID="{FB2FE006-A250-4357-A7FE-32FCC46EFFEE}" presName="Name0" presStyleCnt="0">
        <dgm:presLayoutVars>
          <dgm:dir/>
          <dgm:resizeHandles val="exact"/>
        </dgm:presLayoutVars>
      </dgm:prSet>
      <dgm:spPr/>
    </dgm:pt>
    <dgm:pt modelId="{2CD547C2-973B-4FE0-A782-2614681A91FD}" type="pres">
      <dgm:prSet presAssocID="{5B905699-C58F-4F32-9DDB-D8CB842B40D9}" presName="node" presStyleLbl="node1" presStyleIdx="0" presStyleCnt="9">
        <dgm:presLayoutVars>
          <dgm:bulletEnabled val="1"/>
        </dgm:presLayoutVars>
      </dgm:prSet>
      <dgm:spPr/>
    </dgm:pt>
    <dgm:pt modelId="{F2716A1C-79E5-4327-94C2-42D5E0D4D259}" type="pres">
      <dgm:prSet presAssocID="{E6DE44A9-F0A1-41AD-A6B5-4A34685D3A21}" presName="sibTrans" presStyleLbl="sibTrans1D1" presStyleIdx="0" presStyleCnt="8"/>
      <dgm:spPr/>
    </dgm:pt>
    <dgm:pt modelId="{3D3C7ADB-604F-4ECC-99A7-D1BB2678AFDE}" type="pres">
      <dgm:prSet presAssocID="{E6DE44A9-F0A1-41AD-A6B5-4A34685D3A21}" presName="connectorText" presStyleLbl="sibTrans1D1" presStyleIdx="0" presStyleCnt="8"/>
      <dgm:spPr/>
    </dgm:pt>
    <dgm:pt modelId="{17092DD9-6249-4108-B722-630965F0738D}" type="pres">
      <dgm:prSet presAssocID="{E67BB650-F908-4FB8-946A-66FCB76DD53B}" presName="node" presStyleLbl="node1" presStyleIdx="1" presStyleCnt="9">
        <dgm:presLayoutVars>
          <dgm:bulletEnabled val="1"/>
        </dgm:presLayoutVars>
      </dgm:prSet>
      <dgm:spPr/>
    </dgm:pt>
    <dgm:pt modelId="{CEB90D32-FA94-48A4-B959-AE1929044923}" type="pres">
      <dgm:prSet presAssocID="{F77A8D61-CF90-4D2D-B0CE-CE73A36E155B}" presName="sibTrans" presStyleLbl="sibTrans1D1" presStyleIdx="1" presStyleCnt="8"/>
      <dgm:spPr/>
    </dgm:pt>
    <dgm:pt modelId="{1EDA3180-A468-47B6-A477-9DCE1FA9F182}" type="pres">
      <dgm:prSet presAssocID="{F77A8D61-CF90-4D2D-B0CE-CE73A36E155B}" presName="connectorText" presStyleLbl="sibTrans1D1" presStyleIdx="1" presStyleCnt="8"/>
      <dgm:spPr/>
    </dgm:pt>
    <dgm:pt modelId="{746A163B-3A5F-47DB-9A1D-37F8CE8E8E45}" type="pres">
      <dgm:prSet presAssocID="{48AA7932-0E25-4015-A5DB-43BAF61AD95F}" presName="node" presStyleLbl="node1" presStyleIdx="2" presStyleCnt="9">
        <dgm:presLayoutVars>
          <dgm:bulletEnabled val="1"/>
        </dgm:presLayoutVars>
      </dgm:prSet>
      <dgm:spPr/>
    </dgm:pt>
    <dgm:pt modelId="{F8D3F0F1-1F62-4A3C-834A-731C9D0EC531}" type="pres">
      <dgm:prSet presAssocID="{D2DAFB68-E809-4245-A5A9-F333E7432A82}" presName="sibTrans" presStyleLbl="sibTrans1D1" presStyleIdx="2" presStyleCnt="8"/>
      <dgm:spPr/>
    </dgm:pt>
    <dgm:pt modelId="{3C4E9A69-5A6B-44CA-967F-29A5543E71CE}" type="pres">
      <dgm:prSet presAssocID="{D2DAFB68-E809-4245-A5A9-F333E7432A82}" presName="connectorText" presStyleLbl="sibTrans1D1" presStyleIdx="2" presStyleCnt="8"/>
      <dgm:spPr/>
    </dgm:pt>
    <dgm:pt modelId="{81CA6A34-12BD-466D-94AE-21B0179D8111}" type="pres">
      <dgm:prSet presAssocID="{5839110A-4E24-433C-9AF3-E05D94721918}" presName="node" presStyleLbl="node1" presStyleIdx="3" presStyleCnt="9">
        <dgm:presLayoutVars>
          <dgm:bulletEnabled val="1"/>
        </dgm:presLayoutVars>
      </dgm:prSet>
      <dgm:spPr/>
    </dgm:pt>
    <dgm:pt modelId="{83B7BB6B-3230-42B9-A54B-9F08CF4615C4}" type="pres">
      <dgm:prSet presAssocID="{7E83AF21-0485-41BB-8815-CBAE0FB764D6}" presName="sibTrans" presStyleLbl="sibTrans1D1" presStyleIdx="3" presStyleCnt="8"/>
      <dgm:spPr/>
    </dgm:pt>
    <dgm:pt modelId="{C9E33ED7-2233-4793-B3F6-92308659AE49}" type="pres">
      <dgm:prSet presAssocID="{7E83AF21-0485-41BB-8815-CBAE0FB764D6}" presName="connectorText" presStyleLbl="sibTrans1D1" presStyleIdx="3" presStyleCnt="8"/>
      <dgm:spPr/>
    </dgm:pt>
    <dgm:pt modelId="{BD281894-2BB5-416C-B259-22128837B80F}" type="pres">
      <dgm:prSet presAssocID="{4F0A3D69-DD12-47D7-A923-297CFB816232}" presName="node" presStyleLbl="node1" presStyleIdx="4" presStyleCnt="9">
        <dgm:presLayoutVars>
          <dgm:bulletEnabled val="1"/>
        </dgm:presLayoutVars>
      </dgm:prSet>
      <dgm:spPr/>
    </dgm:pt>
    <dgm:pt modelId="{F31FE2B4-E04E-45E3-9D25-463172F71C28}" type="pres">
      <dgm:prSet presAssocID="{CEAB0C92-97F5-4022-8B04-1479C033756E}" presName="sibTrans" presStyleLbl="sibTrans1D1" presStyleIdx="4" presStyleCnt="8"/>
      <dgm:spPr/>
    </dgm:pt>
    <dgm:pt modelId="{BD3CFC4C-DFEB-4C25-9477-A0385717B7B0}" type="pres">
      <dgm:prSet presAssocID="{CEAB0C92-97F5-4022-8B04-1479C033756E}" presName="connectorText" presStyleLbl="sibTrans1D1" presStyleIdx="4" presStyleCnt="8"/>
      <dgm:spPr/>
    </dgm:pt>
    <dgm:pt modelId="{E0CB9E85-FD0B-4203-B441-C2F4F9FC620E}" type="pres">
      <dgm:prSet presAssocID="{5FA57756-B46A-4BDA-BD57-89E9DECD5320}" presName="node" presStyleLbl="node1" presStyleIdx="5" presStyleCnt="9">
        <dgm:presLayoutVars>
          <dgm:bulletEnabled val="1"/>
        </dgm:presLayoutVars>
      </dgm:prSet>
      <dgm:spPr/>
    </dgm:pt>
    <dgm:pt modelId="{B10FE24A-1F86-493B-82C0-24B77F23A17F}" type="pres">
      <dgm:prSet presAssocID="{C40E82E9-C829-499D-BAAE-021E040C3A9C}" presName="sibTrans" presStyleLbl="sibTrans1D1" presStyleIdx="5" presStyleCnt="8"/>
      <dgm:spPr/>
    </dgm:pt>
    <dgm:pt modelId="{6EC52D3B-F70A-4F48-A26C-3A822BF5783E}" type="pres">
      <dgm:prSet presAssocID="{C40E82E9-C829-499D-BAAE-021E040C3A9C}" presName="connectorText" presStyleLbl="sibTrans1D1" presStyleIdx="5" presStyleCnt="8"/>
      <dgm:spPr/>
    </dgm:pt>
    <dgm:pt modelId="{A8BCFEE6-3A38-49D3-8A6E-2940BD99C6B2}" type="pres">
      <dgm:prSet presAssocID="{FB043B68-20F8-4707-8B45-336811C31808}" presName="node" presStyleLbl="node1" presStyleIdx="6" presStyleCnt="9">
        <dgm:presLayoutVars>
          <dgm:bulletEnabled val="1"/>
        </dgm:presLayoutVars>
      </dgm:prSet>
      <dgm:spPr/>
    </dgm:pt>
    <dgm:pt modelId="{97765191-86CE-4921-A17A-C0E11ACA9331}" type="pres">
      <dgm:prSet presAssocID="{C9CAA9E3-EABF-4485-B403-4870FBF25575}" presName="sibTrans" presStyleLbl="sibTrans1D1" presStyleIdx="6" presStyleCnt="8"/>
      <dgm:spPr/>
    </dgm:pt>
    <dgm:pt modelId="{E4E65DED-AD78-4B78-BC74-8131148F3CB6}" type="pres">
      <dgm:prSet presAssocID="{C9CAA9E3-EABF-4485-B403-4870FBF25575}" presName="connectorText" presStyleLbl="sibTrans1D1" presStyleIdx="6" presStyleCnt="8"/>
      <dgm:spPr/>
    </dgm:pt>
    <dgm:pt modelId="{4C3A51FE-81E9-47A4-90E3-FAD3E26EE778}" type="pres">
      <dgm:prSet presAssocID="{E4085471-1766-445B-9136-AFBD3B3A3ED3}" presName="node" presStyleLbl="node1" presStyleIdx="7" presStyleCnt="9">
        <dgm:presLayoutVars>
          <dgm:bulletEnabled val="1"/>
        </dgm:presLayoutVars>
      </dgm:prSet>
      <dgm:spPr/>
    </dgm:pt>
    <dgm:pt modelId="{A6C72212-CAF3-472B-9D2C-66ECA38BA4E9}" type="pres">
      <dgm:prSet presAssocID="{3BF28D98-B7F6-4A05-801A-C6B00CF56EC3}" presName="sibTrans" presStyleLbl="sibTrans1D1" presStyleIdx="7" presStyleCnt="8"/>
      <dgm:spPr/>
    </dgm:pt>
    <dgm:pt modelId="{84FB9D15-A943-480A-AB65-966E2900BF70}" type="pres">
      <dgm:prSet presAssocID="{3BF28D98-B7F6-4A05-801A-C6B00CF56EC3}" presName="connectorText" presStyleLbl="sibTrans1D1" presStyleIdx="7" presStyleCnt="8"/>
      <dgm:spPr/>
    </dgm:pt>
    <dgm:pt modelId="{CAF85853-1A6B-4F9E-AE9C-F6CB0D8A418E}" type="pres">
      <dgm:prSet presAssocID="{6F45BCA8-DB7A-4FCF-88A7-78A4380B5E77}" presName="node" presStyleLbl="node1" presStyleIdx="8" presStyleCnt="9">
        <dgm:presLayoutVars>
          <dgm:bulletEnabled val="1"/>
        </dgm:presLayoutVars>
      </dgm:prSet>
      <dgm:spPr/>
    </dgm:pt>
  </dgm:ptLst>
  <dgm:cxnLst>
    <dgm:cxn modelId="{507E0F0D-8779-4D6E-BF71-EE2467E59B3A}" type="presOf" srcId="{E6DE44A9-F0A1-41AD-A6B5-4A34685D3A21}" destId="{3D3C7ADB-604F-4ECC-99A7-D1BB2678AFDE}" srcOrd="1" destOrd="0" presId="urn:microsoft.com/office/officeart/2005/8/layout/bProcess3"/>
    <dgm:cxn modelId="{344D861A-E5E6-44F4-8FD2-C4B83CFD582C}" type="presOf" srcId="{D2DAFB68-E809-4245-A5A9-F333E7432A82}" destId="{F8D3F0F1-1F62-4A3C-834A-731C9D0EC531}" srcOrd="0" destOrd="0" presId="urn:microsoft.com/office/officeart/2005/8/layout/bProcess3"/>
    <dgm:cxn modelId="{A898141C-5753-44D1-820A-DA06B46B2C45}" type="presOf" srcId="{5B905699-C58F-4F32-9DDB-D8CB842B40D9}" destId="{2CD547C2-973B-4FE0-A782-2614681A91FD}" srcOrd="0" destOrd="0" presId="urn:microsoft.com/office/officeart/2005/8/layout/bProcess3"/>
    <dgm:cxn modelId="{54CB7320-840B-4C7C-8784-30F81A12FF93}" srcId="{FB2FE006-A250-4357-A7FE-32FCC46EFFEE}" destId="{5839110A-4E24-433C-9AF3-E05D94721918}" srcOrd="3" destOrd="0" parTransId="{3B5D9F93-72B3-4B4C-9485-0536D5FDB9B8}" sibTransId="{7E83AF21-0485-41BB-8815-CBAE0FB764D6}"/>
    <dgm:cxn modelId="{DA134F24-162E-4DC8-AFD8-7FDE7D1232A6}" type="presOf" srcId="{7E83AF21-0485-41BB-8815-CBAE0FB764D6}" destId="{C9E33ED7-2233-4793-B3F6-92308659AE49}" srcOrd="1" destOrd="0" presId="urn:microsoft.com/office/officeart/2005/8/layout/bProcess3"/>
    <dgm:cxn modelId="{E6308B25-927F-4CA4-8181-9D510A179DD3}" type="presOf" srcId="{5839110A-4E24-433C-9AF3-E05D94721918}" destId="{81CA6A34-12BD-466D-94AE-21B0179D8111}" srcOrd="0" destOrd="0" presId="urn:microsoft.com/office/officeart/2005/8/layout/bProcess3"/>
    <dgm:cxn modelId="{77207E29-188D-45B1-8DBE-C3208914B3CF}" type="presOf" srcId="{CEAB0C92-97F5-4022-8B04-1479C033756E}" destId="{BD3CFC4C-DFEB-4C25-9477-A0385717B7B0}" srcOrd="1" destOrd="0" presId="urn:microsoft.com/office/officeart/2005/8/layout/bProcess3"/>
    <dgm:cxn modelId="{EAFE482A-145C-42F4-80C1-A7B8FBE238AC}" srcId="{FB2FE006-A250-4357-A7FE-32FCC46EFFEE}" destId="{5B905699-C58F-4F32-9DDB-D8CB842B40D9}" srcOrd="0" destOrd="0" parTransId="{2E6EC4E7-6FFF-43F8-B78A-81618B923ECC}" sibTransId="{E6DE44A9-F0A1-41AD-A6B5-4A34685D3A21}"/>
    <dgm:cxn modelId="{D4C8DE2D-4777-4DD8-86E0-4317446B0707}" type="presOf" srcId="{F77A8D61-CF90-4D2D-B0CE-CE73A36E155B}" destId="{CEB90D32-FA94-48A4-B959-AE1929044923}" srcOrd="0" destOrd="0" presId="urn:microsoft.com/office/officeart/2005/8/layout/bProcess3"/>
    <dgm:cxn modelId="{E545B138-6383-4966-904E-F079C30633AC}" type="presOf" srcId="{E4085471-1766-445B-9136-AFBD3B3A3ED3}" destId="{4C3A51FE-81E9-47A4-90E3-FAD3E26EE778}" srcOrd="0" destOrd="0" presId="urn:microsoft.com/office/officeart/2005/8/layout/bProcess3"/>
    <dgm:cxn modelId="{7EE68345-658D-4448-8C0F-715768CDD754}" type="presOf" srcId="{CEAB0C92-97F5-4022-8B04-1479C033756E}" destId="{F31FE2B4-E04E-45E3-9D25-463172F71C28}" srcOrd="0" destOrd="0" presId="urn:microsoft.com/office/officeart/2005/8/layout/bProcess3"/>
    <dgm:cxn modelId="{8A5D5F47-01C7-4F3B-ACD6-3ACC80231987}" type="presOf" srcId="{4F0A3D69-DD12-47D7-A923-297CFB816232}" destId="{BD281894-2BB5-416C-B259-22128837B80F}" srcOrd="0" destOrd="0" presId="urn:microsoft.com/office/officeart/2005/8/layout/bProcess3"/>
    <dgm:cxn modelId="{6C31CE4C-2163-4D40-AB65-E3458439FA30}" type="presOf" srcId="{48AA7932-0E25-4015-A5DB-43BAF61AD95F}" destId="{746A163B-3A5F-47DB-9A1D-37F8CE8E8E45}" srcOrd="0" destOrd="0" presId="urn:microsoft.com/office/officeart/2005/8/layout/bProcess3"/>
    <dgm:cxn modelId="{839ECD4D-3895-4B70-94A8-5CDC3EC9A10D}" srcId="{FB2FE006-A250-4357-A7FE-32FCC46EFFEE}" destId="{E67BB650-F908-4FB8-946A-66FCB76DD53B}" srcOrd="1" destOrd="0" parTransId="{4A01BD71-787B-49CB-B4A6-59A58529BB9E}" sibTransId="{F77A8D61-CF90-4D2D-B0CE-CE73A36E155B}"/>
    <dgm:cxn modelId="{D80A4A58-6353-4DD5-8229-FA4172D04246}" type="presOf" srcId="{3BF28D98-B7F6-4A05-801A-C6B00CF56EC3}" destId="{A6C72212-CAF3-472B-9D2C-66ECA38BA4E9}" srcOrd="0" destOrd="0" presId="urn:microsoft.com/office/officeart/2005/8/layout/bProcess3"/>
    <dgm:cxn modelId="{FF5BA893-CA95-4BBC-A847-7DCF0E704638}" srcId="{FB2FE006-A250-4357-A7FE-32FCC46EFFEE}" destId="{5FA57756-B46A-4BDA-BD57-89E9DECD5320}" srcOrd="5" destOrd="0" parTransId="{E639E102-46A0-4835-91FF-35BC470C6BCE}" sibTransId="{C40E82E9-C829-499D-BAAE-021E040C3A9C}"/>
    <dgm:cxn modelId="{9C565E9B-2677-42A7-B227-B6388DDF18DE}" type="presOf" srcId="{7E83AF21-0485-41BB-8815-CBAE0FB764D6}" destId="{83B7BB6B-3230-42B9-A54B-9F08CF4615C4}" srcOrd="0" destOrd="0" presId="urn:microsoft.com/office/officeart/2005/8/layout/bProcess3"/>
    <dgm:cxn modelId="{F162949C-C133-41D2-9E6C-341749816C29}" type="presOf" srcId="{C9CAA9E3-EABF-4485-B403-4870FBF25575}" destId="{E4E65DED-AD78-4B78-BC74-8131148F3CB6}" srcOrd="1" destOrd="0" presId="urn:microsoft.com/office/officeart/2005/8/layout/bProcess3"/>
    <dgm:cxn modelId="{50AB36A3-AEE2-40E4-9BD5-2C40AF70AF3F}" type="presOf" srcId="{E6DE44A9-F0A1-41AD-A6B5-4A34685D3A21}" destId="{F2716A1C-79E5-4327-94C2-42D5E0D4D259}" srcOrd="0" destOrd="0" presId="urn:microsoft.com/office/officeart/2005/8/layout/bProcess3"/>
    <dgm:cxn modelId="{A15A95A5-D749-4EC4-B91D-62A1324EC8AD}" type="presOf" srcId="{6F45BCA8-DB7A-4FCF-88A7-78A4380B5E77}" destId="{CAF85853-1A6B-4F9E-AE9C-F6CB0D8A418E}" srcOrd="0" destOrd="0" presId="urn:microsoft.com/office/officeart/2005/8/layout/bProcess3"/>
    <dgm:cxn modelId="{A5FE9EAB-76F5-4455-855E-C0E1A6D58890}" srcId="{FB2FE006-A250-4357-A7FE-32FCC46EFFEE}" destId="{FB043B68-20F8-4707-8B45-336811C31808}" srcOrd="6" destOrd="0" parTransId="{21DD54F7-4EFD-4FC4-B82B-978575834AE5}" sibTransId="{C9CAA9E3-EABF-4485-B403-4870FBF25575}"/>
    <dgm:cxn modelId="{C6FB6DB7-2447-492C-965C-27E0C4592B4B}" type="presOf" srcId="{3BF28D98-B7F6-4A05-801A-C6B00CF56EC3}" destId="{84FB9D15-A943-480A-AB65-966E2900BF70}" srcOrd="1" destOrd="0" presId="urn:microsoft.com/office/officeart/2005/8/layout/bProcess3"/>
    <dgm:cxn modelId="{20B823B8-F70D-42E5-9E4E-3E8179E77240}" type="presOf" srcId="{F77A8D61-CF90-4D2D-B0CE-CE73A36E155B}" destId="{1EDA3180-A468-47B6-A477-9DCE1FA9F182}" srcOrd="1" destOrd="0" presId="urn:microsoft.com/office/officeart/2005/8/layout/bProcess3"/>
    <dgm:cxn modelId="{52101CBE-8D2B-44D3-AB43-290F62DAF108}" srcId="{FB2FE006-A250-4357-A7FE-32FCC46EFFEE}" destId="{E4085471-1766-445B-9136-AFBD3B3A3ED3}" srcOrd="7" destOrd="0" parTransId="{95F50447-561C-4CDA-BB1C-14E2BAB84B3E}" sibTransId="{3BF28D98-B7F6-4A05-801A-C6B00CF56EC3}"/>
    <dgm:cxn modelId="{2FB67EC0-EB6C-4669-86AE-624E12D1EBA9}" type="presOf" srcId="{5FA57756-B46A-4BDA-BD57-89E9DECD5320}" destId="{E0CB9E85-FD0B-4203-B441-C2F4F9FC620E}" srcOrd="0" destOrd="0" presId="urn:microsoft.com/office/officeart/2005/8/layout/bProcess3"/>
    <dgm:cxn modelId="{22376AC4-7A7D-4154-9556-EC5C09633F7C}" srcId="{FB2FE006-A250-4357-A7FE-32FCC46EFFEE}" destId="{6F45BCA8-DB7A-4FCF-88A7-78A4380B5E77}" srcOrd="8" destOrd="0" parTransId="{8D6EE541-BCC2-45DA-9033-BDFCCDE0A6C9}" sibTransId="{541CF833-E95C-416F-8BEC-CF10DF439984}"/>
    <dgm:cxn modelId="{6D52BCC4-A5BA-4D3E-AE99-E5EF963F940B}" type="presOf" srcId="{C40E82E9-C829-499D-BAAE-021E040C3A9C}" destId="{6EC52D3B-F70A-4F48-A26C-3A822BF5783E}" srcOrd="1" destOrd="0" presId="urn:microsoft.com/office/officeart/2005/8/layout/bProcess3"/>
    <dgm:cxn modelId="{636672D2-0DA9-4E72-9F48-83FFD2BE9C98}" srcId="{FB2FE006-A250-4357-A7FE-32FCC46EFFEE}" destId="{4F0A3D69-DD12-47D7-A923-297CFB816232}" srcOrd="4" destOrd="0" parTransId="{A8909B38-F5D5-4CB2-A5F1-E48CC95F17D3}" sibTransId="{CEAB0C92-97F5-4022-8B04-1479C033756E}"/>
    <dgm:cxn modelId="{B8F378DC-5431-4ABB-8A8B-C5D3A0990660}" type="presOf" srcId="{C9CAA9E3-EABF-4485-B403-4870FBF25575}" destId="{97765191-86CE-4921-A17A-C0E11ACA9331}" srcOrd="0" destOrd="0" presId="urn:microsoft.com/office/officeart/2005/8/layout/bProcess3"/>
    <dgm:cxn modelId="{31B345DE-8739-4213-BD56-1D4394CC6358}" srcId="{FB2FE006-A250-4357-A7FE-32FCC46EFFEE}" destId="{48AA7932-0E25-4015-A5DB-43BAF61AD95F}" srcOrd="2" destOrd="0" parTransId="{D6CEE549-5D69-4C85-8558-BFE474AA4C24}" sibTransId="{D2DAFB68-E809-4245-A5A9-F333E7432A82}"/>
    <dgm:cxn modelId="{6D2C06E1-B243-4FA7-B7F8-C9C19AAE8EE0}" type="presOf" srcId="{FB2FE006-A250-4357-A7FE-32FCC46EFFEE}" destId="{F615BEC2-1C23-4BCE-B495-8ACA85966244}" srcOrd="0" destOrd="0" presId="urn:microsoft.com/office/officeart/2005/8/layout/bProcess3"/>
    <dgm:cxn modelId="{362F4CE4-6014-4081-86A9-E97579B9A7CE}" type="presOf" srcId="{C40E82E9-C829-499D-BAAE-021E040C3A9C}" destId="{B10FE24A-1F86-493B-82C0-24B77F23A17F}" srcOrd="0" destOrd="0" presId="urn:microsoft.com/office/officeart/2005/8/layout/bProcess3"/>
    <dgm:cxn modelId="{9FFA21E7-D59E-4D9E-9AFD-DC1EA0C0ED25}" type="presOf" srcId="{FB043B68-20F8-4707-8B45-336811C31808}" destId="{A8BCFEE6-3A38-49D3-8A6E-2940BD99C6B2}" srcOrd="0" destOrd="0" presId="urn:microsoft.com/office/officeart/2005/8/layout/bProcess3"/>
    <dgm:cxn modelId="{98038AE9-60C3-4B13-B55A-50515AD48C2E}" type="presOf" srcId="{E67BB650-F908-4FB8-946A-66FCB76DD53B}" destId="{17092DD9-6249-4108-B722-630965F0738D}" srcOrd="0" destOrd="0" presId="urn:microsoft.com/office/officeart/2005/8/layout/bProcess3"/>
    <dgm:cxn modelId="{9CC7B6FE-9E47-4C50-8594-139B3B375101}" type="presOf" srcId="{D2DAFB68-E809-4245-A5A9-F333E7432A82}" destId="{3C4E9A69-5A6B-44CA-967F-29A5543E71CE}" srcOrd="1" destOrd="0" presId="urn:microsoft.com/office/officeart/2005/8/layout/bProcess3"/>
    <dgm:cxn modelId="{52889BD7-67C0-49C2-9D27-803A2435CEAE}" type="presParOf" srcId="{F615BEC2-1C23-4BCE-B495-8ACA85966244}" destId="{2CD547C2-973B-4FE0-A782-2614681A91FD}" srcOrd="0" destOrd="0" presId="urn:microsoft.com/office/officeart/2005/8/layout/bProcess3"/>
    <dgm:cxn modelId="{D788FD82-433A-4120-A994-427B1D2AA142}" type="presParOf" srcId="{F615BEC2-1C23-4BCE-B495-8ACA85966244}" destId="{F2716A1C-79E5-4327-94C2-42D5E0D4D259}" srcOrd="1" destOrd="0" presId="urn:microsoft.com/office/officeart/2005/8/layout/bProcess3"/>
    <dgm:cxn modelId="{80D8F731-33B1-4A9C-A75D-28D796241FE2}" type="presParOf" srcId="{F2716A1C-79E5-4327-94C2-42D5E0D4D259}" destId="{3D3C7ADB-604F-4ECC-99A7-D1BB2678AFDE}" srcOrd="0" destOrd="0" presId="urn:microsoft.com/office/officeart/2005/8/layout/bProcess3"/>
    <dgm:cxn modelId="{00B86B87-7319-4AC6-A5DA-2F96296E8083}" type="presParOf" srcId="{F615BEC2-1C23-4BCE-B495-8ACA85966244}" destId="{17092DD9-6249-4108-B722-630965F0738D}" srcOrd="2" destOrd="0" presId="urn:microsoft.com/office/officeart/2005/8/layout/bProcess3"/>
    <dgm:cxn modelId="{B5130E4A-32B0-4825-9655-10FDB104E9D7}" type="presParOf" srcId="{F615BEC2-1C23-4BCE-B495-8ACA85966244}" destId="{CEB90D32-FA94-48A4-B959-AE1929044923}" srcOrd="3" destOrd="0" presId="urn:microsoft.com/office/officeart/2005/8/layout/bProcess3"/>
    <dgm:cxn modelId="{714DD0D1-B686-44C1-A573-59865A1FB4FC}" type="presParOf" srcId="{CEB90D32-FA94-48A4-B959-AE1929044923}" destId="{1EDA3180-A468-47B6-A477-9DCE1FA9F182}" srcOrd="0" destOrd="0" presId="urn:microsoft.com/office/officeart/2005/8/layout/bProcess3"/>
    <dgm:cxn modelId="{8A55103B-A8E1-40C1-92D4-EC9C20B43FAC}" type="presParOf" srcId="{F615BEC2-1C23-4BCE-B495-8ACA85966244}" destId="{746A163B-3A5F-47DB-9A1D-37F8CE8E8E45}" srcOrd="4" destOrd="0" presId="urn:microsoft.com/office/officeart/2005/8/layout/bProcess3"/>
    <dgm:cxn modelId="{7CFA840F-DAEA-44B1-955F-A9C7D3EC9970}" type="presParOf" srcId="{F615BEC2-1C23-4BCE-B495-8ACA85966244}" destId="{F8D3F0F1-1F62-4A3C-834A-731C9D0EC531}" srcOrd="5" destOrd="0" presId="urn:microsoft.com/office/officeart/2005/8/layout/bProcess3"/>
    <dgm:cxn modelId="{53675EFB-AEC2-4FE8-AFC8-A8482FB70172}" type="presParOf" srcId="{F8D3F0F1-1F62-4A3C-834A-731C9D0EC531}" destId="{3C4E9A69-5A6B-44CA-967F-29A5543E71CE}" srcOrd="0" destOrd="0" presId="urn:microsoft.com/office/officeart/2005/8/layout/bProcess3"/>
    <dgm:cxn modelId="{A9CCD16A-3474-47BC-9C7A-3A6B37FE75E9}" type="presParOf" srcId="{F615BEC2-1C23-4BCE-B495-8ACA85966244}" destId="{81CA6A34-12BD-466D-94AE-21B0179D8111}" srcOrd="6" destOrd="0" presId="urn:microsoft.com/office/officeart/2005/8/layout/bProcess3"/>
    <dgm:cxn modelId="{74AFE461-9240-4638-9360-63AC66575EF9}" type="presParOf" srcId="{F615BEC2-1C23-4BCE-B495-8ACA85966244}" destId="{83B7BB6B-3230-42B9-A54B-9F08CF4615C4}" srcOrd="7" destOrd="0" presId="urn:microsoft.com/office/officeart/2005/8/layout/bProcess3"/>
    <dgm:cxn modelId="{EEEFCBF5-ED65-4130-BF31-D7161A108D53}" type="presParOf" srcId="{83B7BB6B-3230-42B9-A54B-9F08CF4615C4}" destId="{C9E33ED7-2233-4793-B3F6-92308659AE49}" srcOrd="0" destOrd="0" presId="urn:microsoft.com/office/officeart/2005/8/layout/bProcess3"/>
    <dgm:cxn modelId="{8FD45D0B-CFC5-4DAB-92EB-1DE346FD8AE5}" type="presParOf" srcId="{F615BEC2-1C23-4BCE-B495-8ACA85966244}" destId="{BD281894-2BB5-416C-B259-22128837B80F}" srcOrd="8" destOrd="0" presId="urn:microsoft.com/office/officeart/2005/8/layout/bProcess3"/>
    <dgm:cxn modelId="{D8480F04-916A-48C0-87C0-76567058CBDA}" type="presParOf" srcId="{F615BEC2-1C23-4BCE-B495-8ACA85966244}" destId="{F31FE2B4-E04E-45E3-9D25-463172F71C28}" srcOrd="9" destOrd="0" presId="urn:microsoft.com/office/officeart/2005/8/layout/bProcess3"/>
    <dgm:cxn modelId="{B4B57E4D-CEFE-4CDF-96BA-E2D97CB28AA4}" type="presParOf" srcId="{F31FE2B4-E04E-45E3-9D25-463172F71C28}" destId="{BD3CFC4C-DFEB-4C25-9477-A0385717B7B0}" srcOrd="0" destOrd="0" presId="urn:microsoft.com/office/officeart/2005/8/layout/bProcess3"/>
    <dgm:cxn modelId="{090BBD5A-8280-4822-B05E-1998DD150C2D}" type="presParOf" srcId="{F615BEC2-1C23-4BCE-B495-8ACA85966244}" destId="{E0CB9E85-FD0B-4203-B441-C2F4F9FC620E}" srcOrd="10" destOrd="0" presId="urn:microsoft.com/office/officeart/2005/8/layout/bProcess3"/>
    <dgm:cxn modelId="{32CBC448-AAB1-48C5-A5C2-9EAC193981F5}" type="presParOf" srcId="{F615BEC2-1C23-4BCE-B495-8ACA85966244}" destId="{B10FE24A-1F86-493B-82C0-24B77F23A17F}" srcOrd="11" destOrd="0" presId="urn:microsoft.com/office/officeart/2005/8/layout/bProcess3"/>
    <dgm:cxn modelId="{B54BF9F2-4114-43F2-8FC4-76B43F57BAF1}" type="presParOf" srcId="{B10FE24A-1F86-493B-82C0-24B77F23A17F}" destId="{6EC52D3B-F70A-4F48-A26C-3A822BF5783E}" srcOrd="0" destOrd="0" presId="urn:microsoft.com/office/officeart/2005/8/layout/bProcess3"/>
    <dgm:cxn modelId="{DC4EB139-9B18-43F2-805F-5118F68F000C}" type="presParOf" srcId="{F615BEC2-1C23-4BCE-B495-8ACA85966244}" destId="{A8BCFEE6-3A38-49D3-8A6E-2940BD99C6B2}" srcOrd="12" destOrd="0" presId="urn:microsoft.com/office/officeart/2005/8/layout/bProcess3"/>
    <dgm:cxn modelId="{1A47361C-08AF-4CCE-94D4-5C542827076E}" type="presParOf" srcId="{F615BEC2-1C23-4BCE-B495-8ACA85966244}" destId="{97765191-86CE-4921-A17A-C0E11ACA9331}" srcOrd="13" destOrd="0" presId="urn:microsoft.com/office/officeart/2005/8/layout/bProcess3"/>
    <dgm:cxn modelId="{26D75345-1B1F-4714-93B6-5750760F0C26}" type="presParOf" srcId="{97765191-86CE-4921-A17A-C0E11ACA9331}" destId="{E4E65DED-AD78-4B78-BC74-8131148F3CB6}" srcOrd="0" destOrd="0" presId="urn:microsoft.com/office/officeart/2005/8/layout/bProcess3"/>
    <dgm:cxn modelId="{AC093D8E-FE1A-4E5B-A0B1-83041D7B42BD}" type="presParOf" srcId="{F615BEC2-1C23-4BCE-B495-8ACA85966244}" destId="{4C3A51FE-81E9-47A4-90E3-FAD3E26EE778}" srcOrd="14" destOrd="0" presId="urn:microsoft.com/office/officeart/2005/8/layout/bProcess3"/>
    <dgm:cxn modelId="{CC541F44-42C2-40B5-B681-4A86323B75DF}" type="presParOf" srcId="{F615BEC2-1C23-4BCE-B495-8ACA85966244}" destId="{A6C72212-CAF3-472B-9D2C-66ECA38BA4E9}" srcOrd="15" destOrd="0" presId="urn:microsoft.com/office/officeart/2005/8/layout/bProcess3"/>
    <dgm:cxn modelId="{2C6E38D9-9C92-4472-BEE5-E6C1DC59E35F}" type="presParOf" srcId="{A6C72212-CAF3-472B-9D2C-66ECA38BA4E9}" destId="{84FB9D15-A943-480A-AB65-966E2900BF70}" srcOrd="0" destOrd="0" presId="urn:microsoft.com/office/officeart/2005/8/layout/bProcess3"/>
    <dgm:cxn modelId="{85F6255A-052E-45D0-86CA-439C185B926F}" type="presParOf" srcId="{F615BEC2-1C23-4BCE-B495-8ACA85966244}" destId="{CAF85853-1A6B-4F9E-AE9C-F6CB0D8A418E}" srcOrd="1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89DAD2-D59C-427C-A662-03F9776FE00F}" type="doc">
      <dgm:prSet loTypeId="urn:microsoft.com/office/officeart/2005/8/layout/bProcess3" loCatId="process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zh-TW" altLang="en-US"/>
        </a:p>
      </dgm:t>
    </dgm:pt>
    <dgm:pt modelId="{A63C5C66-AB04-4C1D-A3AD-D40CFDDA8E1D}">
      <dgm:prSet phldrT="[文字]"/>
      <dgm:spPr>
        <a:solidFill>
          <a:srgbClr val="FFCC66"/>
        </a:solidFill>
      </dgm:spPr>
      <dgm:t>
        <a:bodyPr/>
        <a:lstStyle/>
        <a:p>
          <a:r>
            <a:rPr lang="zh-TW" altLang="en-US" b="1" dirty="0"/>
            <a:t>申請人送出預支單</a:t>
          </a:r>
          <a:endParaRPr lang="zh-TW" altLang="en-US" dirty="0"/>
        </a:p>
      </dgm:t>
    </dgm:pt>
    <dgm:pt modelId="{D9FE4A53-5450-42F2-B958-947592F67788}" type="parTrans" cxnId="{93BFDB7C-6CBD-4C37-9C81-B18CB84C8909}">
      <dgm:prSet/>
      <dgm:spPr/>
      <dgm:t>
        <a:bodyPr/>
        <a:lstStyle/>
        <a:p>
          <a:endParaRPr lang="zh-TW" altLang="en-US"/>
        </a:p>
      </dgm:t>
    </dgm:pt>
    <dgm:pt modelId="{5EF82672-C31C-46F7-8629-5FFF5F1A691F}" type="sibTrans" cxnId="{93BFDB7C-6CBD-4C37-9C81-B18CB84C8909}">
      <dgm:prSet/>
      <dgm:spPr/>
      <dgm:t>
        <a:bodyPr/>
        <a:lstStyle/>
        <a:p>
          <a:endParaRPr lang="zh-TW" altLang="en-US"/>
        </a:p>
      </dgm:t>
    </dgm:pt>
    <dgm:pt modelId="{E08617E7-0E7C-4FD2-8E19-BE1DE48FA6C0}">
      <dgm:prSet phldrT="[文字]"/>
      <dgm:spPr>
        <a:solidFill>
          <a:srgbClr val="FFCC66"/>
        </a:solidFill>
      </dgm:spPr>
      <dgm:t>
        <a:bodyPr/>
        <a:lstStyle/>
        <a:p>
          <a:r>
            <a:rPr lang="zh-TW" altLang="en-US" b="1" dirty="0"/>
            <a:t>預支單簽核完畢</a:t>
          </a:r>
          <a:endParaRPr lang="zh-TW" altLang="en-US" dirty="0"/>
        </a:p>
      </dgm:t>
    </dgm:pt>
    <dgm:pt modelId="{8D0FE696-7A9D-4BBB-803C-66DF86BF3EB9}" type="parTrans" cxnId="{05656B4A-C084-4383-BE73-5876B596C0BA}">
      <dgm:prSet/>
      <dgm:spPr/>
      <dgm:t>
        <a:bodyPr/>
        <a:lstStyle/>
        <a:p>
          <a:endParaRPr lang="zh-TW" altLang="en-US"/>
        </a:p>
      </dgm:t>
    </dgm:pt>
    <dgm:pt modelId="{FF6368D2-DDEA-4723-9E49-DA97B264B284}" type="sibTrans" cxnId="{05656B4A-C084-4383-BE73-5876B596C0BA}">
      <dgm:prSet/>
      <dgm:spPr/>
      <dgm:t>
        <a:bodyPr/>
        <a:lstStyle/>
        <a:p>
          <a:endParaRPr lang="zh-TW" altLang="en-US"/>
        </a:p>
      </dgm:t>
    </dgm:pt>
    <dgm:pt modelId="{921E7D69-5DA5-4597-AC80-DDDE731F6CA5}">
      <dgm:prSet phldrT="[文字]"/>
      <dgm:spPr/>
      <dgm:t>
        <a:bodyPr/>
        <a:lstStyle/>
        <a:p>
          <a:r>
            <a:rPr lang="zh-TW" altLang="en-US" b="1" dirty="0"/>
            <a:t>出納作帳，主管覆核</a:t>
          </a:r>
          <a:endParaRPr lang="zh-TW" altLang="en-US" dirty="0"/>
        </a:p>
      </dgm:t>
    </dgm:pt>
    <dgm:pt modelId="{26707D7A-A5D1-4556-9B7B-A77DCD972AD5}" type="parTrans" cxnId="{24D3970A-A7AC-4293-BA0F-9C1848934DAA}">
      <dgm:prSet/>
      <dgm:spPr/>
      <dgm:t>
        <a:bodyPr/>
        <a:lstStyle/>
        <a:p>
          <a:endParaRPr lang="zh-TW" altLang="en-US"/>
        </a:p>
      </dgm:t>
    </dgm:pt>
    <dgm:pt modelId="{751792D1-6B8A-4349-B6BC-4E2FFBD3BB76}" type="sibTrans" cxnId="{24D3970A-A7AC-4293-BA0F-9C1848934DAA}">
      <dgm:prSet/>
      <dgm:spPr/>
      <dgm:t>
        <a:bodyPr/>
        <a:lstStyle/>
        <a:p>
          <a:endParaRPr lang="zh-TW" altLang="en-US"/>
        </a:p>
      </dgm:t>
    </dgm:pt>
    <dgm:pt modelId="{3E93882C-502A-42AF-A828-0E7E5FBC550F}">
      <dgm:prSet phldrT="[文字]"/>
      <dgm:spPr/>
      <dgm:t>
        <a:bodyPr/>
        <a:lstStyle/>
        <a:p>
          <a:r>
            <a:rPr lang="zh-TW" altLang="en-US" b="1" dirty="0"/>
            <a:t>處長覆核，取款條用印</a:t>
          </a:r>
        </a:p>
      </dgm:t>
    </dgm:pt>
    <dgm:pt modelId="{CF0ED4FF-9318-44E8-8B00-7489C9106022}" type="parTrans" cxnId="{0790DAA7-E893-405F-BBAD-F88034E60FE7}">
      <dgm:prSet/>
      <dgm:spPr/>
      <dgm:t>
        <a:bodyPr/>
        <a:lstStyle/>
        <a:p>
          <a:endParaRPr lang="zh-TW" altLang="en-US"/>
        </a:p>
      </dgm:t>
    </dgm:pt>
    <dgm:pt modelId="{DB415831-E73E-475A-8B0C-4E7CD979563C}" type="sibTrans" cxnId="{0790DAA7-E893-405F-BBAD-F88034E60FE7}">
      <dgm:prSet/>
      <dgm:spPr/>
      <dgm:t>
        <a:bodyPr/>
        <a:lstStyle/>
        <a:p>
          <a:endParaRPr lang="zh-TW" altLang="en-US"/>
        </a:p>
      </dgm:t>
    </dgm:pt>
    <dgm:pt modelId="{0B74C3E6-BF4B-4A48-8BC5-FBC264C77AB4}">
      <dgm:prSet phldrT="[文字]"/>
      <dgm:spPr/>
      <dgm:t>
        <a:bodyPr/>
        <a:lstStyle/>
        <a:p>
          <a:r>
            <a:rPr lang="zh-TW" altLang="en-US" b="1" dirty="0"/>
            <a:t>銀行取款、開立支票</a:t>
          </a:r>
        </a:p>
      </dgm:t>
    </dgm:pt>
    <dgm:pt modelId="{2D303310-D0E7-44B1-9A87-4E99EFBBA50F}" type="parTrans" cxnId="{FB4AB706-880A-49D2-BA3D-C9D087442D85}">
      <dgm:prSet/>
      <dgm:spPr/>
      <dgm:t>
        <a:bodyPr/>
        <a:lstStyle/>
        <a:p>
          <a:endParaRPr lang="zh-TW" altLang="en-US"/>
        </a:p>
      </dgm:t>
    </dgm:pt>
    <dgm:pt modelId="{C70CE1E0-D99B-4EC1-9D39-7F99E0AC6E62}" type="sibTrans" cxnId="{FB4AB706-880A-49D2-BA3D-C9D087442D85}">
      <dgm:prSet/>
      <dgm:spPr/>
      <dgm:t>
        <a:bodyPr/>
        <a:lstStyle/>
        <a:p>
          <a:endParaRPr lang="zh-TW" altLang="en-US"/>
        </a:p>
      </dgm:t>
    </dgm:pt>
    <dgm:pt modelId="{388E8D72-198F-4103-8E1C-EA566472DDDE}">
      <dgm:prSet phldrT="[文字]"/>
      <dgm:spPr>
        <a:solidFill>
          <a:srgbClr val="FFCC66"/>
        </a:solidFill>
      </dgm:spPr>
      <dgm:t>
        <a:bodyPr/>
        <a:lstStyle/>
        <a:p>
          <a:r>
            <a:rPr lang="zh-TW" altLang="en-US" b="1" dirty="0"/>
            <a:t>申請人於預計取款日領取</a:t>
          </a:r>
          <a:endParaRPr lang="en-US" altLang="zh-TW" b="1" dirty="0"/>
        </a:p>
      </dgm:t>
    </dgm:pt>
    <dgm:pt modelId="{A310C831-628C-433D-93CA-04A6F4A4D3CF}" type="parTrans" cxnId="{3D932189-C6AB-41DE-BE6F-975015D88275}">
      <dgm:prSet/>
      <dgm:spPr/>
      <dgm:t>
        <a:bodyPr/>
        <a:lstStyle/>
        <a:p>
          <a:endParaRPr lang="zh-TW" altLang="en-US"/>
        </a:p>
      </dgm:t>
    </dgm:pt>
    <dgm:pt modelId="{997DDFCA-7FF5-402A-B1E6-502CED2C97DD}" type="sibTrans" cxnId="{3D932189-C6AB-41DE-BE6F-975015D88275}">
      <dgm:prSet/>
      <dgm:spPr/>
      <dgm:t>
        <a:bodyPr/>
        <a:lstStyle/>
        <a:p>
          <a:endParaRPr lang="zh-TW" altLang="en-US"/>
        </a:p>
      </dgm:t>
    </dgm:pt>
    <dgm:pt modelId="{56602DF6-9124-4B52-BE37-1C8DA28846B8}">
      <dgm:prSet phldrT="[文字]"/>
      <dgm:spPr>
        <a:solidFill>
          <a:srgbClr val="FFCC66"/>
        </a:solidFill>
      </dgm:spPr>
      <dgm:t>
        <a:bodyPr/>
        <a:lstStyle/>
        <a:p>
          <a:r>
            <a:rPr lang="zh-TW" altLang="en-US" b="1" dirty="0"/>
            <a:t>申請人取得憑證後送出核銷</a:t>
          </a:r>
          <a:endParaRPr lang="en-US" altLang="zh-TW" b="1" dirty="0"/>
        </a:p>
        <a:p>
          <a:r>
            <a:rPr lang="en-US" altLang="zh-TW" b="1" dirty="0"/>
            <a:t>(</a:t>
          </a:r>
          <a:r>
            <a:rPr lang="zh-TW" altLang="en-US" b="1" dirty="0"/>
            <a:t>憑證核銷檢附文件詳申購單內容</a:t>
          </a:r>
          <a:r>
            <a:rPr lang="en-US" altLang="zh-TW" b="1" dirty="0"/>
            <a:t>)</a:t>
          </a:r>
          <a:endParaRPr lang="zh-TW" altLang="en-US" b="1" dirty="0"/>
        </a:p>
      </dgm:t>
    </dgm:pt>
    <dgm:pt modelId="{24E586BE-915C-43B0-8A70-11BCF0E8EC98}" type="parTrans" cxnId="{8F836832-3296-4274-A0AF-CD2097D2FF27}">
      <dgm:prSet/>
      <dgm:spPr/>
      <dgm:t>
        <a:bodyPr/>
        <a:lstStyle/>
        <a:p>
          <a:endParaRPr lang="zh-TW" altLang="en-US"/>
        </a:p>
      </dgm:t>
    </dgm:pt>
    <dgm:pt modelId="{0081E0EF-15E6-4FF0-B52E-A0614D4C23BC}" type="sibTrans" cxnId="{8F836832-3296-4274-A0AF-CD2097D2FF27}">
      <dgm:prSet/>
      <dgm:spPr/>
      <dgm:t>
        <a:bodyPr/>
        <a:lstStyle/>
        <a:p>
          <a:endParaRPr lang="zh-TW" altLang="en-US"/>
        </a:p>
      </dgm:t>
    </dgm:pt>
    <dgm:pt modelId="{D991D0B5-F4EA-41C7-9477-014777C9F0DE}">
      <dgm:prSet phldrT="[文字]"/>
      <dgm:spPr>
        <a:solidFill>
          <a:srgbClr val="FFCC66"/>
        </a:solidFill>
      </dgm:spPr>
      <dgm:t>
        <a:bodyPr/>
        <a:lstStyle/>
        <a:p>
          <a:r>
            <a:rPr lang="en-US" altLang="zh-TW" b="1" dirty="0"/>
            <a:t>1.</a:t>
          </a:r>
          <a:r>
            <a:rPr lang="zh-TW" altLang="en-US" b="1" dirty="0"/>
            <a:t>現金餘額繳回給出納</a:t>
          </a:r>
          <a:r>
            <a:rPr lang="en-US" altLang="zh-TW" b="1" dirty="0"/>
            <a:t>(</a:t>
          </a:r>
          <a:r>
            <a:rPr lang="zh-TW" altLang="en-US" b="1" dirty="0"/>
            <a:t>須</a:t>
          </a:r>
          <a:r>
            <a:rPr lang="zh-TW" altLang="en-US" b="1" dirty="0">
              <a:solidFill>
                <a:srgbClr val="FF0000"/>
              </a:solidFill>
            </a:rPr>
            <a:t>提供繳回的預支單編號</a:t>
          </a:r>
          <a:r>
            <a:rPr lang="en-US" altLang="zh-TW" b="1" dirty="0"/>
            <a:t>)</a:t>
          </a:r>
        </a:p>
        <a:p>
          <a:r>
            <a:rPr lang="en-US" altLang="zh-TW" b="1" dirty="0"/>
            <a:t>2.</a:t>
          </a:r>
          <a:r>
            <a:rPr lang="zh-TW" altLang="en-US" b="1" dirty="0"/>
            <a:t>代墊部分於表單簽核完畢後於每週四撥款給同仁</a:t>
          </a:r>
        </a:p>
      </dgm:t>
    </dgm:pt>
    <dgm:pt modelId="{B2F99403-8AD2-4B2E-AC0E-471AAE47C554}" type="parTrans" cxnId="{04C4AB0D-9398-4A04-AE94-A80DD446236D}">
      <dgm:prSet/>
      <dgm:spPr/>
      <dgm:t>
        <a:bodyPr/>
        <a:lstStyle/>
        <a:p>
          <a:endParaRPr lang="zh-TW" altLang="en-US"/>
        </a:p>
      </dgm:t>
    </dgm:pt>
    <dgm:pt modelId="{54912E69-0CC4-49E0-8969-87A9BCA23D7C}" type="sibTrans" cxnId="{04C4AB0D-9398-4A04-AE94-A80DD446236D}">
      <dgm:prSet/>
      <dgm:spPr/>
      <dgm:t>
        <a:bodyPr/>
        <a:lstStyle/>
        <a:p>
          <a:endParaRPr lang="zh-TW" altLang="en-US"/>
        </a:p>
      </dgm:t>
    </dgm:pt>
    <dgm:pt modelId="{E62B5F28-D391-49A5-9D86-B7F67E26E281}">
      <dgm:prSet phldrT="[文字]"/>
      <dgm:spPr/>
      <dgm:t>
        <a:bodyPr/>
        <a:lstStyle/>
        <a:p>
          <a:r>
            <a:rPr lang="zh-TW" altLang="en-US" b="1" dirty="0"/>
            <a:t>簽核完畢，表單結束</a:t>
          </a:r>
        </a:p>
      </dgm:t>
    </dgm:pt>
    <dgm:pt modelId="{97242FFA-5CBB-47A7-98E1-CF636626963C}" type="parTrans" cxnId="{93FFA305-BE57-4C2F-BADE-4493565D3ACB}">
      <dgm:prSet/>
      <dgm:spPr/>
      <dgm:t>
        <a:bodyPr/>
        <a:lstStyle/>
        <a:p>
          <a:endParaRPr lang="zh-TW" altLang="en-US"/>
        </a:p>
      </dgm:t>
    </dgm:pt>
    <dgm:pt modelId="{4B95FC0F-8752-4A46-8486-6B7BA6924009}" type="sibTrans" cxnId="{93FFA305-BE57-4C2F-BADE-4493565D3ACB}">
      <dgm:prSet/>
      <dgm:spPr/>
      <dgm:t>
        <a:bodyPr/>
        <a:lstStyle/>
        <a:p>
          <a:endParaRPr lang="zh-TW" altLang="en-US"/>
        </a:p>
      </dgm:t>
    </dgm:pt>
    <dgm:pt modelId="{C0A4A978-9BB9-423A-AFF0-26EC07718772}" type="pres">
      <dgm:prSet presAssocID="{4B89DAD2-D59C-427C-A662-03F9776FE00F}" presName="Name0" presStyleCnt="0">
        <dgm:presLayoutVars>
          <dgm:dir/>
          <dgm:resizeHandles val="exact"/>
        </dgm:presLayoutVars>
      </dgm:prSet>
      <dgm:spPr/>
    </dgm:pt>
    <dgm:pt modelId="{516E74C0-B499-4B47-BDE1-78B788FA9EE4}" type="pres">
      <dgm:prSet presAssocID="{A63C5C66-AB04-4C1D-A3AD-D40CFDDA8E1D}" presName="node" presStyleLbl="node1" presStyleIdx="0" presStyleCnt="9">
        <dgm:presLayoutVars>
          <dgm:bulletEnabled val="1"/>
        </dgm:presLayoutVars>
      </dgm:prSet>
      <dgm:spPr/>
    </dgm:pt>
    <dgm:pt modelId="{30DB1EC3-A198-44DD-933E-B5DFCAF5D058}" type="pres">
      <dgm:prSet presAssocID="{5EF82672-C31C-46F7-8629-5FFF5F1A691F}" presName="sibTrans" presStyleLbl="sibTrans1D1" presStyleIdx="0" presStyleCnt="8"/>
      <dgm:spPr/>
    </dgm:pt>
    <dgm:pt modelId="{37BD4B74-EF1B-48BD-BFCC-947CA1232C36}" type="pres">
      <dgm:prSet presAssocID="{5EF82672-C31C-46F7-8629-5FFF5F1A691F}" presName="connectorText" presStyleLbl="sibTrans1D1" presStyleIdx="0" presStyleCnt="8"/>
      <dgm:spPr/>
    </dgm:pt>
    <dgm:pt modelId="{0032A336-7B12-4C20-B090-372D93FAF188}" type="pres">
      <dgm:prSet presAssocID="{E08617E7-0E7C-4FD2-8E19-BE1DE48FA6C0}" presName="node" presStyleLbl="node1" presStyleIdx="1" presStyleCnt="9">
        <dgm:presLayoutVars>
          <dgm:bulletEnabled val="1"/>
        </dgm:presLayoutVars>
      </dgm:prSet>
      <dgm:spPr/>
    </dgm:pt>
    <dgm:pt modelId="{405CCA24-7974-475A-91CE-8F8A1BD3FF27}" type="pres">
      <dgm:prSet presAssocID="{FF6368D2-DDEA-4723-9E49-DA97B264B284}" presName="sibTrans" presStyleLbl="sibTrans1D1" presStyleIdx="1" presStyleCnt="8"/>
      <dgm:spPr/>
    </dgm:pt>
    <dgm:pt modelId="{47C12A3F-5E79-478F-8E4B-322F8DFDA618}" type="pres">
      <dgm:prSet presAssocID="{FF6368D2-DDEA-4723-9E49-DA97B264B284}" presName="connectorText" presStyleLbl="sibTrans1D1" presStyleIdx="1" presStyleCnt="8"/>
      <dgm:spPr/>
    </dgm:pt>
    <dgm:pt modelId="{F084B0DC-B2F7-4424-BDFD-093E781BC98D}" type="pres">
      <dgm:prSet presAssocID="{921E7D69-5DA5-4597-AC80-DDDE731F6CA5}" presName="node" presStyleLbl="node1" presStyleIdx="2" presStyleCnt="9">
        <dgm:presLayoutVars>
          <dgm:bulletEnabled val="1"/>
        </dgm:presLayoutVars>
      </dgm:prSet>
      <dgm:spPr/>
    </dgm:pt>
    <dgm:pt modelId="{D87BE2A0-D0C6-477B-AC9C-70AB26E7EFB9}" type="pres">
      <dgm:prSet presAssocID="{751792D1-6B8A-4349-B6BC-4E2FFBD3BB76}" presName="sibTrans" presStyleLbl="sibTrans1D1" presStyleIdx="2" presStyleCnt="8"/>
      <dgm:spPr/>
    </dgm:pt>
    <dgm:pt modelId="{A1DFE768-1C82-4844-BF04-DB6BFF2851E6}" type="pres">
      <dgm:prSet presAssocID="{751792D1-6B8A-4349-B6BC-4E2FFBD3BB76}" presName="connectorText" presStyleLbl="sibTrans1D1" presStyleIdx="2" presStyleCnt="8"/>
      <dgm:spPr/>
    </dgm:pt>
    <dgm:pt modelId="{427882C8-19AD-4530-99A2-D05B668E1FFD}" type="pres">
      <dgm:prSet presAssocID="{3E93882C-502A-42AF-A828-0E7E5FBC550F}" presName="node" presStyleLbl="node1" presStyleIdx="3" presStyleCnt="9">
        <dgm:presLayoutVars>
          <dgm:bulletEnabled val="1"/>
        </dgm:presLayoutVars>
      </dgm:prSet>
      <dgm:spPr/>
    </dgm:pt>
    <dgm:pt modelId="{42BA7BAD-5F3A-42B6-8679-D41914A35764}" type="pres">
      <dgm:prSet presAssocID="{DB415831-E73E-475A-8B0C-4E7CD979563C}" presName="sibTrans" presStyleLbl="sibTrans1D1" presStyleIdx="3" presStyleCnt="8"/>
      <dgm:spPr/>
    </dgm:pt>
    <dgm:pt modelId="{F081688B-0FDB-41DE-9FB0-BD92855AA7E0}" type="pres">
      <dgm:prSet presAssocID="{DB415831-E73E-475A-8B0C-4E7CD979563C}" presName="connectorText" presStyleLbl="sibTrans1D1" presStyleIdx="3" presStyleCnt="8"/>
      <dgm:spPr/>
    </dgm:pt>
    <dgm:pt modelId="{8AFD1B7C-0D4B-41DF-A3BA-0F5D28236BC6}" type="pres">
      <dgm:prSet presAssocID="{0B74C3E6-BF4B-4A48-8BC5-FBC264C77AB4}" presName="node" presStyleLbl="node1" presStyleIdx="4" presStyleCnt="9">
        <dgm:presLayoutVars>
          <dgm:bulletEnabled val="1"/>
        </dgm:presLayoutVars>
      </dgm:prSet>
      <dgm:spPr/>
    </dgm:pt>
    <dgm:pt modelId="{C9F529A2-6FAB-4DEB-A4B9-8BEA8D8F8FC7}" type="pres">
      <dgm:prSet presAssocID="{C70CE1E0-D99B-4EC1-9D39-7F99E0AC6E62}" presName="sibTrans" presStyleLbl="sibTrans1D1" presStyleIdx="4" presStyleCnt="8"/>
      <dgm:spPr/>
    </dgm:pt>
    <dgm:pt modelId="{EBF91D04-3C10-455A-8F4D-2F79925BD6BE}" type="pres">
      <dgm:prSet presAssocID="{C70CE1E0-D99B-4EC1-9D39-7F99E0AC6E62}" presName="connectorText" presStyleLbl="sibTrans1D1" presStyleIdx="4" presStyleCnt="8"/>
      <dgm:spPr/>
    </dgm:pt>
    <dgm:pt modelId="{BBC6F3E8-71CD-46BC-957D-E3C5F15C03FB}" type="pres">
      <dgm:prSet presAssocID="{388E8D72-198F-4103-8E1C-EA566472DDDE}" presName="node" presStyleLbl="node1" presStyleIdx="5" presStyleCnt="9">
        <dgm:presLayoutVars>
          <dgm:bulletEnabled val="1"/>
        </dgm:presLayoutVars>
      </dgm:prSet>
      <dgm:spPr/>
    </dgm:pt>
    <dgm:pt modelId="{8B98DAFC-0A6A-4A6A-9794-B31EB55370EC}" type="pres">
      <dgm:prSet presAssocID="{997DDFCA-7FF5-402A-B1E6-502CED2C97DD}" presName="sibTrans" presStyleLbl="sibTrans1D1" presStyleIdx="5" presStyleCnt="8"/>
      <dgm:spPr/>
    </dgm:pt>
    <dgm:pt modelId="{725C917F-6C0E-4DEE-AA6B-681F4B78D8F1}" type="pres">
      <dgm:prSet presAssocID="{997DDFCA-7FF5-402A-B1E6-502CED2C97DD}" presName="connectorText" presStyleLbl="sibTrans1D1" presStyleIdx="5" presStyleCnt="8"/>
      <dgm:spPr/>
    </dgm:pt>
    <dgm:pt modelId="{196D3C61-9328-4DA7-893B-C198A62EA8BC}" type="pres">
      <dgm:prSet presAssocID="{56602DF6-9124-4B52-BE37-1C8DA28846B8}" presName="node" presStyleLbl="node1" presStyleIdx="6" presStyleCnt="9">
        <dgm:presLayoutVars>
          <dgm:bulletEnabled val="1"/>
        </dgm:presLayoutVars>
      </dgm:prSet>
      <dgm:spPr/>
    </dgm:pt>
    <dgm:pt modelId="{08D25261-8A90-46A0-97CB-3A563C7DE1DF}" type="pres">
      <dgm:prSet presAssocID="{0081E0EF-15E6-4FF0-B52E-A0614D4C23BC}" presName="sibTrans" presStyleLbl="sibTrans1D1" presStyleIdx="6" presStyleCnt="8"/>
      <dgm:spPr/>
    </dgm:pt>
    <dgm:pt modelId="{E8853DAC-A87C-45F3-868D-92C5F1E19479}" type="pres">
      <dgm:prSet presAssocID="{0081E0EF-15E6-4FF0-B52E-A0614D4C23BC}" presName="connectorText" presStyleLbl="sibTrans1D1" presStyleIdx="6" presStyleCnt="8"/>
      <dgm:spPr/>
    </dgm:pt>
    <dgm:pt modelId="{7DF0E1FA-BE2B-4445-9369-6D7D76D94925}" type="pres">
      <dgm:prSet presAssocID="{D991D0B5-F4EA-41C7-9477-014777C9F0DE}" presName="node" presStyleLbl="node1" presStyleIdx="7" presStyleCnt="9">
        <dgm:presLayoutVars>
          <dgm:bulletEnabled val="1"/>
        </dgm:presLayoutVars>
      </dgm:prSet>
      <dgm:spPr/>
    </dgm:pt>
    <dgm:pt modelId="{4146734D-63AA-4565-8D21-FA5E9E4587F2}" type="pres">
      <dgm:prSet presAssocID="{54912E69-0CC4-49E0-8969-87A9BCA23D7C}" presName="sibTrans" presStyleLbl="sibTrans1D1" presStyleIdx="7" presStyleCnt="8"/>
      <dgm:spPr/>
    </dgm:pt>
    <dgm:pt modelId="{C1E14A15-FF6E-4BF6-A901-E8D03F03E648}" type="pres">
      <dgm:prSet presAssocID="{54912E69-0CC4-49E0-8969-87A9BCA23D7C}" presName="connectorText" presStyleLbl="sibTrans1D1" presStyleIdx="7" presStyleCnt="8"/>
      <dgm:spPr/>
    </dgm:pt>
    <dgm:pt modelId="{D3474578-2998-4D80-8FA9-59462C7B44C2}" type="pres">
      <dgm:prSet presAssocID="{E62B5F28-D391-49A5-9D86-B7F67E26E281}" presName="node" presStyleLbl="node1" presStyleIdx="8" presStyleCnt="9">
        <dgm:presLayoutVars>
          <dgm:bulletEnabled val="1"/>
        </dgm:presLayoutVars>
      </dgm:prSet>
      <dgm:spPr/>
    </dgm:pt>
  </dgm:ptLst>
  <dgm:cxnLst>
    <dgm:cxn modelId="{10071F00-5F9F-4C05-BF3A-22120771D0E6}" type="presOf" srcId="{E08617E7-0E7C-4FD2-8E19-BE1DE48FA6C0}" destId="{0032A336-7B12-4C20-B090-372D93FAF188}" srcOrd="0" destOrd="0" presId="urn:microsoft.com/office/officeart/2005/8/layout/bProcess3"/>
    <dgm:cxn modelId="{93FFA305-BE57-4C2F-BADE-4493565D3ACB}" srcId="{4B89DAD2-D59C-427C-A662-03F9776FE00F}" destId="{E62B5F28-D391-49A5-9D86-B7F67E26E281}" srcOrd="8" destOrd="0" parTransId="{97242FFA-5CBB-47A7-98E1-CF636626963C}" sibTransId="{4B95FC0F-8752-4A46-8486-6B7BA6924009}"/>
    <dgm:cxn modelId="{FB4AB706-880A-49D2-BA3D-C9D087442D85}" srcId="{4B89DAD2-D59C-427C-A662-03F9776FE00F}" destId="{0B74C3E6-BF4B-4A48-8BC5-FBC264C77AB4}" srcOrd="4" destOrd="0" parTransId="{2D303310-D0E7-44B1-9A87-4E99EFBBA50F}" sibTransId="{C70CE1E0-D99B-4EC1-9D39-7F99E0AC6E62}"/>
    <dgm:cxn modelId="{CE8D6208-6944-4909-A426-12A91A5F0783}" type="presOf" srcId="{4B89DAD2-D59C-427C-A662-03F9776FE00F}" destId="{C0A4A978-9BB9-423A-AFF0-26EC07718772}" srcOrd="0" destOrd="0" presId="urn:microsoft.com/office/officeart/2005/8/layout/bProcess3"/>
    <dgm:cxn modelId="{24D3970A-A7AC-4293-BA0F-9C1848934DAA}" srcId="{4B89DAD2-D59C-427C-A662-03F9776FE00F}" destId="{921E7D69-5DA5-4597-AC80-DDDE731F6CA5}" srcOrd="2" destOrd="0" parTransId="{26707D7A-A5D1-4556-9B7B-A77DCD972AD5}" sibTransId="{751792D1-6B8A-4349-B6BC-4E2FFBD3BB76}"/>
    <dgm:cxn modelId="{335B9D0A-0DAF-4A26-B278-F4175EF987A2}" type="presOf" srcId="{388E8D72-198F-4103-8E1C-EA566472DDDE}" destId="{BBC6F3E8-71CD-46BC-957D-E3C5F15C03FB}" srcOrd="0" destOrd="0" presId="urn:microsoft.com/office/officeart/2005/8/layout/bProcess3"/>
    <dgm:cxn modelId="{04C4AB0D-9398-4A04-AE94-A80DD446236D}" srcId="{4B89DAD2-D59C-427C-A662-03F9776FE00F}" destId="{D991D0B5-F4EA-41C7-9477-014777C9F0DE}" srcOrd="7" destOrd="0" parTransId="{B2F99403-8AD2-4B2E-AC0E-471AAE47C554}" sibTransId="{54912E69-0CC4-49E0-8969-87A9BCA23D7C}"/>
    <dgm:cxn modelId="{4FA65E25-75A5-41A7-BF67-5FADA3E55CEC}" type="presOf" srcId="{921E7D69-5DA5-4597-AC80-DDDE731F6CA5}" destId="{F084B0DC-B2F7-4424-BDFD-093E781BC98D}" srcOrd="0" destOrd="0" presId="urn:microsoft.com/office/officeart/2005/8/layout/bProcess3"/>
    <dgm:cxn modelId="{8F836832-3296-4274-A0AF-CD2097D2FF27}" srcId="{4B89DAD2-D59C-427C-A662-03F9776FE00F}" destId="{56602DF6-9124-4B52-BE37-1C8DA28846B8}" srcOrd="6" destOrd="0" parTransId="{24E586BE-915C-43B0-8A70-11BCF0E8EC98}" sibTransId="{0081E0EF-15E6-4FF0-B52E-A0614D4C23BC}"/>
    <dgm:cxn modelId="{1E900338-C0C3-47D9-B587-E41A24AE2B2F}" type="presOf" srcId="{5EF82672-C31C-46F7-8629-5FFF5F1A691F}" destId="{30DB1EC3-A198-44DD-933E-B5DFCAF5D058}" srcOrd="0" destOrd="0" presId="urn:microsoft.com/office/officeart/2005/8/layout/bProcess3"/>
    <dgm:cxn modelId="{51D5D43C-1768-42CB-B8A6-79D281D165FC}" type="presOf" srcId="{56602DF6-9124-4B52-BE37-1C8DA28846B8}" destId="{196D3C61-9328-4DA7-893B-C198A62EA8BC}" srcOrd="0" destOrd="0" presId="urn:microsoft.com/office/officeart/2005/8/layout/bProcess3"/>
    <dgm:cxn modelId="{BE26D561-DC06-4D7B-BCEB-E4A211324B74}" type="presOf" srcId="{FF6368D2-DDEA-4723-9E49-DA97B264B284}" destId="{405CCA24-7974-475A-91CE-8F8A1BD3FF27}" srcOrd="0" destOrd="0" presId="urn:microsoft.com/office/officeart/2005/8/layout/bProcess3"/>
    <dgm:cxn modelId="{4E2D9B65-FB93-4725-B228-65996B656017}" type="presOf" srcId="{751792D1-6B8A-4349-B6BC-4E2FFBD3BB76}" destId="{D87BE2A0-D0C6-477B-AC9C-70AB26E7EFB9}" srcOrd="0" destOrd="0" presId="urn:microsoft.com/office/officeart/2005/8/layout/bProcess3"/>
    <dgm:cxn modelId="{05656B4A-C084-4383-BE73-5876B596C0BA}" srcId="{4B89DAD2-D59C-427C-A662-03F9776FE00F}" destId="{E08617E7-0E7C-4FD2-8E19-BE1DE48FA6C0}" srcOrd="1" destOrd="0" parTransId="{8D0FE696-7A9D-4BBB-803C-66DF86BF3EB9}" sibTransId="{FF6368D2-DDEA-4723-9E49-DA97B264B284}"/>
    <dgm:cxn modelId="{D76A1E54-1565-4D77-B1B2-2E5EAACBBC90}" type="presOf" srcId="{0081E0EF-15E6-4FF0-B52E-A0614D4C23BC}" destId="{E8853DAC-A87C-45F3-868D-92C5F1E19479}" srcOrd="1" destOrd="0" presId="urn:microsoft.com/office/officeart/2005/8/layout/bProcess3"/>
    <dgm:cxn modelId="{70496155-131D-4ABF-8EBB-A8E1D987BE0F}" type="presOf" srcId="{54912E69-0CC4-49E0-8969-87A9BCA23D7C}" destId="{4146734D-63AA-4565-8D21-FA5E9E4587F2}" srcOrd="0" destOrd="0" presId="urn:microsoft.com/office/officeart/2005/8/layout/bProcess3"/>
    <dgm:cxn modelId="{566F3558-E6CE-4C19-82F8-A5F7A71E483E}" type="presOf" srcId="{997DDFCA-7FF5-402A-B1E6-502CED2C97DD}" destId="{725C917F-6C0E-4DEE-AA6B-681F4B78D8F1}" srcOrd="1" destOrd="0" presId="urn:microsoft.com/office/officeart/2005/8/layout/bProcess3"/>
    <dgm:cxn modelId="{93BFDB7C-6CBD-4C37-9C81-B18CB84C8909}" srcId="{4B89DAD2-D59C-427C-A662-03F9776FE00F}" destId="{A63C5C66-AB04-4C1D-A3AD-D40CFDDA8E1D}" srcOrd="0" destOrd="0" parTransId="{D9FE4A53-5450-42F2-B958-947592F67788}" sibTransId="{5EF82672-C31C-46F7-8629-5FFF5F1A691F}"/>
    <dgm:cxn modelId="{E7F8577E-993E-4570-A11A-3709BEBD1667}" type="presOf" srcId="{DB415831-E73E-475A-8B0C-4E7CD979563C}" destId="{42BA7BAD-5F3A-42B6-8679-D41914A35764}" srcOrd="0" destOrd="0" presId="urn:microsoft.com/office/officeart/2005/8/layout/bProcess3"/>
    <dgm:cxn modelId="{3D932189-C6AB-41DE-BE6F-975015D88275}" srcId="{4B89DAD2-D59C-427C-A662-03F9776FE00F}" destId="{388E8D72-198F-4103-8E1C-EA566472DDDE}" srcOrd="5" destOrd="0" parTransId="{A310C831-628C-433D-93CA-04A6F4A4D3CF}" sibTransId="{997DDFCA-7FF5-402A-B1E6-502CED2C97DD}"/>
    <dgm:cxn modelId="{F6ACEA8B-33A4-46F9-89A7-A3BB0C79D5D3}" type="presOf" srcId="{3E93882C-502A-42AF-A828-0E7E5FBC550F}" destId="{427882C8-19AD-4530-99A2-D05B668E1FFD}" srcOrd="0" destOrd="0" presId="urn:microsoft.com/office/officeart/2005/8/layout/bProcess3"/>
    <dgm:cxn modelId="{09F09E93-3A95-45F4-8713-3F376D4E4361}" type="presOf" srcId="{54912E69-0CC4-49E0-8969-87A9BCA23D7C}" destId="{C1E14A15-FF6E-4BF6-A901-E8D03F03E648}" srcOrd="1" destOrd="0" presId="urn:microsoft.com/office/officeart/2005/8/layout/bProcess3"/>
    <dgm:cxn modelId="{58684595-FE97-48A0-9A19-81823986162C}" type="presOf" srcId="{A63C5C66-AB04-4C1D-A3AD-D40CFDDA8E1D}" destId="{516E74C0-B499-4B47-BDE1-78B788FA9EE4}" srcOrd="0" destOrd="0" presId="urn:microsoft.com/office/officeart/2005/8/layout/bProcess3"/>
    <dgm:cxn modelId="{2980179E-F830-4487-AA50-7076C269B1E8}" type="presOf" srcId="{D991D0B5-F4EA-41C7-9477-014777C9F0DE}" destId="{7DF0E1FA-BE2B-4445-9369-6D7D76D94925}" srcOrd="0" destOrd="0" presId="urn:microsoft.com/office/officeart/2005/8/layout/bProcess3"/>
    <dgm:cxn modelId="{3A4A2BA3-8586-47CF-96D6-B7B62D3D2736}" type="presOf" srcId="{C70CE1E0-D99B-4EC1-9D39-7F99E0AC6E62}" destId="{C9F529A2-6FAB-4DEB-A4B9-8BEA8D8F8FC7}" srcOrd="0" destOrd="0" presId="urn:microsoft.com/office/officeart/2005/8/layout/bProcess3"/>
    <dgm:cxn modelId="{0790DAA7-E893-405F-BBAD-F88034E60FE7}" srcId="{4B89DAD2-D59C-427C-A662-03F9776FE00F}" destId="{3E93882C-502A-42AF-A828-0E7E5FBC550F}" srcOrd="3" destOrd="0" parTransId="{CF0ED4FF-9318-44E8-8B00-7489C9106022}" sibTransId="{DB415831-E73E-475A-8B0C-4E7CD979563C}"/>
    <dgm:cxn modelId="{57AFAFAF-7098-46BC-B96F-82A5572C93A2}" type="presOf" srcId="{E62B5F28-D391-49A5-9D86-B7F67E26E281}" destId="{D3474578-2998-4D80-8FA9-59462C7B44C2}" srcOrd="0" destOrd="0" presId="urn:microsoft.com/office/officeart/2005/8/layout/bProcess3"/>
    <dgm:cxn modelId="{F3357DB3-9900-4520-A666-4C784DD57FD8}" type="presOf" srcId="{997DDFCA-7FF5-402A-B1E6-502CED2C97DD}" destId="{8B98DAFC-0A6A-4A6A-9794-B31EB55370EC}" srcOrd="0" destOrd="0" presId="urn:microsoft.com/office/officeart/2005/8/layout/bProcess3"/>
    <dgm:cxn modelId="{96FBC8BE-9FA2-4ED9-8B7C-9B53CAC37B1E}" type="presOf" srcId="{0B74C3E6-BF4B-4A48-8BC5-FBC264C77AB4}" destId="{8AFD1B7C-0D4B-41DF-A3BA-0F5D28236BC6}" srcOrd="0" destOrd="0" presId="urn:microsoft.com/office/officeart/2005/8/layout/bProcess3"/>
    <dgm:cxn modelId="{C2F32FC1-8556-49A1-835C-D584FA9041A3}" type="presOf" srcId="{C70CE1E0-D99B-4EC1-9D39-7F99E0AC6E62}" destId="{EBF91D04-3C10-455A-8F4D-2F79925BD6BE}" srcOrd="1" destOrd="0" presId="urn:microsoft.com/office/officeart/2005/8/layout/bProcess3"/>
    <dgm:cxn modelId="{E34051C8-9218-4375-93A6-5C06AD2443BE}" type="presOf" srcId="{0081E0EF-15E6-4FF0-B52E-A0614D4C23BC}" destId="{08D25261-8A90-46A0-97CB-3A563C7DE1DF}" srcOrd="0" destOrd="0" presId="urn:microsoft.com/office/officeart/2005/8/layout/bProcess3"/>
    <dgm:cxn modelId="{56132BDD-8793-4884-B71B-1E172F600E29}" type="presOf" srcId="{5EF82672-C31C-46F7-8629-5FFF5F1A691F}" destId="{37BD4B74-EF1B-48BD-BFCC-947CA1232C36}" srcOrd="1" destOrd="0" presId="urn:microsoft.com/office/officeart/2005/8/layout/bProcess3"/>
    <dgm:cxn modelId="{D704F2E8-FA66-4339-BF00-716CF355BF3C}" type="presOf" srcId="{FF6368D2-DDEA-4723-9E49-DA97B264B284}" destId="{47C12A3F-5E79-478F-8E4B-322F8DFDA618}" srcOrd="1" destOrd="0" presId="urn:microsoft.com/office/officeart/2005/8/layout/bProcess3"/>
    <dgm:cxn modelId="{3D80AAF4-F30D-40DC-A657-AC3883F2FD8F}" type="presOf" srcId="{DB415831-E73E-475A-8B0C-4E7CD979563C}" destId="{F081688B-0FDB-41DE-9FB0-BD92855AA7E0}" srcOrd="1" destOrd="0" presId="urn:microsoft.com/office/officeart/2005/8/layout/bProcess3"/>
    <dgm:cxn modelId="{9FB9FAF4-9014-41F3-A468-695A9C431792}" type="presOf" srcId="{751792D1-6B8A-4349-B6BC-4E2FFBD3BB76}" destId="{A1DFE768-1C82-4844-BF04-DB6BFF2851E6}" srcOrd="1" destOrd="0" presId="urn:microsoft.com/office/officeart/2005/8/layout/bProcess3"/>
    <dgm:cxn modelId="{F9C047B0-4B25-42F3-9276-2A9C39515625}" type="presParOf" srcId="{C0A4A978-9BB9-423A-AFF0-26EC07718772}" destId="{516E74C0-B499-4B47-BDE1-78B788FA9EE4}" srcOrd="0" destOrd="0" presId="urn:microsoft.com/office/officeart/2005/8/layout/bProcess3"/>
    <dgm:cxn modelId="{BA4E0033-D624-41DA-9837-95AD96BDE123}" type="presParOf" srcId="{C0A4A978-9BB9-423A-AFF0-26EC07718772}" destId="{30DB1EC3-A198-44DD-933E-B5DFCAF5D058}" srcOrd="1" destOrd="0" presId="urn:microsoft.com/office/officeart/2005/8/layout/bProcess3"/>
    <dgm:cxn modelId="{E4701010-EA97-4D95-9B37-891EE4A91F82}" type="presParOf" srcId="{30DB1EC3-A198-44DD-933E-B5DFCAF5D058}" destId="{37BD4B74-EF1B-48BD-BFCC-947CA1232C36}" srcOrd="0" destOrd="0" presId="urn:microsoft.com/office/officeart/2005/8/layout/bProcess3"/>
    <dgm:cxn modelId="{9CD19DA4-6EA2-4C91-92CE-F7E1FAD49D80}" type="presParOf" srcId="{C0A4A978-9BB9-423A-AFF0-26EC07718772}" destId="{0032A336-7B12-4C20-B090-372D93FAF188}" srcOrd="2" destOrd="0" presId="urn:microsoft.com/office/officeart/2005/8/layout/bProcess3"/>
    <dgm:cxn modelId="{639742A4-FB9F-499D-86E6-521EEAF64CC6}" type="presParOf" srcId="{C0A4A978-9BB9-423A-AFF0-26EC07718772}" destId="{405CCA24-7974-475A-91CE-8F8A1BD3FF27}" srcOrd="3" destOrd="0" presId="urn:microsoft.com/office/officeart/2005/8/layout/bProcess3"/>
    <dgm:cxn modelId="{FD6D4C76-9DD7-4AF6-84DD-BC063447277C}" type="presParOf" srcId="{405CCA24-7974-475A-91CE-8F8A1BD3FF27}" destId="{47C12A3F-5E79-478F-8E4B-322F8DFDA618}" srcOrd="0" destOrd="0" presId="urn:microsoft.com/office/officeart/2005/8/layout/bProcess3"/>
    <dgm:cxn modelId="{974E42C1-6A81-420C-A919-CED2755A8A36}" type="presParOf" srcId="{C0A4A978-9BB9-423A-AFF0-26EC07718772}" destId="{F084B0DC-B2F7-4424-BDFD-093E781BC98D}" srcOrd="4" destOrd="0" presId="urn:microsoft.com/office/officeart/2005/8/layout/bProcess3"/>
    <dgm:cxn modelId="{C1BB4B7C-FA82-4951-B66A-21508DA54508}" type="presParOf" srcId="{C0A4A978-9BB9-423A-AFF0-26EC07718772}" destId="{D87BE2A0-D0C6-477B-AC9C-70AB26E7EFB9}" srcOrd="5" destOrd="0" presId="urn:microsoft.com/office/officeart/2005/8/layout/bProcess3"/>
    <dgm:cxn modelId="{EB01F850-75CB-4203-927E-F1347CF4B090}" type="presParOf" srcId="{D87BE2A0-D0C6-477B-AC9C-70AB26E7EFB9}" destId="{A1DFE768-1C82-4844-BF04-DB6BFF2851E6}" srcOrd="0" destOrd="0" presId="urn:microsoft.com/office/officeart/2005/8/layout/bProcess3"/>
    <dgm:cxn modelId="{25BC3CA7-6475-451C-83FF-B832A25ACBCA}" type="presParOf" srcId="{C0A4A978-9BB9-423A-AFF0-26EC07718772}" destId="{427882C8-19AD-4530-99A2-D05B668E1FFD}" srcOrd="6" destOrd="0" presId="urn:microsoft.com/office/officeart/2005/8/layout/bProcess3"/>
    <dgm:cxn modelId="{19137734-A1CB-4CF5-B780-D948BBDF5B54}" type="presParOf" srcId="{C0A4A978-9BB9-423A-AFF0-26EC07718772}" destId="{42BA7BAD-5F3A-42B6-8679-D41914A35764}" srcOrd="7" destOrd="0" presId="urn:microsoft.com/office/officeart/2005/8/layout/bProcess3"/>
    <dgm:cxn modelId="{7C4387F4-0A7E-4E51-848B-A16F70066C61}" type="presParOf" srcId="{42BA7BAD-5F3A-42B6-8679-D41914A35764}" destId="{F081688B-0FDB-41DE-9FB0-BD92855AA7E0}" srcOrd="0" destOrd="0" presId="urn:microsoft.com/office/officeart/2005/8/layout/bProcess3"/>
    <dgm:cxn modelId="{F1F39927-427B-43EE-92C6-849136F435A9}" type="presParOf" srcId="{C0A4A978-9BB9-423A-AFF0-26EC07718772}" destId="{8AFD1B7C-0D4B-41DF-A3BA-0F5D28236BC6}" srcOrd="8" destOrd="0" presId="urn:microsoft.com/office/officeart/2005/8/layout/bProcess3"/>
    <dgm:cxn modelId="{A28E994E-417B-45EB-98F1-95C6066D010E}" type="presParOf" srcId="{C0A4A978-9BB9-423A-AFF0-26EC07718772}" destId="{C9F529A2-6FAB-4DEB-A4B9-8BEA8D8F8FC7}" srcOrd="9" destOrd="0" presId="urn:microsoft.com/office/officeart/2005/8/layout/bProcess3"/>
    <dgm:cxn modelId="{EF86F927-BABA-42DE-812F-C055600F68E9}" type="presParOf" srcId="{C9F529A2-6FAB-4DEB-A4B9-8BEA8D8F8FC7}" destId="{EBF91D04-3C10-455A-8F4D-2F79925BD6BE}" srcOrd="0" destOrd="0" presId="urn:microsoft.com/office/officeart/2005/8/layout/bProcess3"/>
    <dgm:cxn modelId="{0C496DEB-98FC-4AB6-8D34-D8332A12A7AA}" type="presParOf" srcId="{C0A4A978-9BB9-423A-AFF0-26EC07718772}" destId="{BBC6F3E8-71CD-46BC-957D-E3C5F15C03FB}" srcOrd="10" destOrd="0" presId="urn:microsoft.com/office/officeart/2005/8/layout/bProcess3"/>
    <dgm:cxn modelId="{B5B35896-8BAF-4A14-AF3E-7328167BDDBA}" type="presParOf" srcId="{C0A4A978-9BB9-423A-AFF0-26EC07718772}" destId="{8B98DAFC-0A6A-4A6A-9794-B31EB55370EC}" srcOrd="11" destOrd="0" presId="urn:microsoft.com/office/officeart/2005/8/layout/bProcess3"/>
    <dgm:cxn modelId="{3D805011-9F23-4B5A-8459-8335284466D5}" type="presParOf" srcId="{8B98DAFC-0A6A-4A6A-9794-B31EB55370EC}" destId="{725C917F-6C0E-4DEE-AA6B-681F4B78D8F1}" srcOrd="0" destOrd="0" presId="urn:microsoft.com/office/officeart/2005/8/layout/bProcess3"/>
    <dgm:cxn modelId="{EC14A521-1ECA-45EC-863E-87A43C0CC3F8}" type="presParOf" srcId="{C0A4A978-9BB9-423A-AFF0-26EC07718772}" destId="{196D3C61-9328-4DA7-893B-C198A62EA8BC}" srcOrd="12" destOrd="0" presId="urn:microsoft.com/office/officeart/2005/8/layout/bProcess3"/>
    <dgm:cxn modelId="{8C5347FA-4FF2-4B34-BB80-3704D1F8A8EE}" type="presParOf" srcId="{C0A4A978-9BB9-423A-AFF0-26EC07718772}" destId="{08D25261-8A90-46A0-97CB-3A563C7DE1DF}" srcOrd="13" destOrd="0" presId="urn:microsoft.com/office/officeart/2005/8/layout/bProcess3"/>
    <dgm:cxn modelId="{F864710D-5B0D-4AAA-9965-BBC7129E7DB2}" type="presParOf" srcId="{08D25261-8A90-46A0-97CB-3A563C7DE1DF}" destId="{E8853DAC-A87C-45F3-868D-92C5F1E19479}" srcOrd="0" destOrd="0" presId="urn:microsoft.com/office/officeart/2005/8/layout/bProcess3"/>
    <dgm:cxn modelId="{0598D8C6-8E6C-4A26-B0A6-1B799157831B}" type="presParOf" srcId="{C0A4A978-9BB9-423A-AFF0-26EC07718772}" destId="{7DF0E1FA-BE2B-4445-9369-6D7D76D94925}" srcOrd="14" destOrd="0" presId="urn:microsoft.com/office/officeart/2005/8/layout/bProcess3"/>
    <dgm:cxn modelId="{27D4B42D-7535-4A22-BD89-E7A8CF7026BF}" type="presParOf" srcId="{C0A4A978-9BB9-423A-AFF0-26EC07718772}" destId="{4146734D-63AA-4565-8D21-FA5E9E4587F2}" srcOrd="15" destOrd="0" presId="urn:microsoft.com/office/officeart/2005/8/layout/bProcess3"/>
    <dgm:cxn modelId="{D9314D55-F336-42CF-AC57-A59BC16F3951}" type="presParOf" srcId="{4146734D-63AA-4565-8D21-FA5E9E4587F2}" destId="{C1E14A15-FF6E-4BF6-A901-E8D03F03E648}" srcOrd="0" destOrd="0" presId="urn:microsoft.com/office/officeart/2005/8/layout/bProcess3"/>
    <dgm:cxn modelId="{2B50829D-1E7F-4EB2-891B-047BBFB9F4A8}" type="presParOf" srcId="{C0A4A978-9BB9-423A-AFF0-26EC07718772}" destId="{D3474578-2998-4D80-8FA9-59462C7B44C2}" srcOrd="1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B7B097-EAA6-476C-B241-5834F1FB2C60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9FD4955F-207C-4078-A29F-84D265285DB6}">
      <dgm:prSet phldrT="[文字]" custT="1"/>
      <dgm:spPr/>
      <dgm:t>
        <a:bodyPr/>
        <a:lstStyle/>
        <a:p>
          <a:r>
            <a:rPr lang="zh-TW" altLang="en-US" sz="1600" b="1" dirty="0"/>
            <a:t>用途：同一個專案有多人匯款需求，可填一筆預支單即可</a:t>
          </a:r>
        </a:p>
      </dgm:t>
    </dgm:pt>
    <dgm:pt modelId="{89C9A8D1-982A-41BC-A86A-6648F7312B5A}" type="parTrans" cxnId="{C85376DD-F0B1-4C8B-8F75-F6C95B98C83C}">
      <dgm:prSet/>
      <dgm:spPr/>
      <dgm:t>
        <a:bodyPr/>
        <a:lstStyle/>
        <a:p>
          <a:endParaRPr lang="zh-TW" altLang="en-US" sz="1800"/>
        </a:p>
      </dgm:t>
    </dgm:pt>
    <dgm:pt modelId="{8C09F24E-3FBE-4E8C-8002-506047A81620}" type="sibTrans" cxnId="{C85376DD-F0B1-4C8B-8F75-F6C95B98C83C}">
      <dgm:prSet/>
      <dgm:spPr/>
      <dgm:t>
        <a:bodyPr/>
        <a:lstStyle/>
        <a:p>
          <a:endParaRPr lang="zh-TW" altLang="en-US" sz="1800"/>
        </a:p>
      </dgm:t>
    </dgm:pt>
    <dgm:pt modelId="{61AB32D1-0A36-4D9C-B6CB-58B586853D45}">
      <dgm:prSet phldrT="[文字]" custT="1"/>
      <dgm:spPr/>
      <dgm:t>
        <a:bodyPr/>
        <a:lstStyle/>
        <a:p>
          <a:r>
            <a:rPr lang="zh-TW" altLang="en-US" sz="1600" b="1" dirty="0"/>
            <a:t>文件下載路徑：文件中心→通用文件→</a:t>
          </a:r>
          <a:r>
            <a:rPr lang="en-US" altLang="zh-TW" sz="1600" b="1" dirty="0"/>
            <a:t>(</a:t>
          </a:r>
          <a:r>
            <a:rPr lang="zh-TW" altLang="en-US" sz="1600" b="1" dirty="0"/>
            <a:t>預支單附件</a:t>
          </a:r>
          <a:r>
            <a:rPr lang="en-US" altLang="zh-TW" sz="1600" b="1" dirty="0"/>
            <a:t>)</a:t>
          </a:r>
          <a:r>
            <a:rPr lang="zh-TW" altLang="en-US" sz="1600" b="1" dirty="0"/>
            <a:t>預支多人匯款清單</a:t>
          </a:r>
          <a:r>
            <a:rPr lang="en-US" altLang="zh-TW" sz="1600" b="1" dirty="0"/>
            <a:t>112.06</a:t>
          </a:r>
          <a:r>
            <a:rPr lang="zh-TW" altLang="en-US" sz="1600" b="1" dirty="0"/>
            <a:t>更新</a:t>
          </a:r>
        </a:p>
      </dgm:t>
    </dgm:pt>
    <dgm:pt modelId="{54E28C4B-5A0F-4AF1-A84B-F34B544E4A99}" type="parTrans" cxnId="{154B6D25-EBAD-4D31-B2BB-5649F7A023AE}">
      <dgm:prSet/>
      <dgm:spPr/>
      <dgm:t>
        <a:bodyPr/>
        <a:lstStyle/>
        <a:p>
          <a:endParaRPr lang="zh-TW" altLang="en-US" sz="1800"/>
        </a:p>
      </dgm:t>
    </dgm:pt>
    <dgm:pt modelId="{119207F0-B408-4B4A-8737-C914A22E1656}" type="sibTrans" cxnId="{154B6D25-EBAD-4D31-B2BB-5649F7A023AE}">
      <dgm:prSet/>
      <dgm:spPr/>
      <dgm:t>
        <a:bodyPr/>
        <a:lstStyle/>
        <a:p>
          <a:endParaRPr lang="zh-TW" altLang="en-US" sz="1800"/>
        </a:p>
      </dgm:t>
    </dgm:pt>
    <dgm:pt modelId="{C3700BB9-F390-4675-B8BF-F48C56C18D5D}">
      <dgm:prSet phldrT="[文字]" custT="1"/>
      <dgm:spPr/>
      <dgm:t>
        <a:bodyPr/>
        <a:lstStyle/>
        <a:p>
          <a:r>
            <a:rPr lang="zh-TW" altLang="en-US" sz="1600" b="1" dirty="0"/>
            <a:t>預支說明 ：內容參考如下，匯款清單檔案下載後，依指示填入受款人資訊、帳戶檔案，並</a:t>
          </a:r>
          <a:r>
            <a:rPr lang="en-US" altLang="zh-TW" sz="1600" b="1" dirty="0"/>
            <a:t>mail</a:t>
          </a:r>
          <a:r>
            <a:rPr lang="zh-TW" altLang="en-US" sz="1600" b="1" dirty="0"/>
            <a:t>給專案</a:t>
          </a:r>
          <a:r>
            <a:rPr lang="en-US" altLang="zh-TW" sz="1600" b="1" dirty="0"/>
            <a:t>AC</a:t>
          </a:r>
          <a:r>
            <a:rPr lang="zh-TW" altLang="en-US" sz="1600" b="1" dirty="0"/>
            <a:t>及出納。</a:t>
          </a:r>
        </a:p>
      </dgm:t>
    </dgm:pt>
    <dgm:pt modelId="{7500F3C7-1C47-4DA1-921E-BCDDDEEA11CE}" type="parTrans" cxnId="{3AB92915-D719-47FD-B93D-5405CF506798}">
      <dgm:prSet/>
      <dgm:spPr/>
      <dgm:t>
        <a:bodyPr/>
        <a:lstStyle/>
        <a:p>
          <a:endParaRPr lang="zh-TW" altLang="en-US" sz="1800"/>
        </a:p>
      </dgm:t>
    </dgm:pt>
    <dgm:pt modelId="{DC97329C-0EC1-46CD-B033-B5D811A59B86}" type="sibTrans" cxnId="{3AB92915-D719-47FD-B93D-5405CF506798}">
      <dgm:prSet/>
      <dgm:spPr/>
      <dgm:t>
        <a:bodyPr/>
        <a:lstStyle/>
        <a:p>
          <a:endParaRPr lang="zh-TW" altLang="en-US" sz="1800"/>
        </a:p>
      </dgm:t>
    </dgm:pt>
    <dgm:pt modelId="{2DA6F219-0810-4B51-A648-6D3BDF68EB63}" type="pres">
      <dgm:prSet presAssocID="{CDB7B097-EAA6-476C-B241-5834F1FB2C60}" presName="Name0" presStyleCnt="0">
        <dgm:presLayoutVars>
          <dgm:chMax val="7"/>
          <dgm:chPref val="7"/>
          <dgm:dir/>
        </dgm:presLayoutVars>
      </dgm:prSet>
      <dgm:spPr/>
    </dgm:pt>
    <dgm:pt modelId="{826C132A-75E7-4C60-ADE4-57E87979ACAC}" type="pres">
      <dgm:prSet presAssocID="{CDB7B097-EAA6-476C-B241-5834F1FB2C60}" presName="Name1" presStyleCnt="0"/>
      <dgm:spPr/>
    </dgm:pt>
    <dgm:pt modelId="{089FBDF3-E8F7-4C90-8B83-20F9C958ADDB}" type="pres">
      <dgm:prSet presAssocID="{CDB7B097-EAA6-476C-B241-5834F1FB2C60}" presName="cycle" presStyleCnt="0"/>
      <dgm:spPr/>
    </dgm:pt>
    <dgm:pt modelId="{62A1527D-F116-4C83-90D9-59E99B3D2C74}" type="pres">
      <dgm:prSet presAssocID="{CDB7B097-EAA6-476C-B241-5834F1FB2C60}" presName="srcNode" presStyleLbl="node1" presStyleIdx="0" presStyleCnt="3"/>
      <dgm:spPr/>
    </dgm:pt>
    <dgm:pt modelId="{004E6921-7CCA-486E-B12E-FBD9EBA13815}" type="pres">
      <dgm:prSet presAssocID="{CDB7B097-EAA6-476C-B241-5834F1FB2C60}" presName="conn" presStyleLbl="parChTrans1D2" presStyleIdx="0" presStyleCnt="1"/>
      <dgm:spPr/>
    </dgm:pt>
    <dgm:pt modelId="{FB1A9DAE-D04F-4496-B27B-543F3BD21EFE}" type="pres">
      <dgm:prSet presAssocID="{CDB7B097-EAA6-476C-B241-5834F1FB2C60}" presName="extraNode" presStyleLbl="node1" presStyleIdx="0" presStyleCnt="3"/>
      <dgm:spPr/>
    </dgm:pt>
    <dgm:pt modelId="{8DED9F77-2883-4059-8FA0-9212CB7A95DB}" type="pres">
      <dgm:prSet presAssocID="{CDB7B097-EAA6-476C-B241-5834F1FB2C60}" presName="dstNode" presStyleLbl="node1" presStyleIdx="0" presStyleCnt="3"/>
      <dgm:spPr/>
    </dgm:pt>
    <dgm:pt modelId="{BABF3C49-713B-42A3-BDEC-77DE9A452A3A}" type="pres">
      <dgm:prSet presAssocID="{9FD4955F-207C-4078-A29F-84D265285DB6}" presName="text_1" presStyleLbl="node1" presStyleIdx="0" presStyleCnt="3">
        <dgm:presLayoutVars>
          <dgm:bulletEnabled val="1"/>
        </dgm:presLayoutVars>
      </dgm:prSet>
      <dgm:spPr/>
    </dgm:pt>
    <dgm:pt modelId="{E643694D-3755-4E71-AF6A-181D4100F0EE}" type="pres">
      <dgm:prSet presAssocID="{9FD4955F-207C-4078-A29F-84D265285DB6}" presName="accent_1" presStyleCnt="0"/>
      <dgm:spPr/>
    </dgm:pt>
    <dgm:pt modelId="{0C10BBDC-A000-4786-BE81-57F2F9D13C2D}" type="pres">
      <dgm:prSet presAssocID="{9FD4955F-207C-4078-A29F-84D265285DB6}" presName="accentRepeatNode" presStyleLbl="solidFgAcc1" presStyleIdx="0" presStyleCnt="3"/>
      <dgm:spPr/>
    </dgm:pt>
    <dgm:pt modelId="{A9F469D6-48CF-4C6A-A8C3-BE4933E915A5}" type="pres">
      <dgm:prSet presAssocID="{61AB32D1-0A36-4D9C-B6CB-58B586853D45}" presName="text_2" presStyleLbl="node1" presStyleIdx="1" presStyleCnt="3">
        <dgm:presLayoutVars>
          <dgm:bulletEnabled val="1"/>
        </dgm:presLayoutVars>
      </dgm:prSet>
      <dgm:spPr/>
    </dgm:pt>
    <dgm:pt modelId="{433945DE-C70F-4B77-BA9A-5F6647B59BA1}" type="pres">
      <dgm:prSet presAssocID="{61AB32D1-0A36-4D9C-B6CB-58B586853D45}" presName="accent_2" presStyleCnt="0"/>
      <dgm:spPr/>
    </dgm:pt>
    <dgm:pt modelId="{47C35BAC-5778-47EC-B90E-DFA92A4D6D8F}" type="pres">
      <dgm:prSet presAssocID="{61AB32D1-0A36-4D9C-B6CB-58B586853D45}" presName="accentRepeatNode" presStyleLbl="solidFgAcc1" presStyleIdx="1" presStyleCnt="3"/>
      <dgm:spPr/>
    </dgm:pt>
    <dgm:pt modelId="{8497238A-7FB7-445E-B98B-1B61EC5CD8CB}" type="pres">
      <dgm:prSet presAssocID="{C3700BB9-F390-4675-B8BF-F48C56C18D5D}" presName="text_3" presStyleLbl="node1" presStyleIdx="2" presStyleCnt="3">
        <dgm:presLayoutVars>
          <dgm:bulletEnabled val="1"/>
        </dgm:presLayoutVars>
      </dgm:prSet>
      <dgm:spPr/>
    </dgm:pt>
    <dgm:pt modelId="{60726D43-88F3-46EC-8ADE-C38B9AB4E9D2}" type="pres">
      <dgm:prSet presAssocID="{C3700BB9-F390-4675-B8BF-F48C56C18D5D}" presName="accent_3" presStyleCnt="0"/>
      <dgm:spPr/>
    </dgm:pt>
    <dgm:pt modelId="{590F3AE9-E97F-43D3-AFA2-DCC55DBFA5B6}" type="pres">
      <dgm:prSet presAssocID="{C3700BB9-F390-4675-B8BF-F48C56C18D5D}" presName="accentRepeatNode" presStyleLbl="solidFgAcc1" presStyleIdx="2" presStyleCnt="3"/>
      <dgm:spPr/>
    </dgm:pt>
  </dgm:ptLst>
  <dgm:cxnLst>
    <dgm:cxn modelId="{84A2F714-7BAA-42FE-A54D-3B7F98676F35}" type="presOf" srcId="{9FD4955F-207C-4078-A29F-84D265285DB6}" destId="{BABF3C49-713B-42A3-BDEC-77DE9A452A3A}" srcOrd="0" destOrd="0" presId="urn:microsoft.com/office/officeart/2008/layout/VerticalCurvedList"/>
    <dgm:cxn modelId="{3AB92915-D719-47FD-B93D-5405CF506798}" srcId="{CDB7B097-EAA6-476C-B241-5834F1FB2C60}" destId="{C3700BB9-F390-4675-B8BF-F48C56C18D5D}" srcOrd="2" destOrd="0" parTransId="{7500F3C7-1C47-4DA1-921E-BCDDDEEA11CE}" sibTransId="{DC97329C-0EC1-46CD-B033-B5D811A59B86}"/>
    <dgm:cxn modelId="{154B6D25-EBAD-4D31-B2BB-5649F7A023AE}" srcId="{CDB7B097-EAA6-476C-B241-5834F1FB2C60}" destId="{61AB32D1-0A36-4D9C-B6CB-58B586853D45}" srcOrd="1" destOrd="0" parTransId="{54E28C4B-5A0F-4AF1-A84B-F34B544E4A99}" sibTransId="{119207F0-B408-4B4A-8737-C914A22E1656}"/>
    <dgm:cxn modelId="{CB385F2A-AED0-445F-9AB8-E3CC4657FB9A}" type="presOf" srcId="{C3700BB9-F390-4675-B8BF-F48C56C18D5D}" destId="{8497238A-7FB7-445E-B98B-1B61EC5CD8CB}" srcOrd="0" destOrd="0" presId="urn:microsoft.com/office/officeart/2008/layout/VerticalCurvedList"/>
    <dgm:cxn modelId="{9B22B540-4EB7-4581-95C3-D2CBB9B98893}" type="presOf" srcId="{CDB7B097-EAA6-476C-B241-5834F1FB2C60}" destId="{2DA6F219-0810-4B51-A648-6D3BDF68EB63}" srcOrd="0" destOrd="0" presId="urn:microsoft.com/office/officeart/2008/layout/VerticalCurvedList"/>
    <dgm:cxn modelId="{0191786D-AAF6-43AF-BF36-6DD0F21B285E}" type="presOf" srcId="{8C09F24E-3FBE-4E8C-8002-506047A81620}" destId="{004E6921-7CCA-486E-B12E-FBD9EBA13815}" srcOrd="0" destOrd="0" presId="urn:microsoft.com/office/officeart/2008/layout/VerticalCurvedList"/>
    <dgm:cxn modelId="{48AE9C71-B821-4AA9-A9E5-A965E64C8F33}" type="presOf" srcId="{61AB32D1-0A36-4D9C-B6CB-58B586853D45}" destId="{A9F469D6-48CF-4C6A-A8C3-BE4933E915A5}" srcOrd="0" destOrd="0" presId="urn:microsoft.com/office/officeart/2008/layout/VerticalCurvedList"/>
    <dgm:cxn modelId="{C85376DD-F0B1-4C8B-8F75-F6C95B98C83C}" srcId="{CDB7B097-EAA6-476C-B241-5834F1FB2C60}" destId="{9FD4955F-207C-4078-A29F-84D265285DB6}" srcOrd="0" destOrd="0" parTransId="{89C9A8D1-982A-41BC-A86A-6648F7312B5A}" sibTransId="{8C09F24E-3FBE-4E8C-8002-506047A81620}"/>
    <dgm:cxn modelId="{45EAF53C-3504-4937-B993-FE71EE8A0559}" type="presParOf" srcId="{2DA6F219-0810-4B51-A648-6D3BDF68EB63}" destId="{826C132A-75E7-4C60-ADE4-57E87979ACAC}" srcOrd="0" destOrd="0" presId="urn:microsoft.com/office/officeart/2008/layout/VerticalCurvedList"/>
    <dgm:cxn modelId="{40A6DE75-343E-4B71-BF7A-C70B152C43CE}" type="presParOf" srcId="{826C132A-75E7-4C60-ADE4-57E87979ACAC}" destId="{089FBDF3-E8F7-4C90-8B83-20F9C958ADDB}" srcOrd="0" destOrd="0" presId="urn:microsoft.com/office/officeart/2008/layout/VerticalCurvedList"/>
    <dgm:cxn modelId="{55266F17-B5F3-49E5-87EF-3A67B966211D}" type="presParOf" srcId="{089FBDF3-E8F7-4C90-8B83-20F9C958ADDB}" destId="{62A1527D-F116-4C83-90D9-59E99B3D2C74}" srcOrd="0" destOrd="0" presId="urn:microsoft.com/office/officeart/2008/layout/VerticalCurvedList"/>
    <dgm:cxn modelId="{27EB136B-37CD-4802-804A-F33CF07EE23B}" type="presParOf" srcId="{089FBDF3-E8F7-4C90-8B83-20F9C958ADDB}" destId="{004E6921-7CCA-486E-B12E-FBD9EBA13815}" srcOrd="1" destOrd="0" presId="urn:microsoft.com/office/officeart/2008/layout/VerticalCurvedList"/>
    <dgm:cxn modelId="{1D58063A-8F13-4BA9-AEC1-AE7A7CF13FE2}" type="presParOf" srcId="{089FBDF3-E8F7-4C90-8B83-20F9C958ADDB}" destId="{FB1A9DAE-D04F-4496-B27B-543F3BD21EFE}" srcOrd="2" destOrd="0" presId="urn:microsoft.com/office/officeart/2008/layout/VerticalCurvedList"/>
    <dgm:cxn modelId="{3E9AB2A6-25A9-483F-B9BE-C6F7B636A5E5}" type="presParOf" srcId="{089FBDF3-E8F7-4C90-8B83-20F9C958ADDB}" destId="{8DED9F77-2883-4059-8FA0-9212CB7A95DB}" srcOrd="3" destOrd="0" presId="urn:microsoft.com/office/officeart/2008/layout/VerticalCurvedList"/>
    <dgm:cxn modelId="{EDB18448-4A0F-44A0-A7EA-F9D80DF04636}" type="presParOf" srcId="{826C132A-75E7-4C60-ADE4-57E87979ACAC}" destId="{BABF3C49-713B-42A3-BDEC-77DE9A452A3A}" srcOrd="1" destOrd="0" presId="urn:microsoft.com/office/officeart/2008/layout/VerticalCurvedList"/>
    <dgm:cxn modelId="{F41BEE08-6FC4-44B6-A15A-3490379727F5}" type="presParOf" srcId="{826C132A-75E7-4C60-ADE4-57E87979ACAC}" destId="{E643694D-3755-4E71-AF6A-181D4100F0EE}" srcOrd="2" destOrd="0" presId="urn:microsoft.com/office/officeart/2008/layout/VerticalCurvedList"/>
    <dgm:cxn modelId="{08CCD01C-EF7A-425B-A0B5-DEECED151C64}" type="presParOf" srcId="{E643694D-3755-4E71-AF6A-181D4100F0EE}" destId="{0C10BBDC-A000-4786-BE81-57F2F9D13C2D}" srcOrd="0" destOrd="0" presId="urn:microsoft.com/office/officeart/2008/layout/VerticalCurvedList"/>
    <dgm:cxn modelId="{F0CF1833-549C-4852-A196-40236C22679F}" type="presParOf" srcId="{826C132A-75E7-4C60-ADE4-57E87979ACAC}" destId="{A9F469D6-48CF-4C6A-A8C3-BE4933E915A5}" srcOrd="3" destOrd="0" presId="urn:microsoft.com/office/officeart/2008/layout/VerticalCurvedList"/>
    <dgm:cxn modelId="{4531A0ED-50F7-4D57-85A4-7AA560C3B710}" type="presParOf" srcId="{826C132A-75E7-4C60-ADE4-57E87979ACAC}" destId="{433945DE-C70F-4B77-BA9A-5F6647B59BA1}" srcOrd="4" destOrd="0" presId="urn:microsoft.com/office/officeart/2008/layout/VerticalCurvedList"/>
    <dgm:cxn modelId="{40E28383-3150-426F-BD09-DD994ABCE4EA}" type="presParOf" srcId="{433945DE-C70F-4B77-BA9A-5F6647B59BA1}" destId="{47C35BAC-5778-47EC-B90E-DFA92A4D6D8F}" srcOrd="0" destOrd="0" presId="urn:microsoft.com/office/officeart/2008/layout/VerticalCurvedList"/>
    <dgm:cxn modelId="{389323BD-FE40-4467-861C-104F0BD4C5DE}" type="presParOf" srcId="{826C132A-75E7-4C60-ADE4-57E87979ACAC}" destId="{8497238A-7FB7-445E-B98B-1B61EC5CD8CB}" srcOrd="5" destOrd="0" presId="urn:microsoft.com/office/officeart/2008/layout/VerticalCurvedList"/>
    <dgm:cxn modelId="{6CDB5C7A-DCB8-4B53-B44F-543F9177692B}" type="presParOf" srcId="{826C132A-75E7-4C60-ADE4-57E87979ACAC}" destId="{60726D43-88F3-46EC-8ADE-C38B9AB4E9D2}" srcOrd="6" destOrd="0" presId="urn:microsoft.com/office/officeart/2008/layout/VerticalCurvedList"/>
    <dgm:cxn modelId="{F7C00762-5495-4D31-8119-C19A7B8DE436}" type="presParOf" srcId="{60726D43-88F3-46EC-8ADE-C38B9AB4E9D2}" destId="{590F3AE9-E97F-43D3-AFA2-DCC55DBFA5B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7C0616B-C30B-4AAA-9BD8-867D38C2AA92}" type="doc">
      <dgm:prSet loTypeId="urn:microsoft.com/office/officeart/2005/8/layout/chevron2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zh-TW" altLang="en-US"/>
        </a:p>
      </dgm:t>
    </dgm:pt>
    <dgm:pt modelId="{37B77265-9352-487F-AAEA-0A57276E2448}">
      <dgm:prSet phldrT="[文字]" custT="1"/>
      <dgm:spPr/>
      <dgm:t>
        <a:bodyPr/>
        <a:lstStyle/>
        <a:p>
          <a:endParaRPr lang="en-US" altLang="zh-TW" sz="1800" b="1" dirty="0"/>
        </a:p>
        <a:p>
          <a:r>
            <a:rPr lang="zh-TW" altLang="en-US" sz="1800" b="1" dirty="0"/>
            <a:t>櫃台</a:t>
          </a:r>
        </a:p>
      </dgm:t>
    </dgm:pt>
    <dgm:pt modelId="{E1E8CD92-6B5F-4BF3-A0EE-C126A2B86696}" type="parTrans" cxnId="{F2791C61-D05C-4FB7-9E6E-4A15D5821AD6}">
      <dgm:prSet/>
      <dgm:spPr/>
      <dgm:t>
        <a:bodyPr/>
        <a:lstStyle/>
        <a:p>
          <a:endParaRPr lang="zh-TW" altLang="en-US"/>
        </a:p>
      </dgm:t>
    </dgm:pt>
    <dgm:pt modelId="{DBC62E65-E655-4566-86A1-D5845FF6DED3}" type="sibTrans" cxnId="{F2791C61-D05C-4FB7-9E6E-4A15D5821AD6}">
      <dgm:prSet/>
      <dgm:spPr/>
      <dgm:t>
        <a:bodyPr/>
        <a:lstStyle/>
        <a:p>
          <a:endParaRPr lang="zh-TW" altLang="en-US"/>
        </a:p>
      </dgm:t>
    </dgm:pt>
    <dgm:pt modelId="{0CD72A0A-EEA3-4AAC-9714-2620BB61D249}">
      <dgm:prSet phldrT="[文字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endParaRPr lang="en-US" altLang="zh-TW" sz="1800" b="1" dirty="0"/>
        </a:p>
        <a:p>
          <a:pPr>
            <a:lnSpc>
              <a:spcPct val="100000"/>
            </a:lnSpc>
            <a:spcAft>
              <a:spcPts val="0"/>
            </a:spcAft>
          </a:pPr>
          <a:r>
            <a:rPr lang="zh-TW" altLang="en-US" sz="1800" b="1" dirty="0"/>
            <a:t>用戶號碼</a:t>
          </a:r>
          <a:endParaRPr lang="en-US" altLang="zh-TW" sz="1800" b="1" dirty="0"/>
        </a:p>
        <a:p>
          <a:pPr>
            <a:lnSpc>
              <a:spcPct val="100000"/>
            </a:lnSpc>
            <a:spcAft>
              <a:spcPts val="0"/>
            </a:spcAft>
          </a:pPr>
          <a:r>
            <a:rPr lang="zh-TW" altLang="en-US" sz="1800" b="1" dirty="0"/>
            <a:t>管理人</a:t>
          </a:r>
        </a:p>
      </dgm:t>
    </dgm:pt>
    <dgm:pt modelId="{38271A2D-32C4-40AD-9C9C-2849D4974702}" type="parTrans" cxnId="{5594D820-498D-4A18-90D5-834B01D16FCE}">
      <dgm:prSet/>
      <dgm:spPr/>
      <dgm:t>
        <a:bodyPr/>
        <a:lstStyle/>
        <a:p>
          <a:endParaRPr lang="zh-TW" altLang="en-US"/>
        </a:p>
      </dgm:t>
    </dgm:pt>
    <dgm:pt modelId="{34DD4C56-9D7B-4C23-81E8-9CC3FB6ACD31}" type="sibTrans" cxnId="{5594D820-498D-4A18-90D5-834B01D16FCE}">
      <dgm:prSet/>
      <dgm:spPr/>
      <dgm:t>
        <a:bodyPr/>
        <a:lstStyle/>
        <a:p>
          <a:endParaRPr lang="zh-TW" altLang="en-US"/>
        </a:p>
      </dgm:t>
    </dgm:pt>
    <dgm:pt modelId="{BE3CDA0A-A3D2-4394-BF7B-2E2431A63E47}">
      <dgm:prSet phldrT="[文字]" custT="1"/>
      <dgm:spPr/>
      <dgm:t>
        <a:bodyPr/>
        <a:lstStyle/>
        <a:p>
          <a:r>
            <a:rPr lang="zh-TW" altLang="en-US" sz="1200" b="1" dirty="0"/>
            <a:t>於</a:t>
          </a:r>
          <a:r>
            <a:rPr lang="en-US" altLang="zh-TW" sz="1200" b="1" dirty="0"/>
            <a:t>【</a:t>
          </a:r>
          <a:r>
            <a:rPr lang="zh-TW" altLang="en-US" sz="1200" b="1" dirty="0"/>
            <a:t>電信帳單查詢</a:t>
          </a:r>
          <a:r>
            <a:rPr lang="en-US" altLang="zh-TW" sz="1200" b="1" dirty="0"/>
            <a:t>】</a:t>
          </a:r>
          <a:r>
            <a:rPr lang="zh-TW" altLang="en-US" sz="1200" b="1" dirty="0"/>
            <a:t>勾選要繳費的用戶號碼。</a:t>
          </a:r>
        </a:p>
      </dgm:t>
    </dgm:pt>
    <dgm:pt modelId="{1F85833F-B0C6-4F5F-964D-D66D0AFB0C78}" type="parTrans" cxnId="{E39FB184-59D8-467D-81B1-F7D92DD1E975}">
      <dgm:prSet/>
      <dgm:spPr/>
      <dgm:t>
        <a:bodyPr/>
        <a:lstStyle/>
        <a:p>
          <a:endParaRPr lang="zh-TW" altLang="en-US"/>
        </a:p>
      </dgm:t>
    </dgm:pt>
    <dgm:pt modelId="{6127E6CC-B9D6-488D-993D-4823EDDFCC9E}" type="sibTrans" cxnId="{E39FB184-59D8-467D-81B1-F7D92DD1E975}">
      <dgm:prSet/>
      <dgm:spPr/>
      <dgm:t>
        <a:bodyPr/>
        <a:lstStyle/>
        <a:p>
          <a:endParaRPr lang="zh-TW" altLang="en-US"/>
        </a:p>
      </dgm:t>
    </dgm:pt>
    <dgm:pt modelId="{D4D01E74-BA6A-4643-B1C0-D58AB01B93A4}">
      <dgm:prSet phldrT="[文字]" custT="1"/>
      <dgm:spPr/>
      <dgm:t>
        <a:bodyPr/>
        <a:lstStyle/>
        <a:p>
          <a:r>
            <a:rPr lang="zh-TW" altLang="en-US" sz="1200" b="1" dirty="0"/>
            <a:t>點選「產生申購單草稿」，產生</a:t>
          </a:r>
          <a:r>
            <a:rPr lang="en-US" altLang="zh-TW" sz="1200" b="1" dirty="0"/>
            <a:t>TE</a:t>
          </a:r>
          <a:r>
            <a:rPr lang="zh-TW" altLang="en-US" sz="1200" b="1" dirty="0"/>
            <a:t>電信單，內容無誤可送出表單。</a:t>
          </a:r>
        </a:p>
      </dgm:t>
    </dgm:pt>
    <dgm:pt modelId="{13547B4F-5612-49D2-A984-AD0A0B55C4A9}" type="parTrans" cxnId="{E6731F45-ECFC-4317-8178-89883C294885}">
      <dgm:prSet/>
      <dgm:spPr/>
      <dgm:t>
        <a:bodyPr/>
        <a:lstStyle/>
        <a:p>
          <a:endParaRPr lang="zh-TW" altLang="en-US"/>
        </a:p>
      </dgm:t>
    </dgm:pt>
    <dgm:pt modelId="{77916BB3-BAF4-445D-9DDF-C010B805EF41}" type="sibTrans" cxnId="{E6731F45-ECFC-4317-8178-89883C294885}">
      <dgm:prSet/>
      <dgm:spPr/>
      <dgm:t>
        <a:bodyPr/>
        <a:lstStyle/>
        <a:p>
          <a:endParaRPr lang="zh-TW" altLang="en-US"/>
        </a:p>
      </dgm:t>
    </dgm:pt>
    <dgm:pt modelId="{1F6EC4BF-F853-4B97-9916-1C1C649F9017}">
      <dgm:prSet phldrT="[文字]" custT="1"/>
      <dgm:spPr/>
      <dgm:t>
        <a:bodyPr/>
        <a:lstStyle/>
        <a:p>
          <a:endParaRPr lang="en-US" altLang="zh-TW" sz="1800" b="1" dirty="0"/>
        </a:p>
        <a:p>
          <a:r>
            <a:rPr lang="zh-TW" altLang="en-US" sz="1800" b="1" dirty="0"/>
            <a:t>出納</a:t>
          </a:r>
        </a:p>
      </dgm:t>
    </dgm:pt>
    <dgm:pt modelId="{7DD7C646-5791-45E8-924F-A1BAB03C03B5}" type="parTrans" cxnId="{57FF88B0-6702-452B-A0EA-07CB99B8668F}">
      <dgm:prSet/>
      <dgm:spPr/>
      <dgm:t>
        <a:bodyPr/>
        <a:lstStyle/>
        <a:p>
          <a:endParaRPr lang="zh-TW" altLang="en-US"/>
        </a:p>
      </dgm:t>
    </dgm:pt>
    <dgm:pt modelId="{EBE1F08A-52F3-4D9D-A5B3-9B3D8F1DD15B}" type="sibTrans" cxnId="{57FF88B0-6702-452B-A0EA-07CB99B8668F}">
      <dgm:prSet/>
      <dgm:spPr/>
      <dgm:t>
        <a:bodyPr/>
        <a:lstStyle/>
        <a:p>
          <a:endParaRPr lang="zh-TW" altLang="en-US"/>
        </a:p>
      </dgm:t>
    </dgm:pt>
    <dgm:pt modelId="{FE3C73BB-9EAB-4E77-821A-2A436217DB9F}">
      <dgm:prSet phldrT="[文字]" custT="1"/>
      <dgm:spPr/>
      <dgm:t>
        <a:bodyPr/>
        <a:lstStyle/>
        <a:p>
          <a:r>
            <a:rPr lang="zh-TW" altLang="en-US" sz="1200" b="1" dirty="0"/>
            <a:t>管理人將</a:t>
          </a:r>
          <a:r>
            <a:rPr lang="en-US" altLang="zh-TW" sz="1200" b="1" dirty="0"/>
            <a:t>TE</a:t>
          </a:r>
          <a:r>
            <a:rPr lang="zh-TW" altLang="en-US" sz="1200" b="1" dirty="0"/>
            <a:t>電信單編號</a:t>
          </a:r>
          <a:r>
            <a:rPr lang="en-US" altLang="zh-TW" sz="1200" b="1" dirty="0"/>
            <a:t>+</a:t>
          </a:r>
          <a:r>
            <a:rPr lang="zh-TW" altLang="en-US" sz="1200" b="1" dirty="0"/>
            <a:t>專案簡稱</a:t>
          </a:r>
          <a:r>
            <a:rPr lang="en-US" altLang="zh-TW" sz="1200" b="1" dirty="0"/>
            <a:t>+</a:t>
          </a:r>
          <a:r>
            <a:rPr lang="zh-TW" altLang="en-US" sz="1200" b="1" dirty="0"/>
            <a:t>姓名寫在帳單後，繳交給出納繳費。</a:t>
          </a:r>
        </a:p>
      </dgm:t>
    </dgm:pt>
    <dgm:pt modelId="{1AD196AE-04BE-44E9-98EA-D1AAD1A123A9}" type="parTrans" cxnId="{9E1923A4-F9B9-4D5E-A2B0-29E61F7018CD}">
      <dgm:prSet/>
      <dgm:spPr/>
      <dgm:t>
        <a:bodyPr/>
        <a:lstStyle/>
        <a:p>
          <a:endParaRPr lang="zh-TW" altLang="en-US"/>
        </a:p>
      </dgm:t>
    </dgm:pt>
    <dgm:pt modelId="{015A9B0E-427B-450B-8638-4BD94B37F69D}" type="sibTrans" cxnId="{9E1923A4-F9B9-4D5E-A2B0-29E61F7018CD}">
      <dgm:prSet/>
      <dgm:spPr/>
      <dgm:t>
        <a:bodyPr/>
        <a:lstStyle/>
        <a:p>
          <a:endParaRPr lang="zh-TW" altLang="en-US"/>
        </a:p>
      </dgm:t>
    </dgm:pt>
    <dgm:pt modelId="{8C27BA90-D848-4957-9789-B2EA9D9C8127}">
      <dgm:prSet phldrT="[文字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endParaRPr lang="en-US" altLang="zh-TW" sz="1800" b="1" dirty="0"/>
        </a:p>
        <a:p>
          <a:pPr>
            <a:lnSpc>
              <a:spcPct val="100000"/>
            </a:lnSpc>
            <a:spcAft>
              <a:spcPts val="0"/>
            </a:spcAft>
          </a:pPr>
          <a:r>
            <a:rPr lang="zh-TW" altLang="en-US" sz="1800" b="1" dirty="0"/>
            <a:t>憑證檢核員</a:t>
          </a:r>
        </a:p>
      </dgm:t>
    </dgm:pt>
    <dgm:pt modelId="{64B1EDB2-E716-4A48-8F44-B85E20F2A122}" type="parTrans" cxnId="{44A05063-8A32-4281-A3CD-CDBBE2FD3965}">
      <dgm:prSet/>
      <dgm:spPr/>
      <dgm:t>
        <a:bodyPr/>
        <a:lstStyle/>
        <a:p>
          <a:endParaRPr lang="zh-TW" altLang="en-US"/>
        </a:p>
      </dgm:t>
    </dgm:pt>
    <dgm:pt modelId="{F71EED14-356C-4144-9B3A-4ECA61558086}" type="sibTrans" cxnId="{44A05063-8A32-4281-A3CD-CDBBE2FD3965}">
      <dgm:prSet/>
      <dgm:spPr/>
      <dgm:t>
        <a:bodyPr/>
        <a:lstStyle/>
        <a:p>
          <a:endParaRPr lang="zh-TW" altLang="en-US"/>
        </a:p>
      </dgm:t>
    </dgm:pt>
    <dgm:pt modelId="{07182AB3-3135-4348-B7FD-869C850F4B48}">
      <dgm:prSet phldrT="[文字]" custT="1"/>
      <dgm:spPr/>
      <dgm:t>
        <a:bodyPr/>
        <a:lstStyle/>
        <a:p>
          <a:r>
            <a:rPr lang="zh-TW" altLang="en-US" sz="1200" b="1" dirty="0"/>
            <a:t>若為</a:t>
          </a:r>
          <a:r>
            <a:rPr lang="zh-TW" altLang="en-US" sz="1200" b="1" dirty="0">
              <a:highlight>
                <a:srgbClr val="FFFF00"/>
              </a:highlight>
            </a:rPr>
            <a:t>自動扣款</a:t>
          </a:r>
          <a:r>
            <a:rPr lang="zh-TW" altLang="en-US" sz="1200" b="1" dirty="0"/>
            <a:t>可直接放置核銷櫃子。</a:t>
          </a:r>
        </a:p>
      </dgm:t>
    </dgm:pt>
    <dgm:pt modelId="{16D7CCCF-7691-4180-876F-933AE050407D}" type="parTrans" cxnId="{1090F208-98DD-4BFB-A9EA-5900D25E6FA7}">
      <dgm:prSet/>
      <dgm:spPr/>
      <dgm:t>
        <a:bodyPr/>
        <a:lstStyle/>
        <a:p>
          <a:endParaRPr lang="zh-TW" altLang="en-US"/>
        </a:p>
      </dgm:t>
    </dgm:pt>
    <dgm:pt modelId="{8F6212DA-D608-4E5D-A246-0B825CCF6E36}" type="sibTrans" cxnId="{1090F208-98DD-4BFB-A9EA-5900D25E6FA7}">
      <dgm:prSet/>
      <dgm:spPr/>
      <dgm:t>
        <a:bodyPr/>
        <a:lstStyle/>
        <a:p>
          <a:endParaRPr lang="zh-TW" altLang="en-US"/>
        </a:p>
      </dgm:t>
    </dgm:pt>
    <dgm:pt modelId="{2B8EC521-B2E4-4A9E-85EB-71717950B6BB}">
      <dgm:prSet custT="1"/>
      <dgm:spPr/>
      <dgm:t>
        <a:bodyPr/>
        <a:lstStyle/>
        <a:p>
          <a:r>
            <a:rPr lang="zh-TW" altLang="en-US" sz="1200" b="1" dirty="0"/>
            <a:t>上傳出納已繳費的電信單，後續關卡簽核完流程即結束。</a:t>
          </a:r>
        </a:p>
      </dgm:t>
    </dgm:pt>
    <dgm:pt modelId="{AFC1691C-842A-422A-9E68-7AB9C3A29066}" type="parTrans" cxnId="{EC94344B-624C-4C16-B195-3F7384424E68}">
      <dgm:prSet/>
      <dgm:spPr/>
      <dgm:t>
        <a:bodyPr/>
        <a:lstStyle/>
        <a:p>
          <a:endParaRPr lang="zh-TW" altLang="en-US"/>
        </a:p>
      </dgm:t>
    </dgm:pt>
    <dgm:pt modelId="{FC389CB9-2F80-4503-930B-2C4509ADF2B6}" type="sibTrans" cxnId="{EC94344B-624C-4C16-B195-3F7384424E68}">
      <dgm:prSet/>
      <dgm:spPr/>
      <dgm:t>
        <a:bodyPr/>
        <a:lstStyle/>
        <a:p>
          <a:endParaRPr lang="zh-TW" altLang="en-US"/>
        </a:p>
      </dgm:t>
    </dgm:pt>
    <dgm:pt modelId="{1D92E923-963A-41C9-8959-CE7B5F27600E}">
      <dgm:prSet phldrT="[文字]" custT="1"/>
      <dgm:spPr/>
      <dgm:t>
        <a:bodyPr/>
        <a:lstStyle/>
        <a:p>
          <a:r>
            <a:rPr lang="zh-TW" altLang="en-US" sz="1200" b="1" dirty="0"/>
            <a:t>分配帳單。</a:t>
          </a:r>
        </a:p>
      </dgm:t>
    </dgm:pt>
    <dgm:pt modelId="{47EE2275-1B22-445D-8E18-958331FCEE1F}" type="parTrans" cxnId="{F4559C54-D060-4DA4-B63C-7FC2E048651B}">
      <dgm:prSet/>
      <dgm:spPr/>
      <dgm:t>
        <a:bodyPr/>
        <a:lstStyle/>
        <a:p>
          <a:endParaRPr lang="zh-TW" altLang="en-US"/>
        </a:p>
      </dgm:t>
    </dgm:pt>
    <dgm:pt modelId="{CFAB5FA7-77D2-48C0-B099-0A2F5ACEC9F1}" type="sibTrans" cxnId="{F4559C54-D060-4DA4-B63C-7FC2E048651B}">
      <dgm:prSet/>
      <dgm:spPr/>
      <dgm:t>
        <a:bodyPr/>
        <a:lstStyle/>
        <a:p>
          <a:endParaRPr lang="zh-TW" altLang="en-US"/>
        </a:p>
      </dgm:t>
    </dgm:pt>
    <dgm:pt modelId="{5FBC1FE5-ED4A-46EB-B644-2A0CC9794555}" type="pres">
      <dgm:prSet presAssocID="{17C0616B-C30B-4AAA-9BD8-867D38C2AA92}" presName="linearFlow" presStyleCnt="0">
        <dgm:presLayoutVars>
          <dgm:dir/>
          <dgm:animLvl val="lvl"/>
          <dgm:resizeHandles val="exact"/>
        </dgm:presLayoutVars>
      </dgm:prSet>
      <dgm:spPr/>
    </dgm:pt>
    <dgm:pt modelId="{F75A3AA8-A83F-457A-A910-53A3F02D2283}" type="pres">
      <dgm:prSet presAssocID="{37B77265-9352-487F-AAEA-0A57276E2448}" presName="composite" presStyleCnt="0"/>
      <dgm:spPr/>
    </dgm:pt>
    <dgm:pt modelId="{77CB8CD0-BA00-4612-9E77-33D7788EC200}" type="pres">
      <dgm:prSet presAssocID="{37B77265-9352-487F-AAEA-0A57276E2448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9A232824-BEE4-42EE-9942-A96E40E3D792}" type="pres">
      <dgm:prSet presAssocID="{37B77265-9352-487F-AAEA-0A57276E2448}" presName="descendantText" presStyleLbl="alignAcc1" presStyleIdx="0" presStyleCnt="4">
        <dgm:presLayoutVars>
          <dgm:bulletEnabled val="1"/>
        </dgm:presLayoutVars>
      </dgm:prSet>
      <dgm:spPr/>
    </dgm:pt>
    <dgm:pt modelId="{BE5CE9E2-D2D4-4178-A03D-08EFC20F6283}" type="pres">
      <dgm:prSet presAssocID="{DBC62E65-E655-4566-86A1-D5845FF6DED3}" presName="sp" presStyleCnt="0"/>
      <dgm:spPr/>
    </dgm:pt>
    <dgm:pt modelId="{08AE03BC-92D2-436D-B4AC-C58C92FBACAC}" type="pres">
      <dgm:prSet presAssocID="{0CD72A0A-EEA3-4AAC-9714-2620BB61D249}" presName="composite" presStyleCnt="0"/>
      <dgm:spPr/>
    </dgm:pt>
    <dgm:pt modelId="{45209E5B-A848-424E-85A1-BB1F595995CD}" type="pres">
      <dgm:prSet presAssocID="{0CD72A0A-EEA3-4AAC-9714-2620BB61D249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2AC8A04A-D077-4B01-8368-CE431145A36D}" type="pres">
      <dgm:prSet presAssocID="{0CD72A0A-EEA3-4AAC-9714-2620BB61D249}" presName="descendantText" presStyleLbl="alignAcc1" presStyleIdx="1" presStyleCnt="4">
        <dgm:presLayoutVars>
          <dgm:bulletEnabled val="1"/>
        </dgm:presLayoutVars>
      </dgm:prSet>
      <dgm:spPr/>
    </dgm:pt>
    <dgm:pt modelId="{F96B79CD-AEE5-44B6-A965-C8886F304446}" type="pres">
      <dgm:prSet presAssocID="{34DD4C56-9D7B-4C23-81E8-9CC3FB6ACD31}" presName="sp" presStyleCnt="0"/>
      <dgm:spPr/>
    </dgm:pt>
    <dgm:pt modelId="{86C38029-3007-4A17-AB28-0036EEB9BCC8}" type="pres">
      <dgm:prSet presAssocID="{1F6EC4BF-F853-4B97-9916-1C1C649F9017}" presName="composite" presStyleCnt="0"/>
      <dgm:spPr/>
    </dgm:pt>
    <dgm:pt modelId="{C7DAAD22-42DB-443D-AC71-E2ED6AD120A7}" type="pres">
      <dgm:prSet presAssocID="{1F6EC4BF-F853-4B97-9916-1C1C649F9017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3F4BDAA6-ABDF-4C0C-B8D1-A30C5BC5B7B2}" type="pres">
      <dgm:prSet presAssocID="{1F6EC4BF-F853-4B97-9916-1C1C649F9017}" presName="descendantText" presStyleLbl="alignAcc1" presStyleIdx="2" presStyleCnt="4">
        <dgm:presLayoutVars>
          <dgm:bulletEnabled val="1"/>
        </dgm:presLayoutVars>
      </dgm:prSet>
      <dgm:spPr/>
    </dgm:pt>
    <dgm:pt modelId="{48B5C5B4-2202-4DC7-9EF6-C6D4E1C69A01}" type="pres">
      <dgm:prSet presAssocID="{EBE1F08A-52F3-4D9D-A5B3-9B3D8F1DD15B}" presName="sp" presStyleCnt="0"/>
      <dgm:spPr/>
    </dgm:pt>
    <dgm:pt modelId="{E2CBBD4F-F02C-48F9-BF53-AA3100C48898}" type="pres">
      <dgm:prSet presAssocID="{8C27BA90-D848-4957-9789-B2EA9D9C8127}" presName="composite" presStyleCnt="0"/>
      <dgm:spPr/>
    </dgm:pt>
    <dgm:pt modelId="{6B73799B-FCDF-4B1A-8BF4-47FC50896089}" type="pres">
      <dgm:prSet presAssocID="{8C27BA90-D848-4957-9789-B2EA9D9C8127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0E297B81-FC03-4E02-A657-D632931F8402}" type="pres">
      <dgm:prSet presAssocID="{8C27BA90-D848-4957-9789-B2EA9D9C8127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1090F208-98DD-4BFB-A9EA-5900D25E6FA7}" srcId="{1F6EC4BF-F853-4B97-9916-1C1C649F9017}" destId="{07182AB3-3135-4348-B7FD-869C850F4B48}" srcOrd="1" destOrd="0" parTransId="{16D7CCCF-7691-4180-876F-933AE050407D}" sibTransId="{8F6212DA-D608-4E5D-A246-0B825CCF6E36}"/>
    <dgm:cxn modelId="{1486CF12-3517-4296-95DF-88300FD8AB97}" type="presOf" srcId="{1F6EC4BF-F853-4B97-9916-1C1C649F9017}" destId="{C7DAAD22-42DB-443D-AC71-E2ED6AD120A7}" srcOrd="0" destOrd="0" presId="urn:microsoft.com/office/officeart/2005/8/layout/chevron2"/>
    <dgm:cxn modelId="{5594D820-498D-4A18-90D5-834B01D16FCE}" srcId="{17C0616B-C30B-4AAA-9BD8-867D38C2AA92}" destId="{0CD72A0A-EEA3-4AAC-9714-2620BB61D249}" srcOrd="1" destOrd="0" parTransId="{38271A2D-32C4-40AD-9C9C-2849D4974702}" sibTransId="{34DD4C56-9D7B-4C23-81E8-9CC3FB6ACD31}"/>
    <dgm:cxn modelId="{EEA74431-6DC2-4A1C-8732-285E948E02F7}" type="presOf" srcId="{17C0616B-C30B-4AAA-9BD8-867D38C2AA92}" destId="{5FBC1FE5-ED4A-46EB-B644-2A0CC9794555}" srcOrd="0" destOrd="0" presId="urn:microsoft.com/office/officeart/2005/8/layout/chevron2"/>
    <dgm:cxn modelId="{F2791C61-D05C-4FB7-9E6E-4A15D5821AD6}" srcId="{17C0616B-C30B-4AAA-9BD8-867D38C2AA92}" destId="{37B77265-9352-487F-AAEA-0A57276E2448}" srcOrd="0" destOrd="0" parTransId="{E1E8CD92-6B5F-4BF3-A0EE-C126A2B86696}" sibTransId="{DBC62E65-E655-4566-86A1-D5845FF6DED3}"/>
    <dgm:cxn modelId="{44A05063-8A32-4281-A3CD-CDBBE2FD3965}" srcId="{17C0616B-C30B-4AAA-9BD8-867D38C2AA92}" destId="{8C27BA90-D848-4957-9789-B2EA9D9C8127}" srcOrd="3" destOrd="0" parTransId="{64B1EDB2-E716-4A48-8F44-B85E20F2A122}" sibTransId="{F71EED14-356C-4144-9B3A-4ECA61558086}"/>
    <dgm:cxn modelId="{E6731F45-ECFC-4317-8178-89883C294885}" srcId="{0CD72A0A-EEA3-4AAC-9714-2620BB61D249}" destId="{D4D01E74-BA6A-4643-B1C0-D58AB01B93A4}" srcOrd="1" destOrd="0" parTransId="{13547B4F-5612-49D2-A984-AD0A0B55C4A9}" sibTransId="{77916BB3-BAF4-445D-9DDF-C010B805EF41}"/>
    <dgm:cxn modelId="{EC94344B-624C-4C16-B195-3F7384424E68}" srcId="{8C27BA90-D848-4957-9789-B2EA9D9C8127}" destId="{2B8EC521-B2E4-4A9E-85EB-71717950B6BB}" srcOrd="0" destOrd="0" parTransId="{AFC1691C-842A-422A-9E68-7AB9C3A29066}" sibTransId="{FC389CB9-2F80-4503-930B-2C4509ADF2B6}"/>
    <dgm:cxn modelId="{03E7F84D-8386-4960-AF6A-40A6D1D0CED5}" type="presOf" srcId="{07182AB3-3135-4348-B7FD-869C850F4B48}" destId="{3F4BDAA6-ABDF-4C0C-B8D1-A30C5BC5B7B2}" srcOrd="0" destOrd="1" presId="urn:microsoft.com/office/officeart/2005/8/layout/chevron2"/>
    <dgm:cxn modelId="{D67A3970-4C2F-44BF-9FD8-725BBA79664E}" type="presOf" srcId="{BE3CDA0A-A3D2-4394-BF7B-2E2431A63E47}" destId="{2AC8A04A-D077-4B01-8368-CE431145A36D}" srcOrd="0" destOrd="0" presId="urn:microsoft.com/office/officeart/2005/8/layout/chevron2"/>
    <dgm:cxn modelId="{F4559C54-D060-4DA4-B63C-7FC2E048651B}" srcId="{37B77265-9352-487F-AAEA-0A57276E2448}" destId="{1D92E923-963A-41C9-8959-CE7B5F27600E}" srcOrd="0" destOrd="0" parTransId="{47EE2275-1B22-445D-8E18-958331FCEE1F}" sibTransId="{CFAB5FA7-77D2-48C0-B099-0A2F5ACEC9F1}"/>
    <dgm:cxn modelId="{AF2B037E-6311-4622-9C7A-4C77A87CC0BC}" type="presOf" srcId="{1D92E923-963A-41C9-8959-CE7B5F27600E}" destId="{9A232824-BEE4-42EE-9942-A96E40E3D792}" srcOrd="0" destOrd="0" presId="urn:microsoft.com/office/officeart/2005/8/layout/chevron2"/>
    <dgm:cxn modelId="{E39FB184-59D8-467D-81B1-F7D92DD1E975}" srcId="{0CD72A0A-EEA3-4AAC-9714-2620BB61D249}" destId="{BE3CDA0A-A3D2-4394-BF7B-2E2431A63E47}" srcOrd="0" destOrd="0" parTransId="{1F85833F-B0C6-4F5F-964D-D66D0AFB0C78}" sibTransId="{6127E6CC-B9D6-488D-993D-4823EDDFCC9E}"/>
    <dgm:cxn modelId="{F650C194-A8FE-45D3-8C41-DD948DF30AC0}" type="presOf" srcId="{FE3C73BB-9EAB-4E77-821A-2A436217DB9F}" destId="{3F4BDAA6-ABDF-4C0C-B8D1-A30C5BC5B7B2}" srcOrd="0" destOrd="0" presId="urn:microsoft.com/office/officeart/2005/8/layout/chevron2"/>
    <dgm:cxn modelId="{D071439E-8AEF-46CE-BD93-C23B2B5C22F0}" type="presOf" srcId="{0CD72A0A-EEA3-4AAC-9714-2620BB61D249}" destId="{45209E5B-A848-424E-85A1-BB1F595995CD}" srcOrd="0" destOrd="0" presId="urn:microsoft.com/office/officeart/2005/8/layout/chevron2"/>
    <dgm:cxn modelId="{9E1923A4-F9B9-4D5E-A2B0-29E61F7018CD}" srcId="{1F6EC4BF-F853-4B97-9916-1C1C649F9017}" destId="{FE3C73BB-9EAB-4E77-821A-2A436217DB9F}" srcOrd="0" destOrd="0" parTransId="{1AD196AE-04BE-44E9-98EA-D1AAD1A123A9}" sibTransId="{015A9B0E-427B-450B-8638-4BD94B37F69D}"/>
    <dgm:cxn modelId="{57FF88B0-6702-452B-A0EA-07CB99B8668F}" srcId="{17C0616B-C30B-4AAA-9BD8-867D38C2AA92}" destId="{1F6EC4BF-F853-4B97-9916-1C1C649F9017}" srcOrd="2" destOrd="0" parTransId="{7DD7C646-5791-45E8-924F-A1BAB03C03B5}" sibTransId="{EBE1F08A-52F3-4D9D-A5B3-9B3D8F1DD15B}"/>
    <dgm:cxn modelId="{28F91DE6-03B5-4758-85F6-F01B61B42334}" type="presOf" srcId="{D4D01E74-BA6A-4643-B1C0-D58AB01B93A4}" destId="{2AC8A04A-D077-4B01-8368-CE431145A36D}" srcOrd="0" destOrd="1" presId="urn:microsoft.com/office/officeart/2005/8/layout/chevron2"/>
    <dgm:cxn modelId="{BB96FFE8-49D4-43B1-A3CC-52782377F3D6}" type="presOf" srcId="{2B8EC521-B2E4-4A9E-85EB-71717950B6BB}" destId="{0E297B81-FC03-4E02-A657-D632931F8402}" srcOrd="0" destOrd="0" presId="urn:microsoft.com/office/officeart/2005/8/layout/chevron2"/>
    <dgm:cxn modelId="{4D8758F0-BEFC-4362-BF2A-8A31545B835C}" type="presOf" srcId="{8C27BA90-D848-4957-9789-B2EA9D9C8127}" destId="{6B73799B-FCDF-4B1A-8BF4-47FC50896089}" srcOrd="0" destOrd="0" presId="urn:microsoft.com/office/officeart/2005/8/layout/chevron2"/>
    <dgm:cxn modelId="{2D142EF4-6C0F-4023-9EE9-72D5C7FAF62E}" type="presOf" srcId="{37B77265-9352-487F-AAEA-0A57276E2448}" destId="{77CB8CD0-BA00-4612-9E77-33D7788EC200}" srcOrd="0" destOrd="0" presId="urn:microsoft.com/office/officeart/2005/8/layout/chevron2"/>
    <dgm:cxn modelId="{D89979C3-4E9C-40E9-9C5B-8ACB3EBC0854}" type="presParOf" srcId="{5FBC1FE5-ED4A-46EB-B644-2A0CC9794555}" destId="{F75A3AA8-A83F-457A-A910-53A3F02D2283}" srcOrd="0" destOrd="0" presId="urn:microsoft.com/office/officeart/2005/8/layout/chevron2"/>
    <dgm:cxn modelId="{29F20FEA-9D3A-4FC6-8F95-CA86028B7251}" type="presParOf" srcId="{F75A3AA8-A83F-457A-A910-53A3F02D2283}" destId="{77CB8CD0-BA00-4612-9E77-33D7788EC200}" srcOrd="0" destOrd="0" presId="urn:microsoft.com/office/officeart/2005/8/layout/chevron2"/>
    <dgm:cxn modelId="{CDA1102C-032C-4647-A31F-B1E5D8B0D02F}" type="presParOf" srcId="{F75A3AA8-A83F-457A-A910-53A3F02D2283}" destId="{9A232824-BEE4-42EE-9942-A96E40E3D792}" srcOrd="1" destOrd="0" presId="urn:microsoft.com/office/officeart/2005/8/layout/chevron2"/>
    <dgm:cxn modelId="{DFF76720-8FFE-4393-A018-1F530B1473A1}" type="presParOf" srcId="{5FBC1FE5-ED4A-46EB-B644-2A0CC9794555}" destId="{BE5CE9E2-D2D4-4178-A03D-08EFC20F6283}" srcOrd="1" destOrd="0" presId="urn:microsoft.com/office/officeart/2005/8/layout/chevron2"/>
    <dgm:cxn modelId="{DD7AD98A-D6CF-4A92-BA79-7A5AA138CB3D}" type="presParOf" srcId="{5FBC1FE5-ED4A-46EB-B644-2A0CC9794555}" destId="{08AE03BC-92D2-436D-B4AC-C58C92FBACAC}" srcOrd="2" destOrd="0" presId="urn:microsoft.com/office/officeart/2005/8/layout/chevron2"/>
    <dgm:cxn modelId="{E07E5AF1-DAD6-45DE-B92F-36C58E3C00BC}" type="presParOf" srcId="{08AE03BC-92D2-436D-B4AC-C58C92FBACAC}" destId="{45209E5B-A848-424E-85A1-BB1F595995CD}" srcOrd="0" destOrd="0" presId="urn:microsoft.com/office/officeart/2005/8/layout/chevron2"/>
    <dgm:cxn modelId="{90FEE81A-EDBF-4BC1-8EA0-E1A07EB595CE}" type="presParOf" srcId="{08AE03BC-92D2-436D-B4AC-C58C92FBACAC}" destId="{2AC8A04A-D077-4B01-8368-CE431145A36D}" srcOrd="1" destOrd="0" presId="urn:microsoft.com/office/officeart/2005/8/layout/chevron2"/>
    <dgm:cxn modelId="{C8EA5C83-B3D1-422E-9712-EEFF139F240C}" type="presParOf" srcId="{5FBC1FE5-ED4A-46EB-B644-2A0CC9794555}" destId="{F96B79CD-AEE5-44B6-A965-C8886F304446}" srcOrd="3" destOrd="0" presId="urn:microsoft.com/office/officeart/2005/8/layout/chevron2"/>
    <dgm:cxn modelId="{F0E2809D-3373-4A96-B1DF-F4985B830FBB}" type="presParOf" srcId="{5FBC1FE5-ED4A-46EB-B644-2A0CC9794555}" destId="{86C38029-3007-4A17-AB28-0036EEB9BCC8}" srcOrd="4" destOrd="0" presId="urn:microsoft.com/office/officeart/2005/8/layout/chevron2"/>
    <dgm:cxn modelId="{E9C76C37-B544-4FAD-80F7-626CF3F19304}" type="presParOf" srcId="{86C38029-3007-4A17-AB28-0036EEB9BCC8}" destId="{C7DAAD22-42DB-443D-AC71-E2ED6AD120A7}" srcOrd="0" destOrd="0" presId="urn:microsoft.com/office/officeart/2005/8/layout/chevron2"/>
    <dgm:cxn modelId="{06854D09-38F6-41C3-9D6A-BB9866ABA748}" type="presParOf" srcId="{86C38029-3007-4A17-AB28-0036EEB9BCC8}" destId="{3F4BDAA6-ABDF-4C0C-B8D1-A30C5BC5B7B2}" srcOrd="1" destOrd="0" presId="urn:microsoft.com/office/officeart/2005/8/layout/chevron2"/>
    <dgm:cxn modelId="{947B67E0-0EB4-4B59-B7F3-E8BD4EA27315}" type="presParOf" srcId="{5FBC1FE5-ED4A-46EB-B644-2A0CC9794555}" destId="{48B5C5B4-2202-4DC7-9EF6-C6D4E1C69A01}" srcOrd="5" destOrd="0" presId="urn:microsoft.com/office/officeart/2005/8/layout/chevron2"/>
    <dgm:cxn modelId="{53EBD224-8B5C-4090-A30B-D8734340F7A8}" type="presParOf" srcId="{5FBC1FE5-ED4A-46EB-B644-2A0CC9794555}" destId="{E2CBBD4F-F02C-48F9-BF53-AA3100C48898}" srcOrd="6" destOrd="0" presId="urn:microsoft.com/office/officeart/2005/8/layout/chevron2"/>
    <dgm:cxn modelId="{2916B5ED-C0C2-4BB6-91C5-648812412E37}" type="presParOf" srcId="{E2CBBD4F-F02C-48F9-BF53-AA3100C48898}" destId="{6B73799B-FCDF-4B1A-8BF4-47FC50896089}" srcOrd="0" destOrd="0" presId="urn:microsoft.com/office/officeart/2005/8/layout/chevron2"/>
    <dgm:cxn modelId="{BED8DEFB-E7C9-4C8C-BA18-CB4C1F908E49}" type="presParOf" srcId="{E2CBBD4F-F02C-48F9-BF53-AA3100C48898}" destId="{0E297B81-FC03-4E02-A657-D632931F840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5374771-D633-4B45-9E52-5119106FBD2E}" type="doc">
      <dgm:prSet loTypeId="urn:microsoft.com/office/officeart/2005/8/layout/chevron1" loCatId="process" qsTypeId="urn:microsoft.com/office/officeart/2005/8/quickstyle/simple1" qsCatId="simple" csTypeId="urn:microsoft.com/office/officeart/2005/8/colors/accent0_3" csCatId="mainScheme" phldr="1"/>
      <dgm:spPr/>
    </dgm:pt>
    <dgm:pt modelId="{B8FBA41B-1A32-40E0-999A-51A957212216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申請人送出郵寄申請單</a:t>
          </a:r>
          <a:endParaRPr lang="zh-TW" altLang="en-US" dirty="0"/>
        </a:p>
      </dgm:t>
    </dgm:pt>
    <dgm:pt modelId="{B6F5A675-0303-4E5A-87D9-897399BC6AC3}" type="parTrans" cxnId="{28AA25BD-3426-4993-BD8C-B619A5523C1C}">
      <dgm:prSet/>
      <dgm:spPr/>
      <dgm:t>
        <a:bodyPr/>
        <a:lstStyle/>
        <a:p>
          <a:endParaRPr lang="zh-TW" altLang="en-US"/>
        </a:p>
      </dgm:t>
    </dgm:pt>
    <dgm:pt modelId="{6F594103-E6F9-4AEA-9790-3241F3EEF481}" type="sibTrans" cxnId="{28AA25BD-3426-4993-BD8C-B619A5523C1C}">
      <dgm:prSet/>
      <dgm:spPr/>
      <dgm:t>
        <a:bodyPr/>
        <a:lstStyle/>
        <a:p>
          <a:endParaRPr lang="zh-TW" altLang="en-US"/>
        </a:p>
      </dgm:t>
    </dgm:pt>
    <dgm:pt modelId="{AC3795AE-D70F-4F0F-92A0-5BEA4795D3CC}">
      <dgm:prSet phldrT="[文字]"/>
      <dgm:spPr/>
      <dgm:t>
        <a:bodyPr/>
        <a:lstStyle/>
        <a:p>
          <a:r>
            <a: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rPr>
            <a:t>轉交寄送文件給櫃檯</a:t>
          </a:r>
          <a:endParaRPr lang="zh-TW" altLang="en-US" dirty="0"/>
        </a:p>
      </dgm:t>
    </dgm:pt>
    <dgm:pt modelId="{7D857BCE-AF11-4955-9AF4-DC8B3BA7BF67}" type="parTrans" cxnId="{2CB3B072-BF9D-475B-B083-4121566B4BAB}">
      <dgm:prSet/>
      <dgm:spPr/>
      <dgm:t>
        <a:bodyPr/>
        <a:lstStyle/>
        <a:p>
          <a:endParaRPr lang="zh-TW" altLang="en-US"/>
        </a:p>
      </dgm:t>
    </dgm:pt>
    <dgm:pt modelId="{68D3DB05-4CBD-40F0-97B4-12B6089B21C3}" type="sibTrans" cxnId="{2CB3B072-BF9D-475B-B083-4121566B4BAB}">
      <dgm:prSet/>
      <dgm:spPr/>
      <dgm:t>
        <a:bodyPr/>
        <a:lstStyle/>
        <a:p>
          <a:endParaRPr lang="zh-TW" altLang="en-US"/>
        </a:p>
      </dgm:t>
    </dgm:pt>
    <dgm:pt modelId="{A5A8D76C-EB65-446B-9C96-7BDDF852396E}">
      <dgm:prSet phldrT="[文字]"/>
      <dgm:spPr/>
      <dgm:t>
        <a:bodyPr/>
        <a:lstStyle/>
        <a:p>
          <a:r>
            <a: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rPr>
            <a:t>櫃台外出郵寄確認金額填入郵寄單金額</a:t>
          </a:r>
          <a:endParaRPr lang="zh-TW" altLang="en-US" dirty="0"/>
        </a:p>
      </dgm:t>
    </dgm:pt>
    <dgm:pt modelId="{69D71F38-D4EF-43C4-9614-5CCFFA2F507A}" type="parTrans" cxnId="{CBFE5F71-0A3E-42E7-98C1-23E38F191847}">
      <dgm:prSet/>
      <dgm:spPr/>
      <dgm:t>
        <a:bodyPr/>
        <a:lstStyle/>
        <a:p>
          <a:endParaRPr lang="zh-TW" altLang="en-US"/>
        </a:p>
      </dgm:t>
    </dgm:pt>
    <dgm:pt modelId="{296A65C4-A788-4A9B-936D-6FE1BF51A5BD}" type="sibTrans" cxnId="{CBFE5F71-0A3E-42E7-98C1-23E38F191847}">
      <dgm:prSet/>
      <dgm:spPr/>
      <dgm:t>
        <a:bodyPr/>
        <a:lstStyle/>
        <a:p>
          <a:endParaRPr lang="zh-TW" altLang="en-US"/>
        </a:p>
      </dgm:t>
    </dgm:pt>
    <dgm:pt modelId="{5F8F5F4C-FCE2-47D4-8207-6E250ADF30FC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表單結束</a:t>
          </a:r>
          <a:endParaRPr lang="zh-TW" altLang="en-US" dirty="0"/>
        </a:p>
      </dgm:t>
    </dgm:pt>
    <dgm:pt modelId="{78701437-D403-45D4-BC88-71192F3E4A51}" type="parTrans" cxnId="{03FBC077-4022-486A-9522-E4C83F2EDEC2}">
      <dgm:prSet/>
      <dgm:spPr/>
      <dgm:t>
        <a:bodyPr/>
        <a:lstStyle/>
        <a:p>
          <a:endParaRPr lang="zh-TW" altLang="en-US"/>
        </a:p>
      </dgm:t>
    </dgm:pt>
    <dgm:pt modelId="{7E09CDB2-99C5-401F-AC2E-07E49F8B1696}" type="sibTrans" cxnId="{03FBC077-4022-486A-9522-E4C83F2EDEC2}">
      <dgm:prSet/>
      <dgm:spPr/>
      <dgm:t>
        <a:bodyPr/>
        <a:lstStyle/>
        <a:p>
          <a:endParaRPr lang="zh-TW" altLang="en-US"/>
        </a:p>
      </dgm:t>
    </dgm:pt>
    <dgm:pt modelId="{C67F9272-8660-49B4-A965-E5BFCD71632D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櫃台轉交購票交易明細給申請人</a:t>
          </a:r>
          <a:endParaRPr lang="zh-TW" altLang="en-US" dirty="0"/>
        </a:p>
      </dgm:t>
    </dgm:pt>
    <dgm:pt modelId="{FD44A3BA-C50C-477F-BF78-C32CA6D94F07}" type="parTrans" cxnId="{80FC347B-44C4-4873-A0E9-953AD64EB81F}">
      <dgm:prSet/>
      <dgm:spPr/>
      <dgm:t>
        <a:bodyPr/>
        <a:lstStyle/>
        <a:p>
          <a:endParaRPr lang="zh-TW" altLang="en-US"/>
        </a:p>
      </dgm:t>
    </dgm:pt>
    <dgm:pt modelId="{9A9E1041-082D-4CBF-B92B-1FE2E0521C8E}" type="sibTrans" cxnId="{80FC347B-44C4-4873-A0E9-953AD64EB81F}">
      <dgm:prSet/>
      <dgm:spPr/>
      <dgm:t>
        <a:bodyPr/>
        <a:lstStyle/>
        <a:p>
          <a:endParaRPr lang="zh-TW" altLang="en-US"/>
        </a:p>
      </dgm:t>
    </dgm:pt>
    <dgm:pt modelId="{BF75CF5E-1440-4632-B372-F2FD21219924}">
      <dgm:prSet phldrT="[文字]"/>
      <dgm:spPr/>
      <dgm:t>
        <a:bodyPr/>
        <a:lstStyle/>
        <a:p>
          <a:r>
            <a:rPr lang="zh-TW" altLang="en-US" b="1" dirty="0"/>
            <a:t>完成！</a:t>
          </a:r>
        </a:p>
      </dgm:t>
    </dgm:pt>
    <dgm:pt modelId="{CA1200A8-639D-4A7C-B4C7-C0435F2C1155}" type="parTrans" cxnId="{6E777B67-17BB-4823-AF55-34114627F4E9}">
      <dgm:prSet/>
      <dgm:spPr/>
      <dgm:t>
        <a:bodyPr/>
        <a:lstStyle/>
        <a:p>
          <a:endParaRPr lang="zh-TW" altLang="en-US"/>
        </a:p>
      </dgm:t>
    </dgm:pt>
    <dgm:pt modelId="{A9712845-FEFF-4D6A-AF96-B7139606FC33}" type="sibTrans" cxnId="{6E777B67-17BB-4823-AF55-34114627F4E9}">
      <dgm:prSet/>
      <dgm:spPr/>
      <dgm:t>
        <a:bodyPr/>
        <a:lstStyle/>
        <a:p>
          <a:endParaRPr lang="zh-TW" altLang="en-US"/>
        </a:p>
      </dgm:t>
    </dgm:pt>
    <dgm:pt modelId="{5C50113E-6D67-4260-8671-A055F574350F}" type="pres">
      <dgm:prSet presAssocID="{35374771-D633-4B45-9E52-5119106FBD2E}" presName="Name0" presStyleCnt="0">
        <dgm:presLayoutVars>
          <dgm:dir/>
          <dgm:animLvl val="lvl"/>
          <dgm:resizeHandles val="exact"/>
        </dgm:presLayoutVars>
      </dgm:prSet>
      <dgm:spPr/>
    </dgm:pt>
    <dgm:pt modelId="{C79A2ED5-B9D0-434F-87A7-74326C6374AE}" type="pres">
      <dgm:prSet presAssocID="{B8FBA41B-1A32-40E0-999A-51A957212216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68B2175E-75DB-44E4-B529-776848384D04}" type="pres">
      <dgm:prSet presAssocID="{6F594103-E6F9-4AEA-9790-3241F3EEF481}" presName="parTxOnlySpace" presStyleCnt="0"/>
      <dgm:spPr/>
    </dgm:pt>
    <dgm:pt modelId="{B27180F8-C756-4D0F-9CF0-849D7E0418E2}" type="pres">
      <dgm:prSet presAssocID="{AC3795AE-D70F-4F0F-92A0-5BEA4795D3CC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272458F2-4A96-4BFC-B72B-6D4CDE6E8083}" type="pres">
      <dgm:prSet presAssocID="{68D3DB05-4CBD-40F0-97B4-12B6089B21C3}" presName="parTxOnlySpace" presStyleCnt="0"/>
      <dgm:spPr/>
    </dgm:pt>
    <dgm:pt modelId="{F649E369-1F9D-4A7C-8D3E-342736394C3D}" type="pres">
      <dgm:prSet presAssocID="{A5A8D76C-EB65-446B-9C96-7BDDF852396E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123ECB5F-562C-445E-B202-73AA09F5351A}" type="pres">
      <dgm:prSet presAssocID="{296A65C4-A788-4A9B-936D-6FE1BF51A5BD}" presName="parTxOnlySpace" presStyleCnt="0"/>
      <dgm:spPr/>
    </dgm:pt>
    <dgm:pt modelId="{49510A99-AB5B-47D5-8116-6F129D793B80}" type="pres">
      <dgm:prSet presAssocID="{5F8F5F4C-FCE2-47D4-8207-6E250ADF30FC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CEF69C61-F44E-4368-8AB2-1BB3418E5C13}" type="pres">
      <dgm:prSet presAssocID="{7E09CDB2-99C5-401F-AC2E-07E49F8B1696}" presName="parTxOnlySpace" presStyleCnt="0"/>
      <dgm:spPr/>
    </dgm:pt>
    <dgm:pt modelId="{1E31D04A-29D1-4914-901A-779C24018CBC}" type="pres">
      <dgm:prSet presAssocID="{C67F9272-8660-49B4-A965-E5BFCD71632D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48D7F133-5E28-4C26-8A21-14D178972496}" type="pres">
      <dgm:prSet presAssocID="{9A9E1041-082D-4CBF-B92B-1FE2E0521C8E}" presName="parTxOnlySpace" presStyleCnt="0"/>
      <dgm:spPr/>
    </dgm:pt>
    <dgm:pt modelId="{221EE906-8795-41B8-B131-BDFA7062A148}" type="pres">
      <dgm:prSet presAssocID="{BF75CF5E-1440-4632-B372-F2FD21219924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4460CF04-FA71-4ED2-A66D-7A2A54AA321E}" type="presOf" srcId="{5F8F5F4C-FCE2-47D4-8207-6E250ADF30FC}" destId="{49510A99-AB5B-47D5-8116-6F129D793B80}" srcOrd="0" destOrd="0" presId="urn:microsoft.com/office/officeart/2005/8/layout/chevron1"/>
    <dgm:cxn modelId="{18CBB107-7891-4F44-9F81-73F2CC6C288A}" type="presOf" srcId="{AC3795AE-D70F-4F0F-92A0-5BEA4795D3CC}" destId="{B27180F8-C756-4D0F-9CF0-849D7E0418E2}" srcOrd="0" destOrd="0" presId="urn:microsoft.com/office/officeart/2005/8/layout/chevron1"/>
    <dgm:cxn modelId="{99A4710B-7156-42FD-98BE-B929AC66BA99}" type="presOf" srcId="{BF75CF5E-1440-4632-B372-F2FD21219924}" destId="{221EE906-8795-41B8-B131-BDFA7062A148}" srcOrd="0" destOrd="0" presId="urn:microsoft.com/office/officeart/2005/8/layout/chevron1"/>
    <dgm:cxn modelId="{02FF6A12-8945-4217-A98A-204B67A71CB8}" type="presOf" srcId="{C67F9272-8660-49B4-A965-E5BFCD71632D}" destId="{1E31D04A-29D1-4914-901A-779C24018CBC}" srcOrd="0" destOrd="0" presId="urn:microsoft.com/office/officeart/2005/8/layout/chevron1"/>
    <dgm:cxn modelId="{F882F82A-4EDA-4D02-A8A8-E8D2F60ABB26}" type="presOf" srcId="{B8FBA41B-1A32-40E0-999A-51A957212216}" destId="{C79A2ED5-B9D0-434F-87A7-74326C6374AE}" srcOrd="0" destOrd="0" presId="urn:microsoft.com/office/officeart/2005/8/layout/chevron1"/>
    <dgm:cxn modelId="{6E777B67-17BB-4823-AF55-34114627F4E9}" srcId="{35374771-D633-4B45-9E52-5119106FBD2E}" destId="{BF75CF5E-1440-4632-B372-F2FD21219924}" srcOrd="5" destOrd="0" parTransId="{CA1200A8-639D-4A7C-B4C7-C0435F2C1155}" sibTransId="{A9712845-FEFF-4D6A-AF96-B7139606FC33}"/>
    <dgm:cxn modelId="{CBFE5F71-0A3E-42E7-98C1-23E38F191847}" srcId="{35374771-D633-4B45-9E52-5119106FBD2E}" destId="{A5A8D76C-EB65-446B-9C96-7BDDF852396E}" srcOrd="2" destOrd="0" parTransId="{69D71F38-D4EF-43C4-9614-5CCFFA2F507A}" sibTransId="{296A65C4-A788-4A9B-936D-6FE1BF51A5BD}"/>
    <dgm:cxn modelId="{2CB3B072-BF9D-475B-B083-4121566B4BAB}" srcId="{35374771-D633-4B45-9E52-5119106FBD2E}" destId="{AC3795AE-D70F-4F0F-92A0-5BEA4795D3CC}" srcOrd="1" destOrd="0" parTransId="{7D857BCE-AF11-4955-9AF4-DC8B3BA7BF67}" sibTransId="{68D3DB05-4CBD-40F0-97B4-12B6089B21C3}"/>
    <dgm:cxn modelId="{03FBC077-4022-486A-9522-E4C83F2EDEC2}" srcId="{35374771-D633-4B45-9E52-5119106FBD2E}" destId="{5F8F5F4C-FCE2-47D4-8207-6E250ADF30FC}" srcOrd="3" destOrd="0" parTransId="{78701437-D403-45D4-BC88-71192F3E4A51}" sibTransId="{7E09CDB2-99C5-401F-AC2E-07E49F8B1696}"/>
    <dgm:cxn modelId="{02BEC978-10AB-4B11-89CF-7FC1D4FA5126}" type="presOf" srcId="{35374771-D633-4B45-9E52-5119106FBD2E}" destId="{5C50113E-6D67-4260-8671-A055F574350F}" srcOrd="0" destOrd="0" presId="urn:microsoft.com/office/officeart/2005/8/layout/chevron1"/>
    <dgm:cxn modelId="{80FC347B-44C4-4873-A0E9-953AD64EB81F}" srcId="{35374771-D633-4B45-9E52-5119106FBD2E}" destId="{C67F9272-8660-49B4-A965-E5BFCD71632D}" srcOrd="4" destOrd="0" parTransId="{FD44A3BA-C50C-477F-BF78-C32CA6D94F07}" sibTransId="{9A9E1041-082D-4CBF-B92B-1FE2E0521C8E}"/>
    <dgm:cxn modelId="{28AA25BD-3426-4993-BD8C-B619A5523C1C}" srcId="{35374771-D633-4B45-9E52-5119106FBD2E}" destId="{B8FBA41B-1A32-40E0-999A-51A957212216}" srcOrd="0" destOrd="0" parTransId="{B6F5A675-0303-4E5A-87D9-897399BC6AC3}" sibTransId="{6F594103-E6F9-4AEA-9790-3241F3EEF481}"/>
    <dgm:cxn modelId="{0BA0DEC3-E654-4738-B957-E09CF7078705}" type="presOf" srcId="{A5A8D76C-EB65-446B-9C96-7BDDF852396E}" destId="{F649E369-1F9D-4A7C-8D3E-342736394C3D}" srcOrd="0" destOrd="0" presId="urn:microsoft.com/office/officeart/2005/8/layout/chevron1"/>
    <dgm:cxn modelId="{D6E89C12-0252-46AA-B6BA-78F90833087B}" type="presParOf" srcId="{5C50113E-6D67-4260-8671-A055F574350F}" destId="{C79A2ED5-B9D0-434F-87A7-74326C6374AE}" srcOrd="0" destOrd="0" presId="urn:microsoft.com/office/officeart/2005/8/layout/chevron1"/>
    <dgm:cxn modelId="{9C1F2254-CD28-40E8-BD14-E6A1352C8F34}" type="presParOf" srcId="{5C50113E-6D67-4260-8671-A055F574350F}" destId="{68B2175E-75DB-44E4-B529-776848384D04}" srcOrd="1" destOrd="0" presId="urn:microsoft.com/office/officeart/2005/8/layout/chevron1"/>
    <dgm:cxn modelId="{9EF26E67-20DC-439E-9B03-538A3EDC6EC9}" type="presParOf" srcId="{5C50113E-6D67-4260-8671-A055F574350F}" destId="{B27180F8-C756-4D0F-9CF0-849D7E0418E2}" srcOrd="2" destOrd="0" presId="urn:microsoft.com/office/officeart/2005/8/layout/chevron1"/>
    <dgm:cxn modelId="{E2F8BBA6-4157-4BC7-B510-4C0E5AD409FC}" type="presParOf" srcId="{5C50113E-6D67-4260-8671-A055F574350F}" destId="{272458F2-4A96-4BFC-B72B-6D4CDE6E8083}" srcOrd="3" destOrd="0" presId="urn:microsoft.com/office/officeart/2005/8/layout/chevron1"/>
    <dgm:cxn modelId="{64EB790A-14D7-4C33-B975-5D89638345D5}" type="presParOf" srcId="{5C50113E-6D67-4260-8671-A055F574350F}" destId="{F649E369-1F9D-4A7C-8D3E-342736394C3D}" srcOrd="4" destOrd="0" presId="urn:microsoft.com/office/officeart/2005/8/layout/chevron1"/>
    <dgm:cxn modelId="{933B7B3A-7A62-4EB9-AB74-6B39B87C5209}" type="presParOf" srcId="{5C50113E-6D67-4260-8671-A055F574350F}" destId="{123ECB5F-562C-445E-B202-73AA09F5351A}" srcOrd="5" destOrd="0" presId="urn:microsoft.com/office/officeart/2005/8/layout/chevron1"/>
    <dgm:cxn modelId="{8310A00C-2181-4E3C-B294-C8483461C0E2}" type="presParOf" srcId="{5C50113E-6D67-4260-8671-A055F574350F}" destId="{49510A99-AB5B-47D5-8116-6F129D793B80}" srcOrd="6" destOrd="0" presId="urn:microsoft.com/office/officeart/2005/8/layout/chevron1"/>
    <dgm:cxn modelId="{9245F84D-3B9C-41EB-B2DD-8D6F9011E9B0}" type="presParOf" srcId="{5C50113E-6D67-4260-8671-A055F574350F}" destId="{CEF69C61-F44E-4368-8AB2-1BB3418E5C13}" srcOrd="7" destOrd="0" presId="urn:microsoft.com/office/officeart/2005/8/layout/chevron1"/>
    <dgm:cxn modelId="{421A54E5-9187-4C99-842E-6D39A990C148}" type="presParOf" srcId="{5C50113E-6D67-4260-8671-A055F574350F}" destId="{1E31D04A-29D1-4914-901A-779C24018CBC}" srcOrd="8" destOrd="0" presId="urn:microsoft.com/office/officeart/2005/8/layout/chevron1"/>
    <dgm:cxn modelId="{64FCB8D2-817C-4651-B39F-03B582B1B288}" type="presParOf" srcId="{5C50113E-6D67-4260-8671-A055F574350F}" destId="{48D7F133-5E28-4C26-8A21-14D178972496}" srcOrd="9" destOrd="0" presId="urn:microsoft.com/office/officeart/2005/8/layout/chevron1"/>
    <dgm:cxn modelId="{B24000D5-564C-42E2-8376-DD126258A9BF}" type="presParOf" srcId="{5C50113E-6D67-4260-8671-A055F574350F}" destId="{221EE906-8795-41B8-B131-BDFA7062A148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B89DAD2-D59C-427C-A662-03F9776FE00F}" type="doc">
      <dgm:prSet loTypeId="urn:microsoft.com/office/officeart/2005/8/layout/bProcess3" loCatId="process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zh-TW" altLang="en-US"/>
        </a:p>
      </dgm:t>
    </dgm:pt>
    <dgm:pt modelId="{A63C5C66-AB04-4C1D-A3AD-D40CFDDA8E1D}">
      <dgm:prSet phldrT="[文字]"/>
      <dgm:spPr>
        <a:solidFill>
          <a:srgbClr val="FFCC66"/>
        </a:solidFill>
      </dgm:spPr>
      <dgm:t>
        <a:bodyPr/>
        <a:lstStyle/>
        <a:p>
          <a:r>
            <a:rPr lang="zh-TW" altLang="en-US" b="1" dirty="0"/>
            <a:t>申請人送出</a:t>
          </a:r>
          <a:endParaRPr lang="en-US" altLang="zh-TW" b="1" dirty="0"/>
        </a:p>
        <a:p>
          <a:r>
            <a:rPr lang="zh-TW" altLang="en-US" b="1" dirty="0"/>
            <a:t>預支單</a:t>
          </a:r>
          <a:endParaRPr lang="zh-TW" altLang="en-US" dirty="0"/>
        </a:p>
      </dgm:t>
    </dgm:pt>
    <dgm:pt modelId="{D9FE4A53-5450-42F2-B958-947592F67788}" type="parTrans" cxnId="{93BFDB7C-6CBD-4C37-9C81-B18CB84C8909}">
      <dgm:prSet/>
      <dgm:spPr/>
      <dgm:t>
        <a:bodyPr/>
        <a:lstStyle/>
        <a:p>
          <a:endParaRPr lang="zh-TW" altLang="en-US"/>
        </a:p>
      </dgm:t>
    </dgm:pt>
    <dgm:pt modelId="{5EF82672-C31C-46F7-8629-5FFF5F1A691F}" type="sibTrans" cxnId="{93BFDB7C-6CBD-4C37-9C81-B18CB84C8909}">
      <dgm:prSet/>
      <dgm:spPr/>
      <dgm:t>
        <a:bodyPr/>
        <a:lstStyle/>
        <a:p>
          <a:endParaRPr lang="zh-TW" altLang="en-US"/>
        </a:p>
      </dgm:t>
    </dgm:pt>
    <dgm:pt modelId="{E08617E7-0E7C-4FD2-8E19-BE1DE48FA6C0}">
      <dgm:prSet phldrT="[文字]"/>
      <dgm:spPr>
        <a:solidFill>
          <a:srgbClr val="FFCC66"/>
        </a:solidFill>
      </dgm:spPr>
      <dgm:t>
        <a:bodyPr/>
        <a:lstStyle/>
        <a:p>
          <a:r>
            <a:rPr lang="zh-TW" altLang="en-US" b="1" dirty="0"/>
            <a:t>預支單簽核完畢</a:t>
          </a:r>
          <a:endParaRPr lang="zh-TW" altLang="en-US" dirty="0"/>
        </a:p>
      </dgm:t>
    </dgm:pt>
    <dgm:pt modelId="{8D0FE696-7A9D-4BBB-803C-66DF86BF3EB9}" type="parTrans" cxnId="{05656B4A-C084-4383-BE73-5876B596C0BA}">
      <dgm:prSet/>
      <dgm:spPr/>
      <dgm:t>
        <a:bodyPr/>
        <a:lstStyle/>
        <a:p>
          <a:endParaRPr lang="zh-TW" altLang="en-US"/>
        </a:p>
      </dgm:t>
    </dgm:pt>
    <dgm:pt modelId="{FF6368D2-DDEA-4723-9E49-DA97B264B284}" type="sibTrans" cxnId="{05656B4A-C084-4383-BE73-5876B596C0BA}">
      <dgm:prSet/>
      <dgm:spPr/>
      <dgm:t>
        <a:bodyPr/>
        <a:lstStyle/>
        <a:p>
          <a:endParaRPr lang="zh-TW" altLang="en-US"/>
        </a:p>
      </dgm:t>
    </dgm:pt>
    <dgm:pt modelId="{921E7D69-5DA5-4597-AC80-DDDE731F6CA5}">
      <dgm:prSet phldrT="[文字]"/>
      <dgm:spPr/>
      <dgm:t>
        <a:bodyPr/>
        <a:lstStyle/>
        <a:p>
          <a:r>
            <a:rPr lang="zh-TW" altLang="en-US" b="1" dirty="0"/>
            <a:t>出納作帳，主管覆核</a:t>
          </a:r>
          <a:endParaRPr lang="zh-TW" altLang="en-US" dirty="0"/>
        </a:p>
      </dgm:t>
    </dgm:pt>
    <dgm:pt modelId="{26707D7A-A5D1-4556-9B7B-A77DCD972AD5}" type="parTrans" cxnId="{24D3970A-A7AC-4293-BA0F-9C1848934DAA}">
      <dgm:prSet/>
      <dgm:spPr/>
      <dgm:t>
        <a:bodyPr/>
        <a:lstStyle/>
        <a:p>
          <a:endParaRPr lang="zh-TW" altLang="en-US"/>
        </a:p>
      </dgm:t>
    </dgm:pt>
    <dgm:pt modelId="{751792D1-6B8A-4349-B6BC-4E2FFBD3BB76}" type="sibTrans" cxnId="{24D3970A-A7AC-4293-BA0F-9C1848934DAA}">
      <dgm:prSet/>
      <dgm:spPr/>
      <dgm:t>
        <a:bodyPr/>
        <a:lstStyle/>
        <a:p>
          <a:endParaRPr lang="zh-TW" altLang="en-US"/>
        </a:p>
      </dgm:t>
    </dgm:pt>
    <dgm:pt modelId="{3E93882C-502A-42AF-A828-0E7E5FBC550F}">
      <dgm:prSet phldrT="[文字]"/>
      <dgm:spPr/>
      <dgm:t>
        <a:bodyPr/>
        <a:lstStyle/>
        <a:p>
          <a:r>
            <a:rPr lang="zh-TW" altLang="en-US" b="1" dirty="0"/>
            <a:t>處長覆核，取款條用印</a:t>
          </a:r>
        </a:p>
      </dgm:t>
    </dgm:pt>
    <dgm:pt modelId="{CF0ED4FF-9318-44E8-8B00-7489C9106022}" type="parTrans" cxnId="{0790DAA7-E893-405F-BBAD-F88034E60FE7}">
      <dgm:prSet/>
      <dgm:spPr/>
      <dgm:t>
        <a:bodyPr/>
        <a:lstStyle/>
        <a:p>
          <a:endParaRPr lang="zh-TW" altLang="en-US"/>
        </a:p>
      </dgm:t>
    </dgm:pt>
    <dgm:pt modelId="{DB415831-E73E-475A-8B0C-4E7CD979563C}" type="sibTrans" cxnId="{0790DAA7-E893-405F-BBAD-F88034E60FE7}">
      <dgm:prSet/>
      <dgm:spPr/>
      <dgm:t>
        <a:bodyPr/>
        <a:lstStyle/>
        <a:p>
          <a:endParaRPr lang="zh-TW" altLang="en-US"/>
        </a:p>
      </dgm:t>
    </dgm:pt>
    <dgm:pt modelId="{0B74C3E6-BF4B-4A48-8BC5-FBC264C77AB4}">
      <dgm:prSet phldrT="[文字]"/>
      <dgm:spPr>
        <a:solidFill>
          <a:srgbClr val="FFCC66"/>
        </a:solidFill>
      </dgm:spPr>
      <dgm:t>
        <a:bodyPr/>
        <a:lstStyle/>
        <a:p>
          <a:r>
            <a:rPr lang="zh-TW" altLang="en-US" b="1" dirty="0"/>
            <a:t>銀行開立定存單，開立完成後，由出納提供定存單資訊給申請人，請申請人將已填好資料的：</a:t>
          </a:r>
          <a:r>
            <a:rPr lang="en-US" altLang="zh-TW" b="1" dirty="0"/>
            <a:t>A</a:t>
          </a:r>
          <a:r>
            <a:rPr lang="zh-TW" altLang="zh-TW" b="1" dirty="0"/>
            <a:t>定期存款單質權設定申請書格式</a:t>
          </a:r>
          <a:r>
            <a:rPr lang="en-US" altLang="zh-TW" b="1" dirty="0"/>
            <a:t>+B</a:t>
          </a:r>
          <a:r>
            <a:rPr lang="zh-TW" altLang="zh-TW" b="1" dirty="0"/>
            <a:t>定期存款單質權設定覆函格式</a:t>
          </a:r>
          <a:r>
            <a:rPr lang="zh-TW" altLang="en-US" b="1" dirty="0"/>
            <a:t>給出納</a:t>
          </a:r>
        </a:p>
      </dgm:t>
    </dgm:pt>
    <dgm:pt modelId="{2D303310-D0E7-44B1-9A87-4E99EFBBA50F}" type="parTrans" cxnId="{FB4AB706-880A-49D2-BA3D-C9D087442D85}">
      <dgm:prSet/>
      <dgm:spPr/>
      <dgm:t>
        <a:bodyPr/>
        <a:lstStyle/>
        <a:p>
          <a:endParaRPr lang="zh-TW" altLang="en-US"/>
        </a:p>
      </dgm:t>
    </dgm:pt>
    <dgm:pt modelId="{C70CE1E0-D99B-4EC1-9D39-7F99E0AC6E62}" type="sibTrans" cxnId="{FB4AB706-880A-49D2-BA3D-C9D087442D85}">
      <dgm:prSet/>
      <dgm:spPr/>
      <dgm:t>
        <a:bodyPr/>
        <a:lstStyle/>
        <a:p>
          <a:endParaRPr lang="zh-TW" altLang="en-US"/>
        </a:p>
      </dgm:t>
    </dgm:pt>
    <dgm:pt modelId="{388E8D72-198F-4103-8E1C-EA566472DDDE}">
      <dgm:prSet phldrT="[文字]"/>
      <dgm:spPr/>
      <dgm:t>
        <a:bodyPr/>
        <a:lstStyle/>
        <a:p>
          <a:r>
            <a:rPr lang="zh-TW" altLang="en-US" b="1" dirty="0"/>
            <a:t>出納提供：定存單影本</a:t>
          </a:r>
          <a:r>
            <a:rPr lang="en-US" altLang="zh-TW" b="1" dirty="0"/>
            <a:t>+</a:t>
          </a:r>
          <a:r>
            <a:rPr lang="zh-TW" altLang="en-US" b="1" dirty="0"/>
            <a:t>用印的</a:t>
          </a:r>
          <a:r>
            <a:rPr lang="en-US" altLang="zh-TW" b="1" dirty="0"/>
            <a:t>A</a:t>
          </a:r>
          <a:r>
            <a:rPr lang="zh-TW" altLang="en-US" b="1" dirty="0"/>
            <a:t>給申請人送至甲方用印</a:t>
          </a:r>
        </a:p>
      </dgm:t>
    </dgm:pt>
    <dgm:pt modelId="{A310C831-628C-433D-93CA-04A6F4A4D3CF}" type="parTrans" cxnId="{3D932189-C6AB-41DE-BE6F-975015D88275}">
      <dgm:prSet/>
      <dgm:spPr/>
      <dgm:t>
        <a:bodyPr/>
        <a:lstStyle/>
        <a:p>
          <a:endParaRPr lang="zh-TW" altLang="en-US"/>
        </a:p>
      </dgm:t>
    </dgm:pt>
    <dgm:pt modelId="{997DDFCA-7FF5-402A-B1E6-502CED2C97DD}" type="sibTrans" cxnId="{3D932189-C6AB-41DE-BE6F-975015D88275}">
      <dgm:prSet/>
      <dgm:spPr/>
      <dgm:t>
        <a:bodyPr/>
        <a:lstStyle/>
        <a:p>
          <a:endParaRPr lang="zh-TW" altLang="en-US"/>
        </a:p>
      </dgm:t>
    </dgm:pt>
    <dgm:pt modelId="{56602DF6-9124-4B52-BE37-1C8DA28846B8}">
      <dgm:prSet phldrT="[文字]"/>
      <dgm:spPr>
        <a:solidFill>
          <a:srgbClr val="FFCC66"/>
        </a:solidFill>
      </dgm:spPr>
      <dgm:t>
        <a:bodyPr/>
        <a:lstStyle/>
        <a:p>
          <a:r>
            <a:rPr lang="zh-TW" altLang="en-US" b="1" dirty="0"/>
            <a:t>申請人提供甲方用印完畢的</a:t>
          </a:r>
          <a:r>
            <a:rPr lang="en-US" altLang="zh-TW" b="1" dirty="0"/>
            <a:t>A</a:t>
          </a:r>
          <a:r>
            <a:rPr lang="zh-TW" altLang="en-US" b="1" dirty="0"/>
            <a:t>給出納，由出納將定存單正本</a:t>
          </a:r>
          <a:r>
            <a:rPr lang="en-US" altLang="zh-TW" b="1" dirty="0"/>
            <a:t>+A+B</a:t>
          </a:r>
          <a:r>
            <a:rPr lang="zh-TW" altLang="en-US" b="1" dirty="0"/>
            <a:t>送至銀行設質後提供給申請人定存單</a:t>
          </a:r>
          <a:r>
            <a:rPr lang="en-US" altLang="zh-TW" b="1" dirty="0"/>
            <a:t>+B</a:t>
          </a:r>
          <a:r>
            <a:rPr lang="zh-TW" altLang="en-US" b="1" dirty="0"/>
            <a:t>送至甲方完成存保金流程</a:t>
          </a:r>
          <a:endParaRPr lang="en-US" altLang="zh-TW" b="1" dirty="0"/>
        </a:p>
      </dgm:t>
    </dgm:pt>
    <dgm:pt modelId="{24E586BE-915C-43B0-8A70-11BCF0E8EC98}" type="parTrans" cxnId="{8F836832-3296-4274-A0AF-CD2097D2FF27}">
      <dgm:prSet/>
      <dgm:spPr/>
      <dgm:t>
        <a:bodyPr/>
        <a:lstStyle/>
        <a:p>
          <a:endParaRPr lang="zh-TW" altLang="en-US"/>
        </a:p>
      </dgm:t>
    </dgm:pt>
    <dgm:pt modelId="{0081E0EF-15E6-4FF0-B52E-A0614D4C23BC}" type="sibTrans" cxnId="{8F836832-3296-4274-A0AF-CD2097D2FF27}">
      <dgm:prSet/>
      <dgm:spPr/>
      <dgm:t>
        <a:bodyPr/>
        <a:lstStyle/>
        <a:p>
          <a:endParaRPr lang="zh-TW" altLang="en-US"/>
        </a:p>
      </dgm:t>
    </dgm:pt>
    <dgm:pt modelId="{D991D0B5-F4EA-41C7-9477-014777C9F0DE}">
      <dgm:prSet phldrT="[文字]"/>
      <dgm:spPr>
        <a:solidFill>
          <a:srgbClr val="FFCC66"/>
        </a:solidFill>
      </dgm:spPr>
      <dgm:t>
        <a:bodyPr/>
        <a:lstStyle/>
        <a:p>
          <a:r>
            <a:rPr lang="zh-TW" altLang="en-US" b="1" dirty="0"/>
            <a:t>申請人該筆預支單</a:t>
          </a:r>
          <a:r>
            <a:rPr lang="zh-TW" altLang="en-US" b="1" dirty="0">
              <a:solidFill>
                <a:srgbClr val="FF0000"/>
              </a:solidFill>
            </a:rPr>
            <a:t>核銷</a:t>
          </a:r>
          <a:r>
            <a:rPr lang="en-US" altLang="zh-TW" b="1" dirty="0">
              <a:solidFill>
                <a:srgbClr val="FF0000"/>
              </a:solidFill>
            </a:rPr>
            <a:t>0</a:t>
          </a:r>
          <a:r>
            <a:rPr lang="zh-TW" altLang="en-US" b="1" dirty="0">
              <a:solidFill>
                <a:srgbClr val="FF0000"/>
              </a:solidFill>
            </a:rPr>
            <a:t>元</a:t>
          </a:r>
          <a:r>
            <a:rPr lang="zh-TW" altLang="en-US" b="1" dirty="0"/>
            <a:t>，並將存保金收據正本提供給存保金保管人員，收據影本放置核銷櫃子等憑證掃描人員上傳</a:t>
          </a:r>
        </a:p>
      </dgm:t>
    </dgm:pt>
    <dgm:pt modelId="{B2F99403-8AD2-4B2E-AC0E-471AAE47C554}" type="parTrans" cxnId="{04C4AB0D-9398-4A04-AE94-A80DD446236D}">
      <dgm:prSet/>
      <dgm:spPr/>
      <dgm:t>
        <a:bodyPr/>
        <a:lstStyle/>
        <a:p>
          <a:endParaRPr lang="zh-TW" altLang="en-US"/>
        </a:p>
      </dgm:t>
    </dgm:pt>
    <dgm:pt modelId="{54912E69-0CC4-49E0-8969-87A9BCA23D7C}" type="sibTrans" cxnId="{04C4AB0D-9398-4A04-AE94-A80DD446236D}">
      <dgm:prSet/>
      <dgm:spPr/>
      <dgm:t>
        <a:bodyPr/>
        <a:lstStyle/>
        <a:p>
          <a:endParaRPr lang="zh-TW" altLang="en-US"/>
        </a:p>
      </dgm:t>
    </dgm:pt>
    <dgm:pt modelId="{E62B5F28-D391-49A5-9D86-B7F67E26E281}">
      <dgm:prSet phldrT="[文字]"/>
      <dgm:spPr>
        <a:solidFill>
          <a:srgbClr val="FFCC66"/>
        </a:solidFill>
      </dgm:spPr>
      <dgm:t>
        <a:bodyPr/>
        <a:lstStyle/>
        <a:p>
          <a:r>
            <a:rPr lang="zh-TW" altLang="en-US" b="1" dirty="0"/>
            <a:t>專案結束後，發文申請退回存保金：</a:t>
          </a:r>
          <a:br>
            <a:rPr lang="en-US" altLang="zh-TW" b="1" dirty="0"/>
          </a:br>
          <a:r>
            <a:rPr lang="zh-TW" altLang="en-US" b="1" dirty="0"/>
            <a:t>由申請人向存保金人員取回存保金收據正本</a:t>
          </a:r>
          <a:r>
            <a:rPr lang="en-US" altLang="zh-TW" b="1" dirty="0"/>
            <a:t>+</a:t>
          </a:r>
          <a:r>
            <a:rPr lang="zh-TW" altLang="en-US" b="1" dirty="0"/>
            <a:t>提供</a:t>
          </a:r>
          <a:r>
            <a:rPr lang="en-US" altLang="zh-TW" b="1" dirty="0"/>
            <a:t>C</a:t>
          </a:r>
          <a:r>
            <a:rPr lang="zh-TW" altLang="en-US" b="1" dirty="0"/>
            <a:t>質權消滅通知書給甲方用印</a:t>
          </a:r>
        </a:p>
      </dgm:t>
    </dgm:pt>
    <dgm:pt modelId="{97242FFA-5CBB-47A7-98E1-CF636626963C}" type="parTrans" cxnId="{93FFA305-BE57-4C2F-BADE-4493565D3ACB}">
      <dgm:prSet/>
      <dgm:spPr/>
      <dgm:t>
        <a:bodyPr/>
        <a:lstStyle/>
        <a:p>
          <a:endParaRPr lang="zh-TW" altLang="en-US"/>
        </a:p>
      </dgm:t>
    </dgm:pt>
    <dgm:pt modelId="{4B95FC0F-8752-4A46-8486-6B7BA6924009}" type="sibTrans" cxnId="{93FFA305-BE57-4C2F-BADE-4493565D3ACB}">
      <dgm:prSet/>
      <dgm:spPr/>
      <dgm:t>
        <a:bodyPr/>
        <a:lstStyle/>
        <a:p>
          <a:endParaRPr lang="zh-TW" altLang="en-US"/>
        </a:p>
      </dgm:t>
    </dgm:pt>
    <dgm:pt modelId="{DD7732A1-B046-45CD-99D7-23D82BE67AA8}">
      <dgm:prSet phldrT="[文字]"/>
      <dgm:spPr/>
      <dgm:t>
        <a:bodyPr/>
        <a:lstStyle/>
        <a:p>
          <a:r>
            <a:rPr lang="zh-TW" altLang="en-US" b="1" dirty="0"/>
            <a:t>甲方退回定存單正本</a:t>
          </a:r>
          <a:r>
            <a:rPr lang="en-US" altLang="zh-TW" b="1" dirty="0"/>
            <a:t>+B+C</a:t>
          </a:r>
          <a:r>
            <a:rPr lang="zh-TW" altLang="en-US" b="1" dirty="0"/>
            <a:t>，請申請人轉交給出納，由出納於定存單到期日送至銀行解約</a:t>
          </a:r>
        </a:p>
      </dgm:t>
    </dgm:pt>
    <dgm:pt modelId="{61C10B35-E4B1-42A8-AE3C-86672BA7572D}" type="parTrans" cxnId="{CB41D37E-C993-4B18-865F-E7C76172BFEF}">
      <dgm:prSet/>
      <dgm:spPr/>
      <dgm:t>
        <a:bodyPr/>
        <a:lstStyle/>
        <a:p>
          <a:endParaRPr lang="zh-TW" altLang="en-US"/>
        </a:p>
      </dgm:t>
    </dgm:pt>
    <dgm:pt modelId="{C29CAEF5-5B95-49E0-84E1-092D08A91608}" type="sibTrans" cxnId="{CB41D37E-C993-4B18-865F-E7C76172BFEF}">
      <dgm:prSet/>
      <dgm:spPr/>
      <dgm:t>
        <a:bodyPr/>
        <a:lstStyle/>
        <a:p>
          <a:endParaRPr lang="zh-TW" altLang="en-US"/>
        </a:p>
      </dgm:t>
    </dgm:pt>
    <dgm:pt modelId="{6CE71865-163C-4F62-8E9F-F24F2807AB12}">
      <dgm:prSet phldrT="[文字]"/>
      <dgm:spPr/>
      <dgm:t>
        <a:bodyPr/>
        <a:lstStyle/>
        <a:p>
          <a:r>
            <a:rPr lang="zh-TW" altLang="en-US" b="1" dirty="0"/>
            <a:t>流程結束</a:t>
          </a:r>
        </a:p>
      </dgm:t>
    </dgm:pt>
    <dgm:pt modelId="{815ED79B-E7BE-4A66-999D-E2A4256BE193}" type="parTrans" cxnId="{90438CA9-F5E9-4E44-A4A5-7A50A9F94458}">
      <dgm:prSet/>
      <dgm:spPr/>
      <dgm:t>
        <a:bodyPr/>
        <a:lstStyle/>
        <a:p>
          <a:endParaRPr lang="zh-TW" altLang="en-US"/>
        </a:p>
      </dgm:t>
    </dgm:pt>
    <dgm:pt modelId="{F0A845B6-7763-4052-992A-695DC59C2CDF}" type="sibTrans" cxnId="{90438CA9-F5E9-4E44-A4A5-7A50A9F94458}">
      <dgm:prSet/>
      <dgm:spPr/>
      <dgm:t>
        <a:bodyPr/>
        <a:lstStyle/>
        <a:p>
          <a:endParaRPr lang="zh-TW" altLang="en-US"/>
        </a:p>
      </dgm:t>
    </dgm:pt>
    <dgm:pt modelId="{C0A4A978-9BB9-423A-AFF0-26EC07718772}" type="pres">
      <dgm:prSet presAssocID="{4B89DAD2-D59C-427C-A662-03F9776FE00F}" presName="Name0" presStyleCnt="0">
        <dgm:presLayoutVars>
          <dgm:dir/>
          <dgm:resizeHandles val="exact"/>
        </dgm:presLayoutVars>
      </dgm:prSet>
      <dgm:spPr/>
    </dgm:pt>
    <dgm:pt modelId="{516E74C0-B499-4B47-BDE1-78B788FA9EE4}" type="pres">
      <dgm:prSet presAssocID="{A63C5C66-AB04-4C1D-A3AD-D40CFDDA8E1D}" presName="node" presStyleLbl="node1" presStyleIdx="0" presStyleCnt="11">
        <dgm:presLayoutVars>
          <dgm:bulletEnabled val="1"/>
        </dgm:presLayoutVars>
      </dgm:prSet>
      <dgm:spPr/>
    </dgm:pt>
    <dgm:pt modelId="{30DB1EC3-A198-44DD-933E-B5DFCAF5D058}" type="pres">
      <dgm:prSet presAssocID="{5EF82672-C31C-46F7-8629-5FFF5F1A691F}" presName="sibTrans" presStyleLbl="sibTrans1D1" presStyleIdx="0" presStyleCnt="10"/>
      <dgm:spPr/>
    </dgm:pt>
    <dgm:pt modelId="{37BD4B74-EF1B-48BD-BFCC-947CA1232C36}" type="pres">
      <dgm:prSet presAssocID="{5EF82672-C31C-46F7-8629-5FFF5F1A691F}" presName="connectorText" presStyleLbl="sibTrans1D1" presStyleIdx="0" presStyleCnt="10"/>
      <dgm:spPr/>
    </dgm:pt>
    <dgm:pt modelId="{0032A336-7B12-4C20-B090-372D93FAF188}" type="pres">
      <dgm:prSet presAssocID="{E08617E7-0E7C-4FD2-8E19-BE1DE48FA6C0}" presName="node" presStyleLbl="node1" presStyleIdx="1" presStyleCnt="11">
        <dgm:presLayoutVars>
          <dgm:bulletEnabled val="1"/>
        </dgm:presLayoutVars>
      </dgm:prSet>
      <dgm:spPr/>
    </dgm:pt>
    <dgm:pt modelId="{405CCA24-7974-475A-91CE-8F8A1BD3FF27}" type="pres">
      <dgm:prSet presAssocID="{FF6368D2-DDEA-4723-9E49-DA97B264B284}" presName="sibTrans" presStyleLbl="sibTrans1D1" presStyleIdx="1" presStyleCnt="10"/>
      <dgm:spPr/>
    </dgm:pt>
    <dgm:pt modelId="{47C12A3F-5E79-478F-8E4B-322F8DFDA618}" type="pres">
      <dgm:prSet presAssocID="{FF6368D2-DDEA-4723-9E49-DA97B264B284}" presName="connectorText" presStyleLbl="sibTrans1D1" presStyleIdx="1" presStyleCnt="10"/>
      <dgm:spPr/>
    </dgm:pt>
    <dgm:pt modelId="{F084B0DC-B2F7-4424-BDFD-093E781BC98D}" type="pres">
      <dgm:prSet presAssocID="{921E7D69-5DA5-4597-AC80-DDDE731F6CA5}" presName="node" presStyleLbl="node1" presStyleIdx="2" presStyleCnt="11">
        <dgm:presLayoutVars>
          <dgm:bulletEnabled val="1"/>
        </dgm:presLayoutVars>
      </dgm:prSet>
      <dgm:spPr/>
    </dgm:pt>
    <dgm:pt modelId="{D87BE2A0-D0C6-477B-AC9C-70AB26E7EFB9}" type="pres">
      <dgm:prSet presAssocID="{751792D1-6B8A-4349-B6BC-4E2FFBD3BB76}" presName="sibTrans" presStyleLbl="sibTrans1D1" presStyleIdx="2" presStyleCnt="10"/>
      <dgm:spPr/>
    </dgm:pt>
    <dgm:pt modelId="{A1DFE768-1C82-4844-BF04-DB6BFF2851E6}" type="pres">
      <dgm:prSet presAssocID="{751792D1-6B8A-4349-B6BC-4E2FFBD3BB76}" presName="connectorText" presStyleLbl="sibTrans1D1" presStyleIdx="2" presStyleCnt="10"/>
      <dgm:spPr/>
    </dgm:pt>
    <dgm:pt modelId="{427882C8-19AD-4530-99A2-D05B668E1FFD}" type="pres">
      <dgm:prSet presAssocID="{3E93882C-502A-42AF-A828-0E7E5FBC550F}" presName="node" presStyleLbl="node1" presStyleIdx="3" presStyleCnt="11">
        <dgm:presLayoutVars>
          <dgm:bulletEnabled val="1"/>
        </dgm:presLayoutVars>
      </dgm:prSet>
      <dgm:spPr/>
    </dgm:pt>
    <dgm:pt modelId="{42BA7BAD-5F3A-42B6-8679-D41914A35764}" type="pres">
      <dgm:prSet presAssocID="{DB415831-E73E-475A-8B0C-4E7CD979563C}" presName="sibTrans" presStyleLbl="sibTrans1D1" presStyleIdx="3" presStyleCnt="10"/>
      <dgm:spPr/>
    </dgm:pt>
    <dgm:pt modelId="{F081688B-0FDB-41DE-9FB0-BD92855AA7E0}" type="pres">
      <dgm:prSet presAssocID="{DB415831-E73E-475A-8B0C-4E7CD979563C}" presName="connectorText" presStyleLbl="sibTrans1D1" presStyleIdx="3" presStyleCnt="10"/>
      <dgm:spPr/>
    </dgm:pt>
    <dgm:pt modelId="{8AFD1B7C-0D4B-41DF-A3BA-0F5D28236BC6}" type="pres">
      <dgm:prSet presAssocID="{0B74C3E6-BF4B-4A48-8BC5-FBC264C77AB4}" presName="node" presStyleLbl="node1" presStyleIdx="4" presStyleCnt="11">
        <dgm:presLayoutVars>
          <dgm:bulletEnabled val="1"/>
        </dgm:presLayoutVars>
      </dgm:prSet>
      <dgm:spPr/>
    </dgm:pt>
    <dgm:pt modelId="{C9F529A2-6FAB-4DEB-A4B9-8BEA8D8F8FC7}" type="pres">
      <dgm:prSet presAssocID="{C70CE1E0-D99B-4EC1-9D39-7F99E0AC6E62}" presName="sibTrans" presStyleLbl="sibTrans1D1" presStyleIdx="4" presStyleCnt="10"/>
      <dgm:spPr/>
    </dgm:pt>
    <dgm:pt modelId="{EBF91D04-3C10-455A-8F4D-2F79925BD6BE}" type="pres">
      <dgm:prSet presAssocID="{C70CE1E0-D99B-4EC1-9D39-7F99E0AC6E62}" presName="connectorText" presStyleLbl="sibTrans1D1" presStyleIdx="4" presStyleCnt="10"/>
      <dgm:spPr/>
    </dgm:pt>
    <dgm:pt modelId="{BBC6F3E8-71CD-46BC-957D-E3C5F15C03FB}" type="pres">
      <dgm:prSet presAssocID="{388E8D72-198F-4103-8E1C-EA566472DDDE}" presName="node" presStyleLbl="node1" presStyleIdx="5" presStyleCnt="11">
        <dgm:presLayoutVars>
          <dgm:bulletEnabled val="1"/>
        </dgm:presLayoutVars>
      </dgm:prSet>
      <dgm:spPr/>
    </dgm:pt>
    <dgm:pt modelId="{8B98DAFC-0A6A-4A6A-9794-B31EB55370EC}" type="pres">
      <dgm:prSet presAssocID="{997DDFCA-7FF5-402A-B1E6-502CED2C97DD}" presName="sibTrans" presStyleLbl="sibTrans1D1" presStyleIdx="5" presStyleCnt="10"/>
      <dgm:spPr/>
    </dgm:pt>
    <dgm:pt modelId="{725C917F-6C0E-4DEE-AA6B-681F4B78D8F1}" type="pres">
      <dgm:prSet presAssocID="{997DDFCA-7FF5-402A-B1E6-502CED2C97DD}" presName="connectorText" presStyleLbl="sibTrans1D1" presStyleIdx="5" presStyleCnt="10"/>
      <dgm:spPr/>
    </dgm:pt>
    <dgm:pt modelId="{196D3C61-9328-4DA7-893B-C198A62EA8BC}" type="pres">
      <dgm:prSet presAssocID="{56602DF6-9124-4B52-BE37-1C8DA28846B8}" presName="node" presStyleLbl="node1" presStyleIdx="6" presStyleCnt="11">
        <dgm:presLayoutVars>
          <dgm:bulletEnabled val="1"/>
        </dgm:presLayoutVars>
      </dgm:prSet>
      <dgm:spPr/>
    </dgm:pt>
    <dgm:pt modelId="{08D25261-8A90-46A0-97CB-3A563C7DE1DF}" type="pres">
      <dgm:prSet presAssocID="{0081E0EF-15E6-4FF0-B52E-A0614D4C23BC}" presName="sibTrans" presStyleLbl="sibTrans1D1" presStyleIdx="6" presStyleCnt="10"/>
      <dgm:spPr/>
    </dgm:pt>
    <dgm:pt modelId="{E8853DAC-A87C-45F3-868D-92C5F1E19479}" type="pres">
      <dgm:prSet presAssocID="{0081E0EF-15E6-4FF0-B52E-A0614D4C23BC}" presName="connectorText" presStyleLbl="sibTrans1D1" presStyleIdx="6" presStyleCnt="10"/>
      <dgm:spPr/>
    </dgm:pt>
    <dgm:pt modelId="{7DF0E1FA-BE2B-4445-9369-6D7D76D94925}" type="pres">
      <dgm:prSet presAssocID="{D991D0B5-F4EA-41C7-9477-014777C9F0DE}" presName="node" presStyleLbl="node1" presStyleIdx="7" presStyleCnt="11">
        <dgm:presLayoutVars>
          <dgm:bulletEnabled val="1"/>
        </dgm:presLayoutVars>
      </dgm:prSet>
      <dgm:spPr/>
    </dgm:pt>
    <dgm:pt modelId="{4146734D-63AA-4565-8D21-FA5E9E4587F2}" type="pres">
      <dgm:prSet presAssocID="{54912E69-0CC4-49E0-8969-87A9BCA23D7C}" presName="sibTrans" presStyleLbl="sibTrans1D1" presStyleIdx="7" presStyleCnt="10"/>
      <dgm:spPr/>
    </dgm:pt>
    <dgm:pt modelId="{C1E14A15-FF6E-4BF6-A901-E8D03F03E648}" type="pres">
      <dgm:prSet presAssocID="{54912E69-0CC4-49E0-8969-87A9BCA23D7C}" presName="connectorText" presStyleLbl="sibTrans1D1" presStyleIdx="7" presStyleCnt="10"/>
      <dgm:spPr/>
    </dgm:pt>
    <dgm:pt modelId="{D3474578-2998-4D80-8FA9-59462C7B44C2}" type="pres">
      <dgm:prSet presAssocID="{E62B5F28-D391-49A5-9D86-B7F67E26E281}" presName="node" presStyleLbl="node1" presStyleIdx="8" presStyleCnt="11">
        <dgm:presLayoutVars>
          <dgm:bulletEnabled val="1"/>
        </dgm:presLayoutVars>
      </dgm:prSet>
      <dgm:spPr/>
    </dgm:pt>
    <dgm:pt modelId="{71342E53-631D-4637-A3C8-6FCF500FEC3E}" type="pres">
      <dgm:prSet presAssocID="{4B95FC0F-8752-4A46-8486-6B7BA6924009}" presName="sibTrans" presStyleLbl="sibTrans1D1" presStyleIdx="8" presStyleCnt="10"/>
      <dgm:spPr/>
    </dgm:pt>
    <dgm:pt modelId="{8EA81118-AF2D-48A9-A1A9-A6BB95285711}" type="pres">
      <dgm:prSet presAssocID="{4B95FC0F-8752-4A46-8486-6B7BA6924009}" presName="connectorText" presStyleLbl="sibTrans1D1" presStyleIdx="8" presStyleCnt="10"/>
      <dgm:spPr/>
    </dgm:pt>
    <dgm:pt modelId="{4B70F4AE-BB2A-4C3F-BB06-A447C2619006}" type="pres">
      <dgm:prSet presAssocID="{DD7732A1-B046-45CD-99D7-23D82BE67AA8}" presName="node" presStyleLbl="node1" presStyleIdx="9" presStyleCnt="11">
        <dgm:presLayoutVars>
          <dgm:bulletEnabled val="1"/>
        </dgm:presLayoutVars>
      </dgm:prSet>
      <dgm:spPr/>
    </dgm:pt>
    <dgm:pt modelId="{23C799D1-A318-443C-B145-255B384E7EE1}" type="pres">
      <dgm:prSet presAssocID="{C29CAEF5-5B95-49E0-84E1-092D08A91608}" presName="sibTrans" presStyleLbl="sibTrans1D1" presStyleIdx="9" presStyleCnt="10"/>
      <dgm:spPr/>
    </dgm:pt>
    <dgm:pt modelId="{3D7D0A72-F357-42D4-BA93-22AF1925B9B5}" type="pres">
      <dgm:prSet presAssocID="{C29CAEF5-5B95-49E0-84E1-092D08A91608}" presName="connectorText" presStyleLbl="sibTrans1D1" presStyleIdx="9" presStyleCnt="10"/>
      <dgm:spPr/>
    </dgm:pt>
    <dgm:pt modelId="{8905D163-3C1B-493B-ACD8-642AC4ECF16F}" type="pres">
      <dgm:prSet presAssocID="{6CE71865-163C-4F62-8E9F-F24F2807AB12}" presName="node" presStyleLbl="node1" presStyleIdx="10" presStyleCnt="11">
        <dgm:presLayoutVars>
          <dgm:bulletEnabled val="1"/>
        </dgm:presLayoutVars>
      </dgm:prSet>
      <dgm:spPr/>
    </dgm:pt>
  </dgm:ptLst>
  <dgm:cxnLst>
    <dgm:cxn modelId="{10071F00-5F9F-4C05-BF3A-22120771D0E6}" type="presOf" srcId="{E08617E7-0E7C-4FD2-8E19-BE1DE48FA6C0}" destId="{0032A336-7B12-4C20-B090-372D93FAF188}" srcOrd="0" destOrd="0" presId="urn:microsoft.com/office/officeart/2005/8/layout/bProcess3"/>
    <dgm:cxn modelId="{93FFA305-BE57-4C2F-BADE-4493565D3ACB}" srcId="{4B89DAD2-D59C-427C-A662-03F9776FE00F}" destId="{E62B5F28-D391-49A5-9D86-B7F67E26E281}" srcOrd="8" destOrd="0" parTransId="{97242FFA-5CBB-47A7-98E1-CF636626963C}" sibTransId="{4B95FC0F-8752-4A46-8486-6B7BA6924009}"/>
    <dgm:cxn modelId="{FB4AB706-880A-49D2-BA3D-C9D087442D85}" srcId="{4B89DAD2-D59C-427C-A662-03F9776FE00F}" destId="{0B74C3E6-BF4B-4A48-8BC5-FBC264C77AB4}" srcOrd="4" destOrd="0" parTransId="{2D303310-D0E7-44B1-9A87-4E99EFBBA50F}" sibTransId="{C70CE1E0-D99B-4EC1-9D39-7F99E0AC6E62}"/>
    <dgm:cxn modelId="{CE8D6208-6944-4909-A426-12A91A5F0783}" type="presOf" srcId="{4B89DAD2-D59C-427C-A662-03F9776FE00F}" destId="{C0A4A978-9BB9-423A-AFF0-26EC07718772}" srcOrd="0" destOrd="0" presId="urn:microsoft.com/office/officeart/2005/8/layout/bProcess3"/>
    <dgm:cxn modelId="{24D3970A-A7AC-4293-BA0F-9C1848934DAA}" srcId="{4B89DAD2-D59C-427C-A662-03F9776FE00F}" destId="{921E7D69-5DA5-4597-AC80-DDDE731F6CA5}" srcOrd="2" destOrd="0" parTransId="{26707D7A-A5D1-4556-9B7B-A77DCD972AD5}" sibTransId="{751792D1-6B8A-4349-B6BC-4E2FFBD3BB76}"/>
    <dgm:cxn modelId="{335B9D0A-0DAF-4A26-B278-F4175EF987A2}" type="presOf" srcId="{388E8D72-198F-4103-8E1C-EA566472DDDE}" destId="{BBC6F3E8-71CD-46BC-957D-E3C5F15C03FB}" srcOrd="0" destOrd="0" presId="urn:microsoft.com/office/officeart/2005/8/layout/bProcess3"/>
    <dgm:cxn modelId="{04C4AB0D-9398-4A04-AE94-A80DD446236D}" srcId="{4B89DAD2-D59C-427C-A662-03F9776FE00F}" destId="{D991D0B5-F4EA-41C7-9477-014777C9F0DE}" srcOrd="7" destOrd="0" parTransId="{B2F99403-8AD2-4B2E-AC0E-471AAE47C554}" sibTransId="{54912E69-0CC4-49E0-8969-87A9BCA23D7C}"/>
    <dgm:cxn modelId="{4FA65E25-75A5-41A7-BF67-5FADA3E55CEC}" type="presOf" srcId="{921E7D69-5DA5-4597-AC80-DDDE731F6CA5}" destId="{F084B0DC-B2F7-4424-BDFD-093E781BC98D}" srcOrd="0" destOrd="0" presId="urn:microsoft.com/office/officeart/2005/8/layout/bProcess3"/>
    <dgm:cxn modelId="{8F836832-3296-4274-A0AF-CD2097D2FF27}" srcId="{4B89DAD2-D59C-427C-A662-03F9776FE00F}" destId="{56602DF6-9124-4B52-BE37-1C8DA28846B8}" srcOrd="6" destOrd="0" parTransId="{24E586BE-915C-43B0-8A70-11BCF0E8EC98}" sibTransId="{0081E0EF-15E6-4FF0-B52E-A0614D4C23BC}"/>
    <dgm:cxn modelId="{1E900338-C0C3-47D9-B587-E41A24AE2B2F}" type="presOf" srcId="{5EF82672-C31C-46F7-8629-5FFF5F1A691F}" destId="{30DB1EC3-A198-44DD-933E-B5DFCAF5D058}" srcOrd="0" destOrd="0" presId="urn:microsoft.com/office/officeart/2005/8/layout/bProcess3"/>
    <dgm:cxn modelId="{51D5D43C-1768-42CB-B8A6-79D281D165FC}" type="presOf" srcId="{56602DF6-9124-4B52-BE37-1C8DA28846B8}" destId="{196D3C61-9328-4DA7-893B-C198A62EA8BC}" srcOrd="0" destOrd="0" presId="urn:microsoft.com/office/officeart/2005/8/layout/bProcess3"/>
    <dgm:cxn modelId="{8E79A461-C8FF-4F4E-BBBF-AEED7568A9AD}" type="presOf" srcId="{4B95FC0F-8752-4A46-8486-6B7BA6924009}" destId="{8EA81118-AF2D-48A9-A1A9-A6BB95285711}" srcOrd="1" destOrd="0" presId="urn:microsoft.com/office/officeart/2005/8/layout/bProcess3"/>
    <dgm:cxn modelId="{BE26D561-DC06-4D7B-BCEB-E4A211324B74}" type="presOf" srcId="{FF6368D2-DDEA-4723-9E49-DA97B264B284}" destId="{405CCA24-7974-475A-91CE-8F8A1BD3FF27}" srcOrd="0" destOrd="0" presId="urn:microsoft.com/office/officeart/2005/8/layout/bProcess3"/>
    <dgm:cxn modelId="{4E2D9B65-FB93-4725-B228-65996B656017}" type="presOf" srcId="{751792D1-6B8A-4349-B6BC-4E2FFBD3BB76}" destId="{D87BE2A0-D0C6-477B-AC9C-70AB26E7EFB9}" srcOrd="0" destOrd="0" presId="urn:microsoft.com/office/officeart/2005/8/layout/bProcess3"/>
    <dgm:cxn modelId="{05656B4A-C084-4383-BE73-5876B596C0BA}" srcId="{4B89DAD2-D59C-427C-A662-03F9776FE00F}" destId="{E08617E7-0E7C-4FD2-8E19-BE1DE48FA6C0}" srcOrd="1" destOrd="0" parTransId="{8D0FE696-7A9D-4BBB-803C-66DF86BF3EB9}" sibTransId="{FF6368D2-DDEA-4723-9E49-DA97B264B284}"/>
    <dgm:cxn modelId="{D76A1E54-1565-4D77-B1B2-2E5EAACBBC90}" type="presOf" srcId="{0081E0EF-15E6-4FF0-B52E-A0614D4C23BC}" destId="{E8853DAC-A87C-45F3-868D-92C5F1E19479}" srcOrd="1" destOrd="0" presId="urn:microsoft.com/office/officeart/2005/8/layout/bProcess3"/>
    <dgm:cxn modelId="{70496155-131D-4ABF-8EBB-A8E1D987BE0F}" type="presOf" srcId="{54912E69-0CC4-49E0-8969-87A9BCA23D7C}" destId="{4146734D-63AA-4565-8D21-FA5E9E4587F2}" srcOrd="0" destOrd="0" presId="urn:microsoft.com/office/officeart/2005/8/layout/bProcess3"/>
    <dgm:cxn modelId="{566F3558-E6CE-4C19-82F8-A5F7A71E483E}" type="presOf" srcId="{997DDFCA-7FF5-402A-B1E6-502CED2C97DD}" destId="{725C917F-6C0E-4DEE-AA6B-681F4B78D8F1}" srcOrd="1" destOrd="0" presId="urn:microsoft.com/office/officeart/2005/8/layout/bProcess3"/>
    <dgm:cxn modelId="{93BFDB7C-6CBD-4C37-9C81-B18CB84C8909}" srcId="{4B89DAD2-D59C-427C-A662-03F9776FE00F}" destId="{A63C5C66-AB04-4C1D-A3AD-D40CFDDA8E1D}" srcOrd="0" destOrd="0" parTransId="{D9FE4A53-5450-42F2-B958-947592F67788}" sibTransId="{5EF82672-C31C-46F7-8629-5FFF5F1A691F}"/>
    <dgm:cxn modelId="{E7F8577E-993E-4570-A11A-3709BEBD1667}" type="presOf" srcId="{DB415831-E73E-475A-8B0C-4E7CD979563C}" destId="{42BA7BAD-5F3A-42B6-8679-D41914A35764}" srcOrd="0" destOrd="0" presId="urn:microsoft.com/office/officeart/2005/8/layout/bProcess3"/>
    <dgm:cxn modelId="{CB41D37E-C993-4B18-865F-E7C76172BFEF}" srcId="{4B89DAD2-D59C-427C-A662-03F9776FE00F}" destId="{DD7732A1-B046-45CD-99D7-23D82BE67AA8}" srcOrd="9" destOrd="0" parTransId="{61C10B35-E4B1-42A8-AE3C-86672BA7572D}" sibTransId="{C29CAEF5-5B95-49E0-84E1-092D08A91608}"/>
    <dgm:cxn modelId="{2E39287F-B71B-4EEE-8C7E-03B7F6C8A26D}" type="presOf" srcId="{4B95FC0F-8752-4A46-8486-6B7BA6924009}" destId="{71342E53-631D-4637-A3C8-6FCF500FEC3E}" srcOrd="0" destOrd="0" presId="urn:microsoft.com/office/officeart/2005/8/layout/bProcess3"/>
    <dgm:cxn modelId="{3D932189-C6AB-41DE-BE6F-975015D88275}" srcId="{4B89DAD2-D59C-427C-A662-03F9776FE00F}" destId="{388E8D72-198F-4103-8E1C-EA566472DDDE}" srcOrd="5" destOrd="0" parTransId="{A310C831-628C-433D-93CA-04A6F4A4D3CF}" sibTransId="{997DDFCA-7FF5-402A-B1E6-502CED2C97DD}"/>
    <dgm:cxn modelId="{F6ACEA8B-33A4-46F9-89A7-A3BB0C79D5D3}" type="presOf" srcId="{3E93882C-502A-42AF-A828-0E7E5FBC550F}" destId="{427882C8-19AD-4530-99A2-D05B668E1FFD}" srcOrd="0" destOrd="0" presId="urn:microsoft.com/office/officeart/2005/8/layout/bProcess3"/>
    <dgm:cxn modelId="{09F09E93-3A95-45F4-8713-3F376D4E4361}" type="presOf" srcId="{54912E69-0CC4-49E0-8969-87A9BCA23D7C}" destId="{C1E14A15-FF6E-4BF6-A901-E8D03F03E648}" srcOrd="1" destOrd="0" presId="urn:microsoft.com/office/officeart/2005/8/layout/bProcess3"/>
    <dgm:cxn modelId="{58684595-FE97-48A0-9A19-81823986162C}" type="presOf" srcId="{A63C5C66-AB04-4C1D-A3AD-D40CFDDA8E1D}" destId="{516E74C0-B499-4B47-BDE1-78B788FA9EE4}" srcOrd="0" destOrd="0" presId="urn:microsoft.com/office/officeart/2005/8/layout/bProcess3"/>
    <dgm:cxn modelId="{2980179E-F830-4487-AA50-7076C269B1E8}" type="presOf" srcId="{D991D0B5-F4EA-41C7-9477-014777C9F0DE}" destId="{7DF0E1FA-BE2B-4445-9369-6D7D76D94925}" srcOrd="0" destOrd="0" presId="urn:microsoft.com/office/officeart/2005/8/layout/bProcess3"/>
    <dgm:cxn modelId="{3A4A2BA3-8586-47CF-96D6-B7B62D3D2736}" type="presOf" srcId="{C70CE1E0-D99B-4EC1-9D39-7F99E0AC6E62}" destId="{C9F529A2-6FAB-4DEB-A4B9-8BEA8D8F8FC7}" srcOrd="0" destOrd="0" presId="urn:microsoft.com/office/officeart/2005/8/layout/bProcess3"/>
    <dgm:cxn modelId="{0790DAA7-E893-405F-BBAD-F88034E60FE7}" srcId="{4B89DAD2-D59C-427C-A662-03F9776FE00F}" destId="{3E93882C-502A-42AF-A828-0E7E5FBC550F}" srcOrd="3" destOrd="0" parTransId="{CF0ED4FF-9318-44E8-8B00-7489C9106022}" sibTransId="{DB415831-E73E-475A-8B0C-4E7CD979563C}"/>
    <dgm:cxn modelId="{90438CA9-F5E9-4E44-A4A5-7A50A9F94458}" srcId="{4B89DAD2-D59C-427C-A662-03F9776FE00F}" destId="{6CE71865-163C-4F62-8E9F-F24F2807AB12}" srcOrd="10" destOrd="0" parTransId="{815ED79B-E7BE-4A66-999D-E2A4256BE193}" sibTransId="{F0A845B6-7763-4052-992A-695DC59C2CDF}"/>
    <dgm:cxn modelId="{57AFAFAF-7098-46BC-B96F-82A5572C93A2}" type="presOf" srcId="{E62B5F28-D391-49A5-9D86-B7F67E26E281}" destId="{D3474578-2998-4D80-8FA9-59462C7B44C2}" srcOrd="0" destOrd="0" presId="urn:microsoft.com/office/officeart/2005/8/layout/bProcess3"/>
    <dgm:cxn modelId="{F3357DB3-9900-4520-A666-4C784DD57FD8}" type="presOf" srcId="{997DDFCA-7FF5-402A-B1E6-502CED2C97DD}" destId="{8B98DAFC-0A6A-4A6A-9794-B31EB55370EC}" srcOrd="0" destOrd="0" presId="urn:microsoft.com/office/officeart/2005/8/layout/bProcess3"/>
    <dgm:cxn modelId="{684004B4-DBE1-4CFD-AE03-13D20543C412}" type="presOf" srcId="{C29CAEF5-5B95-49E0-84E1-092D08A91608}" destId="{3D7D0A72-F357-42D4-BA93-22AF1925B9B5}" srcOrd="1" destOrd="0" presId="urn:microsoft.com/office/officeart/2005/8/layout/bProcess3"/>
    <dgm:cxn modelId="{96FBC8BE-9FA2-4ED9-8B7C-9B53CAC37B1E}" type="presOf" srcId="{0B74C3E6-BF4B-4A48-8BC5-FBC264C77AB4}" destId="{8AFD1B7C-0D4B-41DF-A3BA-0F5D28236BC6}" srcOrd="0" destOrd="0" presId="urn:microsoft.com/office/officeart/2005/8/layout/bProcess3"/>
    <dgm:cxn modelId="{C2F32FC1-8556-49A1-835C-D584FA9041A3}" type="presOf" srcId="{C70CE1E0-D99B-4EC1-9D39-7F99E0AC6E62}" destId="{EBF91D04-3C10-455A-8F4D-2F79925BD6BE}" srcOrd="1" destOrd="0" presId="urn:microsoft.com/office/officeart/2005/8/layout/bProcess3"/>
    <dgm:cxn modelId="{E34051C8-9218-4375-93A6-5C06AD2443BE}" type="presOf" srcId="{0081E0EF-15E6-4FF0-B52E-A0614D4C23BC}" destId="{08D25261-8A90-46A0-97CB-3A563C7DE1DF}" srcOrd="0" destOrd="0" presId="urn:microsoft.com/office/officeart/2005/8/layout/bProcess3"/>
    <dgm:cxn modelId="{F83515D3-51C7-4AAB-A4EF-C4B7470BF290}" type="presOf" srcId="{6CE71865-163C-4F62-8E9F-F24F2807AB12}" destId="{8905D163-3C1B-493B-ACD8-642AC4ECF16F}" srcOrd="0" destOrd="0" presId="urn:microsoft.com/office/officeart/2005/8/layout/bProcess3"/>
    <dgm:cxn modelId="{56132BDD-8793-4884-B71B-1E172F600E29}" type="presOf" srcId="{5EF82672-C31C-46F7-8629-5FFF5F1A691F}" destId="{37BD4B74-EF1B-48BD-BFCC-947CA1232C36}" srcOrd="1" destOrd="0" presId="urn:microsoft.com/office/officeart/2005/8/layout/bProcess3"/>
    <dgm:cxn modelId="{13134DE3-42EE-4909-BEC8-A1C080E00C0A}" type="presOf" srcId="{C29CAEF5-5B95-49E0-84E1-092D08A91608}" destId="{23C799D1-A318-443C-B145-255B384E7EE1}" srcOrd="0" destOrd="0" presId="urn:microsoft.com/office/officeart/2005/8/layout/bProcess3"/>
    <dgm:cxn modelId="{D704F2E8-FA66-4339-BF00-716CF355BF3C}" type="presOf" srcId="{FF6368D2-DDEA-4723-9E49-DA97B264B284}" destId="{47C12A3F-5E79-478F-8E4B-322F8DFDA618}" srcOrd="1" destOrd="0" presId="urn:microsoft.com/office/officeart/2005/8/layout/bProcess3"/>
    <dgm:cxn modelId="{3D80AAF4-F30D-40DC-A657-AC3883F2FD8F}" type="presOf" srcId="{DB415831-E73E-475A-8B0C-4E7CD979563C}" destId="{F081688B-0FDB-41DE-9FB0-BD92855AA7E0}" srcOrd="1" destOrd="0" presId="urn:microsoft.com/office/officeart/2005/8/layout/bProcess3"/>
    <dgm:cxn modelId="{9FB9FAF4-9014-41F3-A468-695A9C431792}" type="presOf" srcId="{751792D1-6B8A-4349-B6BC-4E2FFBD3BB76}" destId="{A1DFE768-1C82-4844-BF04-DB6BFF2851E6}" srcOrd="1" destOrd="0" presId="urn:microsoft.com/office/officeart/2005/8/layout/bProcess3"/>
    <dgm:cxn modelId="{5E4F30F9-4019-46CD-99E1-4B57F85E0EC9}" type="presOf" srcId="{DD7732A1-B046-45CD-99D7-23D82BE67AA8}" destId="{4B70F4AE-BB2A-4C3F-BB06-A447C2619006}" srcOrd="0" destOrd="0" presId="urn:microsoft.com/office/officeart/2005/8/layout/bProcess3"/>
    <dgm:cxn modelId="{F9C047B0-4B25-42F3-9276-2A9C39515625}" type="presParOf" srcId="{C0A4A978-9BB9-423A-AFF0-26EC07718772}" destId="{516E74C0-B499-4B47-BDE1-78B788FA9EE4}" srcOrd="0" destOrd="0" presId="urn:microsoft.com/office/officeart/2005/8/layout/bProcess3"/>
    <dgm:cxn modelId="{BA4E0033-D624-41DA-9837-95AD96BDE123}" type="presParOf" srcId="{C0A4A978-9BB9-423A-AFF0-26EC07718772}" destId="{30DB1EC3-A198-44DD-933E-B5DFCAF5D058}" srcOrd="1" destOrd="0" presId="urn:microsoft.com/office/officeart/2005/8/layout/bProcess3"/>
    <dgm:cxn modelId="{E4701010-EA97-4D95-9B37-891EE4A91F82}" type="presParOf" srcId="{30DB1EC3-A198-44DD-933E-B5DFCAF5D058}" destId="{37BD4B74-EF1B-48BD-BFCC-947CA1232C36}" srcOrd="0" destOrd="0" presId="urn:microsoft.com/office/officeart/2005/8/layout/bProcess3"/>
    <dgm:cxn modelId="{9CD19DA4-6EA2-4C91-92CE-F7E1FAD49D80}" type="presParOf" srcId="{C0A4A978-9BB9-423A-AFF0-26EC07718772}" destId="{0032A336-7B12-4C20-B090-372D93FAF188}" srcOrd="2" destOrd="0" presId="urn:microsoft.com/office/officeart/2005/8/layout/bProcess3"/>
    <dgm:cxn modelId="{639742A4-FB9F-499D-86E6-521EEAF64CC6}" type="presParOf" srcId="{C0A4A978-9BB9-423A-AFF0-26EC07718772}" destId="{405CCA24-7974-475A-91CE-8F8A1BD3FF27}" srcOrd="3" destOrd="0" presId="urn:microsoft.com/office/officeart/2005/8/layout/bProcess3"/>
    <dgm:cxn modelId="{FD6D4C76-9DD7-4AF6-84DD-BC063447277C}" type="presParOf" srcId="{405CCA24-7974-475A-91CE-8F8A1BD3FF27}" destId="{47C12A3F-5E79-478F-8E4B-322F8DFDA618}" srcOrd="0" destOrd="0" presId="urn:microsoft.com/office/officeart/2005/8/layout/bProcess3"/>
    <dgm:cxn modelId="{974E42C1-6A81-420C-A919-CED2755A8A36}" type="presParOf" srcId="{C0A4A978-9BB9-423A-AFF0-26EC07718772}" destId="{F084B0DC-B2F7-4424-BDFD-093E781BC98D}" srcOrd="4" destOrd="0" presId="urn:microsoft.com/office/officeart/2005/8/layout/bProcess3"/>
    <dgm:cxn modelId="{C1BB4B7C-FA82-4951-B66A-21508DA54508}" type="presParOf" srcId="{C0A4A978-9BB9-423A-AFF0-26EC07718772}" destId="{D87BE2A0-D0C6-477B-AC9C-70AB26E7EFB9}" srcOrd="5" destOrd="0" presId="urn:microsoft.com/office/officeart/2005/8/layout/bProcess3"/>
    <dgm:cxn modelId="{EB01F850-75CB-4203-927E-F1347CF4B090}" type="presParOf" srcId="{D87BE2A0-D0C6-477B-AC9C-70AB26E7EFB9}" destId="{A1DFE768-1C82-4844-BF04-DB6BFF2851E6}" srcOrd="0" destOrd="0" presId="urn:microsoft.com/office/officeart/2005/8/layout/bProcess3"/>
    <dgm:cxn modelId="{25BC3CA7-6475-451C-83FF-B832A25ACBCA}" type="presParOf" srcId="{C0A4A978-9BB9-423A-AFF0-26EC07718772}" destId="{427882C8-19AD-4530-99A2-D05B668E1FFD}" srcOrd="6" destOrd="0" presId="urn:microsoft.com/office/officeart/2005/8/layout/bProcess3"/>
    <dgm:cxn modelId="{19137734-A1CB-4CF5-B780-D948BBDF5B54}" type="presParOf" srcId="{C0A4A978-9BB9-423A-AFF0-26EC07718772}" destId="{42BA7BAD-5F3A-42B6-8679-D41914A35764}" srcOrd="7" destOrd="0" presId="urn:microsoft.com/office/officeart/2005/8/layout/bProcess3"/>
    <dgm:cxn modelId="{7C4387F4-0A7E-4E51-848B-A16F70066C61}" type="presParOf" srcId="{42BA7BAD-5F3A-42B6-8679-D41914A35764}" destId="{F081688B-0FDB-41DE-9FB0-BD92855AA7E0}" srcOrd="0" destOrd="0" presId="urn:microsoft.com/office/officeart/2005/8/layout/bProcess3"/>
    <dgm:cxn modelId="{F1F39927-427B-43EE-92C6-849136F435A9}" type="presParOf" srcId="{C0A4A978-9BB9-423A-AFF0-26EC07718772}" destId="{8AFD1B7C-0D4B-41DF-A3BA-0F5D28236BC6}" srcOrd="8" destOrd="0" presId="urn:microsoft.com/office/officeart/2005/8/layout/bProcess3"/>
    <dgm:cxn modelId="{A28E994E-417B-45EB-98F1-95C6066D010E}" type="presParOf" srcId="{C0A4A978-9BB9-423A-AFF0-26EC07718772}" destId="{C9F529A2-6FAB-4DEB-A4B9-8BEA8D8F8FC7}" srcOrd="9" destOrd="0" presId="urn:microsoft.com/office/officeart/2005/8/layout/bProcess3"/>
    <dgm:cxn modelId="{EF86F927-BABA-42DE-812F-C055600F68E9}" type="presParOf" srcId="{C9F529A2-6FAB-4DEB-A4B9-8BEA8D8F8FC7}" destId="{EBF91D04-3C10-455A-8F4D-2F79925BD6BE}" srcOrd="0" destOrd="0" presId="urn:microsoft.com/office/officeart/2005/8/layout/bProcess3"/>
    <dgm:cxn modelId="{0C496DEB-98FC-4AB6-8D34-D8332A12A7AA}" type="presParOf" srcId="{C0A4A978-9BB9-423A-AFF0-26EC07718772}" destId="{BBC6F3E8-71CD-46BC-957D-E3C5F15C03FB}" srcOrd="10" destOrd="0" presId="urn:microsoft.com/office/officeart/2005/8/layout/bProcess3"/>
    <dgm:cxn modelId="{B5B35896-8BAF-4A14-AF3E-7328167BDDBA}" type="presParOf" srcId="{C0A4A978-9BB9-423A-AFF0-26EC07718772}" destId="{8B98DAFC-0A6A-4A6A-9794-B31EB55370EC}" srcOrd="11" destOrd="0" presId="urn:microsoft.com/office/officeart/2005/8/layout/bProcess3"/>
    <dgm:cxn modelId="{3D805011-9F23-4B5A-8459-8335284466D5}" type="presParOf" srcId="{8B98DAFC-0A6A-4A6A-9794-B31EB55370EC}" destId="{725C917F-6C0E-4DEE-AA6B-681F4B78D8F1}" srcOrd="0" destOrd="0" presId="urn:microsoft.com/office/officeart/2005/8/layout/bProcess3"/>
    <dgm:cxn modelId="{EC14A521-1ECA-45EC-863E-87A43C0CC3F8}" type="presParOf" srcId="{C0A4A978-9BB9-423A-AFF0-26EC07718772}" destId="{196D3C61-9328-4DA7-893B-C198A62EA8BC}" srcOrd="12" destOrd="0" presId="urn:microsoft.com/office/officeart/2005/8/layout/bProcess3"/>
    <dgm:cxn modelId="{8C5347FA-4FF2-4B34-BB80-3704D1F8A8EE}" type="presParOf" srcId="{C0A4A978-9BB9-423A-AFF0-26EC07718772}" destId="{08D25261-8A90-46A0-97CB-3A563C7DE1DF}" srcOrd="13" destOrd="0" presId="urn:microsoft.com/office/officeart/2005/8/layout/bProcess3"/>
    <dgm:cxn modelId="{F864710D-5B0D-4AAA-9965-BBC7129E7DB2}" type="presParOf" srcId="{08D25261-8A90-46A0-97CB-3A563C7DE1DF}" destId="{E8853DAC-A87C-45F3-868D-92C5F1E19479}" srcOrd="0" destOrd="0" presId="urn:microsoft.com/office/officeart/2005/8/layout/bProcess3"/>
    <dgm:cxn modelId="{0598D8C6-8E6C-4A26-B0A6-1B799157831B}" type="presParOf" srcId="{C0A4A978-9BB9-423A-AFF0-26EC07718772}" destId="{7DF0E1FA-BE2B-4445-9369-6D7D76D94925}" srcOrd="14" destOrd="0" presId="urn:microsoft.com/office/officeart/2005/8/layout/bProcess3"/>
    <dgm:cxn modelId="{27D4B42D-7535-4A22-BD89-E7A8CF7026BF}" type="presParOf" srcId="{C0A4A978-9BB9-423A-AFF0-26EC07718772}" destId="{4146734D-63AA-4565-8D21-FA5E9E4587F2}" srcOrd="15" destOrd="0" presId="urn:microsoft.com/office/officeart/2005/8/layout/bProcess3"/>
    <dgm:cxn modelId="{D9314D55-F336-42CF-AC57-A59BC16F3951}" type="presParOf" srcId="{4146734D-63AA-4565-8D21-FA5E9E4587F2}" destId="{C1E14A15-FF6E-4BF6-A901-E8D03F03E648}" srcOrd="0" destOrd="0" presId="urn:microsoft.com/office/officeart/2005/8/layout/bProcess3"/>
    <dgm:cxn modelId="{2B50829D-1E7F-4EB2-891B-047BBFB9F4A8}" type="presParOf" srcId="{C0A4A978-9BB9-423A-AFF0-26EC07718772}" destId="{D3474578-2998-4D80-8FA9-59462C7B44C2}" srcOrd="16" destOrd="0" presId="urn:microsoft.com/office/officeart/2005/8/layout/bProcess3"/>
    <dgm:cxn modelId="{DF01725A-5F9B-425E-851A-D4D01A3D89B2}" type="presParOf" srcId="{C0A4A978-9BB9-423A-AFF0-26EC07718772}" destId="{71342E53-631D-4637-A3C8-6FCF500FEC3E}" srcOrd="17" destOrd="0" presId="urn:microsoft.com/office/officeart/2005/8/layout/bProcess3"/>
    <dgm:cxn modelId="{D44BC752-2F73-4B40-8FED-1AC975A2DCBD}" type="presParOf" srcId="{71342E53-631D-4637-A3C8-6FCF500FEC3E}" destId="{8EA81118-AF2D-48A9-A1A9-A6BB95285711}" srcOrd="0" destOrd="0" presId="urn:microsoft.com/office/officeart/2005/8/layout/bProcess3"/>
    <dgm:cxn modelId="{9D8121BC-9D74-46A3-94C2-E79B5DBD8875}" type="presParOf" srcId="{C0A4A978-9BB9-423A-AFF0-26EC07718772}" destId="{4B70F4AE-BB2A-4C3F-BB06-A447C2619006}" srcOrd="18" destOrd="0" presId="urn:microsoft.com/office/officeart/2005/8/layout/bProcess3"/>
    <dgm:cxn modelId="{9F14CB48-9190-4DBE-A716-AAC02A68477D}" type="presParOf" srcId="{C0A4A978-9BB9-423A-AFF0-26EC07718772}" destId="{23C799D1-A318-443C-B145-255B384E7EE1}" srcOrd="19" destOrd="0" presId="urn:microsoft.com/office/officeart/2005/8/layout/bProcess3"/>
    <dgm:cxn modelId="{8B017EFB-CF74-4700-8BCA-8F6A0D0E8C03}" type="presParOf" srcId="{23C799D1-A318-443C-B145-255B384E7EE1}" destId="{3D7D0A72-F357-42D4-BA93-22AF1925B9B5}" srcOrd="0" destOrd="0" presId="urn:microsoft.com/office/officeart/2005/8/layout/bProcess3"/>
    <dgm:cxn modelId="{A07C2E21-A3CE-4D7B-B0F5-97370A851E6B}" type="presParOf" srcId="{C0A4A978-9BB9-423A-AFF0-26EC07718772}" destId="{8905D163-3C1B-493B-ACD8-642AC4ECF16F}" srcOrd="2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C86C61-CF6D-4654-B106-F968F516D945}">
      <dsp:nvSpPr>
        <dsp:cNvPr id="0" name=""/>
        <dsp:cNvSpPr/>
      </dsp:nvSpPr>
      <dsp:spPr>
        <a:xfrm>
          <a:off x="1478" y="572637"/>
          <a:ext cx="2882260" cy="1152904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kern="1200" dirty="0"/>
            <a:t>申請人取得主管同意</a:t>
          </a:r>
        </a:p>
      </dsp:txBody>
      <dsp:txXfrm>
        <a:off x="1478" y="572637"/>
        <a:ext cx="2594034" cy="1152904"/>
      </dsp:txXfrm>
    </dsp:sp>
    <dsp:sp modelId="{000992D1-FB1D-4A12-A6E0-F2BE11C3A6E3}">
      <dsp:nvSpPr>
        <dsp:cNvPr id="0" name=""/>
        <dsp:cNvSpPr/>
      </dsp:nvSpPr>
      <dsp:spPr>
        <a:xfrm>
          <a:off x="2307286" y="572637"/>
          <a:ext cx="2882260" cy="1152904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kern="1200" dirty="0"/>
            <a:t>送請購單</a:t>
          </a:r>
        </a:p>
      </dsp:txBody>
      <dsp:txXfrm>
        <a:off x="2883738" y="572637"/>
        <a:ext cx="1729356" cy="1152904"/>
      </dsp:txXfrm>
    </dsp:sp>
    <dsp:sp modelId="{FE6DBF6B-E14C-47C3-AE42-52B5F58A2220}">
      <dsp:nvSpPr>
        <dsp:cNvPr id="0" name=""/>
        <dsp:cNvSpPr/>
      </dsp:nvSpPr>
      <dsp:spPr>
        <a:xfrm>
          <a:off x="4613095" y="572637"/>
          <a:ext cx="2882260" cy="1152904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kern="1200" dirty="0"/>
            <a:t>簽核完成</a:t>
          </a:r>
        </a:p>
      </dsp:txBody>
      <dsp:txXfrm>
        <a:off x="5189547" y="572637"/>
        <a:ext cx="1729356" cy="1152904"/>
      </dsp:txXfrm>
    </dsp:sp>
    <dsp:sp modelId="{BA7CFD98-0399-46FD-ADFE-2D6DFD611B5D}">
      <dsp:nvSpPr>
        <dsp:cNvPr id="0" name=""/>
        <dsp:cNvSpPr/>
      </dsp:nvSpPr>
      <dsp:spPr>
        <a:xfrm>
          <a:off x="6918903" y="572637"/>
          <a:ext cx="2882260" cy="1152904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kern="1200" dirty="0"/>
            <a:t>通知</a:t>
          </a:r>
          <a:r>
            <a:rPr lang="zh-TW" altLang="en-US" sz="2000" b="1" kern="1200" dirty="0">
              <a:solidFill>
                <a:schemeClr val="accent2"/>
              </a:solidFill>
            </a:rPr>
            <a:t>財務長</a:t>
          </a:r>
          <a:endParaRPr lang="en-US" altLang="zh-TW" sz="2000" b="1" kern="1200" dirty="0">
            <a:solidFill>
              <a:schemeClr val="accent2"/>
            </a:solidFill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kern="1200" dirty="0"/>
            <a:t>刷卡</a:t>
          </a:r>
        </a:p>
      </dsp:txBody>
      <dsp:txXfrm>
        <a:off x="7495355" y="572637"/>
        <a:ext cx="1729356" cy="1152904"/>
      </dsp:txXfrm>
    </dsp:sp>
    <dsp:sp modelId="{D51DCC39-A179-4142-B80B-0F50FF0BA658}">
      <dsp:nvSpPr>
        <dsp:cNvPr id="0" name=""/>
        <dsp:cNvSpPr/>
      </dsp:nvSpPr>
      <dsp:spPr>
        <a:xfrm>
          <a:off x="9224712" y="572637"/>
          <a:ext cx="2882260" cy="1152904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kern="1200" dirty="0"/>
            <a:t>刷卡完成，待出納通知核銷</a:t>
          </a:r>
        </a:p>
      </dsp:txBody>
      <dsp:txXfrm>
        <a:off x="9801164" y="572637"/>
        <a:ext cx="1729356" cy="11529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716A1C-79E5-4327-94C2-42D5E0D4D259}">
      <dsp:nvSpPr>
        <dsp:cNvPr id="0" name=""/>
        <dsp:cNvSpPr/>
      </dsp:nvSpPr>
      <dsp:spPr>
        <a:xfrm>
          <a:off x="2500699" y="668650"/>
          <a:ext cx="5159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5939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2745005" y="711638"/>
        <a:ext cx="27326" cy="5465"/>
      </dsp:txXfrm>
    </dsp:sp>
    <dsp:sp modelId="{2CD547C2-973B-4FE0-A782-2614681A91FD}">
      <dsp:nvSpPr>
        <dsp:cNvPr id="0" name=""/>
        <dsp:cNvSpPr/>
      </dsp:nvSpPr>
      <dsp:spPr>
        <a:xfrm>
          <a:off x="126242" y="1493"/>
          <a:ext cx="2376257" cy="1425754"/>
        </a:xfrm>
        <a:prstGeom prst="rect">
          <a:avLst/>
        </a:prstGeom>
        <a:solidFill>
          <a:srgbClr val="FFCC66"/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/>
            <a:t>申請人送出</a:t>
          </a:r>
          <a:endParaRPr lang="en-US" altLang="zh-TW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/>
            <a:t>預支單</a:t>
          </a:r>
        </a:p>
      </dsp:txBody>
      <dsp:txXfrm>
        <a:off x="126242" y="1493"/>
        <a:ext cx="2376257" cy="1425754"/>
      </dsp:txXfrm>
    </dsp:sp>
    <dsp:sp modelId="{CEB90D32-FA94-48A4-B959-AE1929044923}">
      <dsp:nvSpPr>
        <dsp:cNvPr id="0" name=""/>
        <dsp:cNvSpPr/>
      </dsp:nvSpPr>
      <dsp:spPr>
        <a:xfrm>
          <a:off x="5423496" y="668650"/>
          <a:ext cx="5159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5939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5667802" y="711638"/>
        <a:ext cx="27326" cy="5465"/>
      </dsp:txXfrm>
    </dsp:sp>
    <dsp:sp modelId="{17092DD9-6249-4108-B722-630965F0738D}">
      <dsp:nvSpPr>
        <dsp:cNvPr id="0" name=""/>
        <dsp:cNvSpPr/>
      </dsp:nvSpPr>
      <dsp:spPr>
        <a:xfrm>
          <a:off x="3049038" y="1493"/>
          <a:ext cx="2376257" cy="1425754"/>
        </a:xfrm>
        <a:prstGeom prst="rect">
          <a:avLst/>
        </a:prstGeom>
        <a:solidFill>
          <a:srgbClr val="FFCC66"/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/>
            <a:t>預支單簽核完畢</a:t>
          </a:r>
        </a:p>
      </dsp:txBody>
      <dsp:txXfrm>
        <a:off x="3049038" y="1493"/>
        <a:ext cx="2376257" cy="1425754"/>
      </dsp:txXfrm>
    </dsp:sp>
    <dsp:sp modelId="{F8D3F0F1-1F62-4A3C-834A-731C9D0EC531}">
      <dsp:nvSpPr>
        <dsp:cNvPr id="0" name=""/>
        <dsp:cNvSpPr/>
      </dsp:nvSpPr>
      <dsp:spPr>
        <a:xfrm>
          <a:off x="8346293" y="668650"/>
          <a:ext cx="5159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5939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8590599" y="711638"/>
        <a:ext cx="27326" cy="5465"/>
      </dsp:txXfrm>
    </dsp:sp>
    <dsp:sp modelId="{746A163B-3A5F-47DB-9A1D-37F8CE8E8E45}">
      <dsp:nvSpPr>
        <dsp:cNvPr id="0" name=""/>
        <dsp:cNvSpPr/>
      </dsp:nvSpPr>
      <dsp:spPr>
        <a:xfrm>
          <a:off x="5971835" y="1493"/>
          <a:ext cx="2376257" cy="14257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/>
            <a:t>出納作帳</a:t>
          </a:r>
          <a:endParaRPr lang="en-US" altLang="zh-TW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/>
            <a:t>主管覆核</a:t>
          </a:r>
        </a:p>
      </dsp:txBody>
      <dsp:txXfrm>
        <a:off x="5971835" y="1493"/>
        <a:ext cx="2376257" cy="1425754"/>
      </dsp:txXfrm>
    </dsp:sp>
    <dsp:sp modelId="{83B7BB6B-3230-42B9-A54B-9F08CF4615C4}">
      <dsp:nvSpPr>
        <dsp:cNvPr id="0" name=""/>
        <dsp:cNvSpPr/>
      </dsp:nvSpPr>
      <dsp:spPr>
        <a:xfrm>
          <a:off x="1314370" y="1425448"/>
          <a:ext cx="8768390" cy="515939"/>
        </a:xfrm>
        <a:custGeom>
          <a:avLst/>
          <a:gdLst/>
          <a:ahLst/>
          <a:cxnLst/>
          <a:rect l="0" t="0" r="0" b="0"/>
          <a:pathLst>
            <a:path>
              <a:moveTo>
                <a:pt x="8768390" y="0"/>
              </a:moveTo>
              <a:lnTo>
                <a:pt x="8768390" y="275069"/>
              </a:lnTo>
              <a:lnTo>
                <a:pt x="0" y="275069"/>
              </a:lnTo>
              <a:lnTo>
                <a:pt x="0" y="515939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5478930" y="1680684"/>
        <a:ext cx="439270" cy="5465"/>
      </dsp:txXfrm>
    </dsp:sp>
    <dsp:sp modelId="{81CA6A34-12BD-466D-94AE-21B0179D8111}">
      <dsp:nvSpPr>
        <dsp:cNvPr id="0" name=""/>
        <dsp:cNvSpPr/>
      </dsp:nvSpPr>
      <dsp:spPr>
        <a:xfrm>
          <a:off x="8894632" y="1493"/>
          <a:ext cx="2376257" cy="14257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/>
            <a:t>網銀放行，</a:t>
          </a:r>
          <a:endParaRPr lang="en-US" altLang="zh-TW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/>
            <a:t>交易進入排程</a:t>
          </a:r>
        </a:p>
      </dsp:txBody>
      <dsp:txXfrm>
        <a:off x="8894632" y="1493"/>
        <a:ext cx="2376257" cy="1425754"/>
      </dsp:txXfrm>
    </dsp:sp>
    <dsp:sp modelId="{F31FE2B4-E04E-45E3-9D25-463172F71C28}">
      <dsp:nvSpPr>
        <dsp:cNvPr id="0" name=""/>
        <dsp:cNvSpPr/>
      </dsp:nvSpPr>
      <dsp:spPr>
        <a:xfrm>
          <a:off x="2500699" y="2640944"/>
          <a:ext cx="5159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5939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2745005" y="2683931"/>
        <a:ext cx="27326" cy="5465"/>
      </dsp:txXfrm>
    </dsp:sp>
    <dsp:sp modelId="{BD281894-2BB5-416C-B259-22128837B80F}">
      <dsp:nvSpPr>
        <dsp:cNvPr id="0" name=""/>
        <dsp:cNvSpPr/>
      </dsp:nvSpPr>
      <dsp:spPr>
        <a:xfrm>
          <a:off x="126242" y="1973787"/>
          <a:ext cx="2376257" cy="14257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/>
            <a:t>匯出款項</a:t>
          </a:r>
        </a:p>
      </dsp:txBody>
      <dsp:txXfrm>
        <a:off x="126242" y="1973787"/>
        <a:ext cx="2376257" cy="1425754"/>
      </dsp:txXfrm>
    </dsp:sp>
    <dsp:sp modelId="{B10FE24A-1F86-493B-82C0-24B77F23A17F}">
      <dsp:nvSpPr>
        <dsp:cNvPr id="0" name=""/>
        <dsp:cNvSpPr/>
      </dsp:nvSpPr>
      <dsp:spPr>
        <a:xfrm>
          <a:off x="5423496" y="2640944"/>
          <a:ext cx="5159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5939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5667802" y="2683931"/>
        <a:ext cx="27326" cy="5465"/>
      </dsp:txXfrm>
    </dsp:sp>
    <dsp:sp modelId="{E0CB9E85-FD0B-4203-B441-C2F4F9FC620E}">
      <dsp:nvSpPr>
        <dsp:cNvPr id="0" name=""/>
        <dsp:cNvSpPr/>
      </dsp:nvSpPr>
      <dsp:spPr>
        <a:xfrm>
          <a:off x="3049038" y="1973787"/>
          <a:ext cx="2376257" cy="14257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/>
            <a:t>出納</a:t>
          </a:r>
          <a:r>
            <a:rPr lang="en-US" altLang="zh-TW" sz="1800" b="1" kern="1200" dirty="0"/>
            <a:t>mail</a:t>
          </a:r>
          <a:r>
            <a:rPr lang="zh-TW" altLang="en-US" sz="1800" b="1" kern="1200" dirty="0"/>
            <a:t>匯款證明給申請人</a:t>
          </a:r>
        </a:p>
      </dsp:txBody>
      <dsp:txXfrm>
        <a:off x="3049038" y="1973787"/>
        <a:ext cx="2376257" cy="1425754"/>
      </dsp:txXfrm>
    </dsp:sp>
    <dsp:sp modelId="{97765191-86CE-4921-A17A-C0E11ACA9331}">
      <dsp:nvSpPr>
        <dsp:cNvPr id="0" name=""/>
        <dsp:cNvSpPr/>
      </dsp:nvSpPr>
      <dsp:spPr>
        <a:xfrm>
          <a:off x="8346293" y="2640944"/>
          <a:ext cx="5159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5939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8590599" y="2683931"/>
        <a:ext cx="27326" cy="5465"/>
      </dsp:txXfrm>
    </dsp:sp>
    <dsp:sp modelId="{A8BCFEE6-3A38-49D3-8A6E-2940BD99C6B2}">
      <dsp:nvSpPr>
        <dsp:cNvPr id="0" name=""/>
        <dsp:cNvSpPr/>
      </dsp:nvSpPr>
      <dsp:spPr>
        <a:xfrm>
          <a:off x="5971835" y="1973787"/>
          <a:ext cx="2376257" cy="1425754"/>
        </a:xfrm>
        <a:prstGeom prst="rect">
          <a:avLst/>
        </a:prstGeom>
        <a:solidFill>
          <a:srgbClr val="FFCC66"/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/>
            <a:t>申請人取得憑證並送出表單核銷</a:t>
          </a:r>
        </a:p>
      </dsp:txBody>
      <dsp:txXfrm>
        <a:off x="5971835" y="1973787"/>
        <a:ext cx="2376257" cy="1425754"/>
      </dsp:txXfrm>
    </dsp:sp>
    <dsp:sp modelId="{A6C72212-CAF3-472B-9D2C-66ECA38BA4E9}">
      <dsp:nvSpPr>
        <dsp:cNvPr id="0" name=""/>
        <dsp:cNvSpPr/>
      </dsp:nvSpPr>
      <dsp:spPr>
        <a:xfrm>
          <a:off x="1314370" y="3397741"/>
          <a:ext cx="8768390" cy="515939"/>
        </a:xfrm>
        <a:custGeom>
          <a:avLst/>
          <a:gdLst/>
          <a:ahLst/>
          <a:cxnLst/>
          <a:rect l="0" t="0" r="0" b="0"/>
          <a:pathLst>
            <a:path>
              <a:moveTo>
                <a:pt x="8768390" y="0"/>
              </a:moveTo>
              <a:lnTo>
                <a:pt x="8768390" y="275069"/>
              </a:lnTo>
              <a:lnTo>
                <a:pt x="0" y="275069"/>
              </a:lnTo>
              <a:lnTo>
                <a:pt x="0" y="515939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5478930" y="3652978"/>
        <a:ext cx="439270" cy="5465"/>
      </dsp:txXfrm>
    </dsp:sp>
    <dsp:sp modelId="{4C3A51FE-81E9-47A4-90E3-FAD3E26EE778}">
      <dsp:nvSpPr>
        <dsp:cNvPr id="0" name=""/>
        <dsp:cNvSpPr/>
      </dsp:nvSpPr>
      <dsp:spPr>
        <a:xfrm>
          <a:off x="8894632" y="1973787"/>
          <a:ext cx="2376257" cy="1425754"/>
        </a:xfrm>
        <a:prstGeom prst="rect">
          <a:avLst/>
        </a:prstGeom>
        <a:solidFill>
          <a:srgbClr val="FFCC66"/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/>
            <a:t>有剩餘款須匯款繳回至出納指定帳戶</a:t>
          </a:r>
        </a:p>
      </dsp:txBody>
      <dsp:txXfrm>
        <a:off x="8894632" y="1973787"/>
        <a:ext cx="2376257" cy="1425754"/>
      </dsp:txXfrm>
    </dsp:sp>
    <dsp:sp modelId="{CAF85853-1A6B-4F9E-AE9C-F6CB0D8A418E}">
      <dsp:nvSpPr>
        <dsp:cNvPr id="0" name=""/>
        <dsp:cNvSpPr/>
      </dsp:nvSpPr>
      <dsp:spPr>
        <a:xfrm>
          <a:off x="126242" y="3946080"/>
          <a:ext cx="2376257" cy="14257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/>
            <a:t>簽核完畢</a:t>
          </a:r>
          <a:endParaRPr lang="en-US" altLang="zh-TW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/>
            <a:t>表單結束</a:t>
          </a:r>
        </a:p>
      </dsp:txBody>
      <dsp:txXfrm>
        <a:off x="126242" y="3946080"/>
        <a:ext cx="2376257" cy="14257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B1EC3-A198-44DD-933E-B5DFCAF5D058}">
      <dsp:nvSpPr>
        <dsp:cNvPr id="0" name=""/>
        <dsp:cNvSpPr/>
      </dsp:nvSpPr>
      <dsp:spPr>
        <a:xfrm>
          <a:off x="2444654" y="669727"/>
          <a:ext cx="5166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6696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2689319" y="712710"/>
        <a:ext cx="27364" cy="5472"/>
      </dsp:txXfrm>
    </dsp:sp>
    <dsp:sp modelId="{516E74C0-B499-4B47-BDE1-78B788FA9EE4}">
      <dsp:nvSpPr>
        <dsp:cNvPr id="0" name=""/>
        <dsp:cNvSpPr/>
      </dsp:nvSpPr>
      <dsp:spPr>
        <a:xfrm>
          <a:off x="66905" y="1582"/>
          <a:ext cx="2379548" cy="1427729"/>
        </a:xfrm>
        <a:prstGeom prst="rect">
          <a:avLst/>
        </a:prstGeom>
        <a:solidFill>
          <a:srgbClr val="FFCC66"/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b="1" kern="1200" dirty="0"/>
            <a:t>申請人送出預支單</a:t>
          </a:r>
          <a:endParaRPr lang="zh-TW" altLang="en-US" sz="1400" kern="1200" dirty="0"/>
        </a:p>
      </dsp:txBody>
      <dsp:txXfrm>
        <a:off x="66905" y="1582"/>
        <a:ext cx="2379548" cy="1427729"/>
      </dsp:txXfrm>
    </dsp:sp>
    <dsp:sp modelId="{405CCA24-7974-475A-91CE-8F8A1BD3FF27}">
      <dsp:nvSpPr>
        <dsp:cNvPr id="0" name=""/>
        <dsp:cNvSpPr/>
      </dsp:nvSpPr>
      <dsp:spPr>
        <a:xfrm>
          <a:off x="5371498" y="669727"/>
          <a:ext cx="5166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6696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5616164" y="712710"/>
        <a:ext cx="27364" cy="5472"/>
      </dsp:txXfrm>
    </dsp:sp>
    <dsp:sp modelId="{0032A336-7B12-4C20-B090-372D93FAF188}">
      <dsp:nvSpPr>
        <dsp:cNvPr id="0" name=""/>
        <dsp:cNvSpPr/>
      </dsp:nvSpPr>
      <dsp:spPr>
        <a:xfrm>
          <a:off x="2993750" y="1582"/>
          <a:ext cx="2379548" cy="1427729"/>
        </a:xfrm>
        <a:prstGeom prst="rect">
          <a:avLst/>
        </a:prstGeom>
        <a:solidFill>
          <a:srgbClr val="FFCC66"/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b="1" kern="1200" dirty="0"/>
            <a:t>預支單簽核完畢</a:t>
          </a:r>
          <a:endParaRPr lang="zh-TW" altLang="en-US" sz="1400" kern="1200" dirty="0"/>
        </a:p>
      </dsp:txBody>
      <dsp:txXfrm>
        <a:off x="2993750" y="1582"/>
        <a:ext cx="2379548" cy="1427729"/>
      </dsp:txXfrm>
    </dsp:sp>
    <dsp:sp modelId="{D87BE2A0-D0C6-477B-AC9C-70AB26E7EFB9}">
      <dsp:nvSpPr>
        <dsp:cNvPr id="0" name=""/>
        <dsp:cNvSpPr/>
      </dsp:nvSpPr>
      <dsp:spPr>
        <a:xfrm>
          <a:off x="8298343" y="669727"/>
          <a:ext cx="5166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6696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8543009" y="712710"/>
        <a:ext cx="27364" cy="5472"/>
      </dsp:txXfrm>
    </dsp:sp>
    <dsp:sp modelId="{F084B0DC-B2F7-4424-BDFD-093E781BC98D}">
      <dsp:nvSpPr>
        <dsp:cNvPr id="0" name=""/>
        <dsp:cNvSpPr/>
      </dsp:nvSpPr>
      <dsp:spPr>
        <a:xfrm>
          <a:off x="5920595" y="1582"/>
          <a:ext cx="2379548" cy="14277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b="1" kern="1200" dirty="0"/>
            <a:t>出納作帳，主管覆核</a:t>
          </a:r>
          <a:endParaRPr lang="zh-TW" altLang="en-US" sz="1400" kern="1200" dirty="0"/>
        </a:p>
      </dsp:txBody>
      <dsp:txXfrm>
        <a:off x="5920595" y="1582"/>
        <a:ext cx="2379548" cy="1427729"/>
      </dsp:txXfrm>
    </dsp:sp>
    <dsp:sp modelId="{42BA7BAD-5F3A-42B6-8679-D41914A35764}">
      <dsp:nvSpPr>
        <dsp:cNvPr id="0" name=""/>
        <dsp:cNvSpPr/>
      </dsp:nvSpPr>
      <dsp:spPr>
        <a:xfrm>
          <a:off x="1256680" y="1427511"/>
          <a:ext cx="8780533" cy="516696"/>
        </a:xfrm>
        <a:custGeom>
          <a:avLst/>
          <a:gdLst/>
          <a:ahLst/>
          <a:cxnLst/>
          <a:rect l="0" t="0" r="0" b="0"/>
          <a:pathLst>
            <a:path>
              <a:moveTo>
                <a:pt x="8780533" y="0"/>
              </a:moveTo>
              <a:lnTo>
                <a:pt x="8780533" y="275448"/>
              </a:lnTo>
              <a:lnTo>
                <a:pt x="0" y="275448"/>
              </a:lnTo>
              <a:lnTo>
                <a:pt x="0" y="516696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5427007" y="1683123"/>
        <a:ext cx="439878" cy="5472"/>
      </dsp:txXfrm>
    </dsp:sp>
    <dsp:sp modelId="{427882C8-19AD-4530-99A2-D05B668E1FFD}">
      <dsp:nvSpPr>
        <dsp:cNvPr id="0" name=""/>
        <dsp:cNvSpPr/>
      </dsp:nvSpPr>
      <dsp:spPr>
        <a:xfrm>
          <a:off x="8847439" y="1582"/>
          <a:ext cx="2379548" cy="14277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b="1" kern="1200" dirty="0"/>
            <a:t>處長覆核，取款條用印</a:t>
          </a:r>
        </a:p>
      </dsp:txBody>
      <dsp:txXfrm>
        <a:off x="8847439" y="1582"/>
        <a:ext cx="2379548" cy="1427729"/>
      </dsp:txXfrm>
    </dsp:sp>
    <dsp:sp modelId="{C9F529A2-6FAB-4DEB-A4B9-8BEA8D8F8FC7}">
      <dsp:nvSpPr>
        <dsp:cNvPr id="0" name=""/>
        <dsp:cNvSpPr/>
      </dsp:nvSpPr>
      <dsp:spPr>
        <a:xfrm>
          <a:off x="2444654" y="2644752"/>
          <a:ext cx="5166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6696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2689319" y="2687736"/>
        <a:ext cx="27364" cy="5472"/>
      </dsp:txXfrm>
    </dsp:sp>
    <dsp:sp modelId="{8AFD1B7C-0D4B-41DF-A3BA-0F5D28236BC6}">
      <dsp:nvSpPr>
        <dsp:cNvPr id="0" name=""/>
        <dsp:cNvSpPr/>
      </dsp:nvSpPr>
      <dsp:spPr>
        <a:xfrm>
          <a:off x="66905" y="1976607"/>
          <a:ext cx="2379548" cy="14277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b="1" kern="1200" dirty="0"/>
            <a:t>銀行取款、開立支票</a:t>
          </a:r>
        </a:p>
      </dsp:txBody>
      <dsp:txXfrm>
        <a:off x="66905" y="1976607"/>
        <a:ext cx="2379548" cy="1427729"/>
      </dsp:txXfrm>
    </dsp:sp>
    <dsp:sp modelId="{8B98DAFC-0A6A-4A6A-9794-B31EB55370EC}">
      <dsp:nvSpPr>
        <dsp:cNvPr id="0" name=""/>
        <dsp:cNvSpPr/>
      </dsp:nvSpPr>
      <dsp:spPr>
        <a:xfrm>
          <a:off x="5371498" y="2644752"/>
          <a:ext cx="5166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6696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5616164" y="2687736"/>
        <a:ext cx="27364" cy="5472"/>
      </dsp:txXfrm>
    </dsp:sp>
    <dsp:sp modelId="{BBC6F3E8-71CD-46BC-957D-E3C5F15C03FB}">
      <dsp:nvSpPr>
        <dsp:cNvPr id="0" name=""/>
        <dsp:cNvSpPr/>
      </dsp:nvSpPr>
      <dsp:spPr>
        <a:xfrm>
          <a:off x="2993750" y="1976607"/>
          <a:ext cx="2379548" cy="1427729"/>
        </a:xfrm>
        <a:prstGeom prst="rect">
          <a:avLst/>
        </a:prstGeom>
        <a:solidFill>
          <a:srgbClr val="FFCC66"/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b="1" kern="1200" dirty="0"/>
            <a:t>申請人於預計取款日領取</a:t>
          </a:r>
          <a:endParaRPr lang="en-US" altLang="zh-TW" sz="1400" b="1" kern="1200" dirty="0"/>
        </a:p>
      </dsp:txBody>
      <dsp:txXfrm>
        <a:off x="2993750" y="1976607"/>
        <a:ext cx="2379548" cy="1427729"/>
      </dsp:txXfrm>
    </dsp:sp>
    <dsp:sp modelId="{08D25261-8A90-46A0-97CB-3A563C7DE1DF}">
      <dsp:nvSpPr>
        <dsp:cNvPr id="0" name=""/>
        <dsp:cNvSpPr/>
      </dsp:nvSpPr>
      <dsp:spPr>
        <a:xfrm>
          <a:off x="8298343" y="2644752"/>
          <a:ext cx="5166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6696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8543009" y="2687736"/>
        <a:ext cx="27364" cy="5472"/>
      </dsp:txXfrm>
    </dsp:sp>
    <dsp:sp modelId="{196D3C61-9328-4DA7-893B-C198A62EA8BC}">
      <dsp:nvSpPr>
        <dsp:cNvPr id="0" name=""/>
        <dsp:cNvSpPr/>
      </dsp:nvSpPr>
      <dsp:spPr>
        <a:xfrm>
          <a:off x="5920595" y="1976607"/>
          <a:ext cx="2379548" cy="1427729"/>
        </a:xfrm>
        <a:prstGeom prst="rect">
          <a:avLst/>
        </a:prstGeom>
        <a:solidFill>
          <a:srgbClr val="FFCC66"/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b="1" kern="1200" dirty="0"/>
            <a:t>申請人取得憑證後送出核銷</a:t>
          </a:r>
          <a:endParaRPr lang="en-US" altLang="zh-TW" sz="1400" b="1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b="1" kern="1200" dirty="0"/>
            <a:t>(</a:t>
          </a:r>
          <a:r>
            <a:rPr lang="zh-TW" altLang="en-US" sz="1400" b="1" kern="1200" dirty="0"/>
            <a:t>憑證核銷檢附文件詳申購單內容</a:t>
          </a:r>
          <a:r>
            <a:rPr lang="en-US" altLang="zh-TW" sz="1400" b="1" kern="1200" dirty="0"/>
            <a:t>)</a:t>
          </a:r>
          <a:endParaRPr lang="zh-TW" altLang="en-US" sz="1400" b="1" kern="1200" dirty="0"/>
        </a:p>
      </dsp:txBody>
      <dsp:txXfrm>
        <a:off x="5920595" y="1976607"/>
        <a:ext cx="2379548" cy="1427729"/>
      </dsp:txXfrm>
    </dsp:sp>
    <dsp:sp modelId="{4146734D-63AA-4565-8D21-FA5E9E4587F2}">
      <dsp:nvSpPr>
        <dsp:cNvPr id="0" name=""/>
        <dsp:cNvSpPr/>
      </dsp:nvSpPr>
      <dsp:spPr>
        <a:xfrm>
          <a:off x="1256680" y="3402537"/>
          <a:ext cx="8780533" cy="516696"/>
        </a:xfrm>
        <a:custGeom>
          <a:avLst/>
          <a:gdLst/>
          <a:ahLst/>
          <a:cxnLst/>
          <a:rect l="0" t="0" r="0" b="0"/>
          <a:pathLst>
            <a:path>
              <a:moveTo>
                <a:pt x="8780533" y="0"/>
              </a:moveTo>
              <a:lnTo>
                <a:pt x="8780533" y="275448"/>
              </a:lnTo>
              <a:lnTo>
                <a:pt x="0" y="275448"/>
              </a:lnTo>
              <a:lnTo>
                <a:pt x="0" y="516696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5427007" y="3658148"/>
        <a:ext cx="439878" cy="5472"/>
      </dsp:txXfrm>
    </dsp:sp>
    <dsp:sp modelId="{7DF0E1FA-BE2B-4445-9369-6D7D76D94925}">
      <dsp:nvSpPr>
        <dsp:cNvPr id="0" name=""/>
        <dsp:cNvSpPr/>
      </dsp:nvSpPr>
      <dsp:spPr>
        <a:xfrm>
          <a:off x="8847439" y="1976607"/>
          <a:ext cx="2379548" cy="1427729"/>
        </a:xfrm>
        <a:prstGeom prst="rect">
          <a:avLst/>
        </a:prstGeom>
        <a:solidFill>
          <a:srgbClr val="FFCC66"/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b="1" kern="1200" dirty="0"/>
            <a:t>1.</a:t>
          </a:r>
          <a:r>
            <a:rPr lang="zh-TW" altLang="en-US" sz="1400" b="1" kern="1200" dirty="0"/>
            <a:t>現金餘額繳回給出納</a:t>
          </a:r>
          <a:r>
            <a:rPr lang="en-US" altLang="zh-TW" sz="1400" b="1" kern="1200" dirty="0"/>
            <a:t>(</a:t>
          </a:r>
          <a:r>
            <a:rPr lang="zh-TW" altLang="en-US" sz="1400" b="1" kern="1200" dirty="0"/>
            <a:t>須</a:t>
          </a:r>
          <a:r>
            <a:rPr lang="zh-TW" altLang="en-US" sz="1400" b="1" kern="1200" dirty="0">
              <a:solidFill>
                <a:srgbClr val="FF0000"/>
              </a:solidFill>
            </a:rPr>
            <a:t>提供繳回的預支單編號</a:t>
          </a:r>
          <a:r>
            <a:rPr lang="en-US" altLang="zh-TW" sz="1400" b="1" kern="1200" dirty="0"/>
            <a:t>)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b="1" kern="1200" dirty="0"/>
            <a:t>2.</a:t>
          </a:r>
          <a:r>
            <a:rPr lang="zh-TW" altLang="en-US" sz="1400" b="1" kern="1200" dirty="0"/>
            <a:t>代墊部分於表單簽核完畢後於每週四撥款給同仁</a:t>
          </a:r>
        </a:p>
      </dsp:txBody>
      <dsp:txXfrm>
        <a:off x="8847439" y="1976607"/>
        <a:ext cx="2379548" cy="1427729"/>
      </dsp:txXfrm>
    </dsp:sp>
    <dsp:sp modelId="{D3474578-2998-4D80-8FA9-59462C7B44C2}">
      <dsp:nvSpPr>
        <dsp:cNvPr id="0" name=""/>
        <dsp:cNvSpPr/>
      </dsp:nvSpPr>
      <dsp:spPr>
        <a:xfrm>
          <a:off x="66905" y="3951633"/>
          <a:ext cx="2379548" cy="14277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b="1" kern="1200" dirty="0"/>
            <a:t>簽核完畢，表單結束</a:t>
          </a:r>
        </a:p>
      </dsp:txBody>
      <dsp:txXfrm>
        <a:off x="66905" y="3951633"/>
        <a:ext cx="2379548" cy="14277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4E6921-7CCA-486E-B12E-FBD9EBA13815}">
      <dsp:nvSpPr>
        <dsp:cNvPr id="0" name=""/>
        <dsp:cNvSpPr/>
      </dsp:nvSpPr>
      <dsp:spPr>
        <a:xfrm>
          <a:off x="-2729760" y="-420943"/>
          <a:ext cx="3257835" cy="3257835"/>
        </a:xfrm>
        <a:prstGeom prst="blockArc">
          <a:avLst>
            <a:gd name="adj1" fmla="val 18900000"/>
            <a:gd name="adj2" fmla="val 2700000"/>
            <a:gd name="adj3" fmla="val 663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BF3C49-713B-42A3-BDEC-77DE9A452A3A}">
      <dsp:nvSpPr>
        <dsp:cNvPr id="0" name=""/>
        <dsp:cNvSpPr/>
      </dsp:nvSpPr>
      <dsp:spPr>
        <a:xfrm>
          <a:off x="339516" y="241594"/>
          <a:ext cx="10963697" cy="4831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3532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1" kern="1200" dirty="0"/>
            <a:t>用途：同一個專案有多人匯款需求，可填一筆預支單即可</a:t>
          </a:r>
        </a:p>
      </dsp:txBody>
      <dsp:txXfrm>
        <a:off x="339516" y="241594"/>
        <a:ext cx="10963697" cy="483189"/>
      </dsp:txXfrm>
    </dsp:sp>
    <dsp:sp modelId="{0C10BBDC-A000-4786-BE81-57F2F9D13C2D}">
      <dsp:nvSpPr>
        <dsp:cNvPr id="0" name=""/>
        <dsp:cNvSpPr/>
      </dsp:nvSpPr>
      <dsp:spPr>
        <a:xfrm>
          <a:off x="37522" y="181196"/>
          <a:ext cx="603987" cy="60398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F469D6-48CF-4C6A-A8C3-BE4933E915A5}">
      <dsp:nvSpPr>
        <dsp:cNvPr id="0" name=""/>
        <dsp:cNvSpPr/>
      </dsp:nvSpPr>
      <dsp:spPr>
        <a:xfrm>
          <a:off x="515155" y="966379"/>
          <a:ext cx="10788057" cy="4831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3532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1" kern="1200" dirty="0"/>
            <a:t>文件下載路徑：文件中心→通用文件→</a:t>
          </a:r>
          <a:r>
            <a:rPr lang="en-US" altLang="zh-TW" sz="1600" b="1" kern="1200" dirty="0"/>
            <a:t>(</a:t>
          </a:r>
          <a:r>
            <a:rPr lang="zh-TW" altLang="en-US" sz="1600" b="1" kern="1200" dirty="0"/>
            <a:t>預支單附件</a:t>
          </a:r>
          <a:r>
            <a:rPr lang="en-US" altLang="zh-TW" sz="1600" b="1" kern="1200" dirty="0"/>
            <a:t>)</a:t>
          </a:r>
          <a:r>
            <a:rPr lang="zh-TW" altLang="en-US" sz="1600" b="1" kern="1200" dirty="0"/>
            <a:t>預支多人匯款清單</a:t>
          </a:r>
          <a:r>
            <a:rPr lang="en-US" altLang="zh-TW" sz="1600" b="1" kern="1200" dirty="0"/>
            <a:t>112.06</a:t>
          </a:r>
          <a:r>
            <a:rPr lang="zh-TW" altLang="en-US" sz="1600" b="1" kern="1200" dirty="0"/>
            <a:t>更新</a:t>
          </a:r>
        </a:p>
      </dsp:txBody>
      <dsp:txXfrm>
        <a:off x="515155" y="966379"/>
        <a:ext cx="10788057" cy="483189"/>
      </dsp:txXfrm>
    </dsp:sp>
    <dsp:sp modelId="{47C35BAC-5778-47EC-B90E-DFA92A4D6D8F}">
      <dsp:nvSpPr>
        <dsp:cNvPr id="0" name=""/>
        <dsp:cNvSpPr/>
      </dsp:nvSpPr>
      <dsp:spPr>
        <a:xfrm>
          <a:off x="213162" y="905980"/>
          <a:ext cx="603987" cy="60398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97238A-7FB7-445E-B98B-1B61EC5CD8CB}">
      <dsp:nvSpPr>
        <dsp:cNvPr id="0" name=""/>
        <dsp:cNvSpPr/>
      </dsp:nvSpPr>
      <dsp:spPr>
        <a:xfrm>
          <a:off x="339516" y="1691164"/>
          <a:ext cx="10963697" cy="4831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3532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1" kern="1200" dirty="0"/>
            <a:t>預支說明 ：內容參考如下，匯款清單檔案下載後，依指示填入受款人資訊、帳戶檔案，並</a:t>
          </a:r>
          <a:r>
            <a:rPr lang="en-US" altLang="zh-TW" sz="1600" b="1" kern="1200" dirty="0"/>
            <a:t>mail</a:t>
          </a:r>
          <a:r>
            <a:rPr lang="zh-TW" altLang="en-US" sz="1600" b="1" kern="1200" dirty="0"/>
            <a:t>給專案</a:t>
          </a:r>
          <a:r>
            <a:rPr lang="en-US" altLang="zh-TW" sz="1600" b="1" kern="1200" dirty="0"/>
            <a:t>AC</a:t>
          </a:r>
          <a:r>
            <a:rPr lang="zh-TW" altLang="en-US" sz="1600" b="1" kern="1200" dirty="0"/>
            <a:t>及出納。</a:t>
          </a:r>
        </a:p>
      </dsp:txBody>
      <dsp:txXfrm>
        <a:off x="339516" y="1691164"/>
        <a:ext cx="10963697" cy="483189"/>
      </dsp:txXfrm>
    </dsp:sp>
    <dsp:sp modelId="{590F3AE9-E97F-43D3-AFA2-DCC55DBFA5B6}">
      <dsp:nvSpPr>
        <dsp:cNvPr id="0" name=""/>
        <dsp:cNvSpPr/>
      </dsp:nvSpPr>
      <dsp:spPr>
        <a:xfrm>
          <a:off x="37522" y="1630765"/>
          <a:ext cx="603987" cy="60398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CB8CD0-BA00-4612-9E77-33D7788EC200}">
      <dsp:nvSpPr>
        <dsp:cNvPr id="0" name=""/>
        <dsp:cNvSpPr/>
      </dsp:nvSpPr>
      <dsp:spPr>
        <a:xfrm rot="5400000">
          <a:off x="-260719" y="265138"/>
          <a:ext cx="1738128" cy="1216689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TW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/>
            <a:t>櫃台</a:t>
          </a:r>
        </a:p>
      </dsp:txBody>
      <dsp:txXfrm rot="-5400000">
        <a:off x="1" y="612764"/>
        <a:ext cx="1216689" cy="521439"/>
      </dsp:txXfrm>
    </dsp:sp>
    <dsp:sp modelId="{9A232824-BEE4-42EE-9942-A96E40E3D792}">
      <dsp:nvSpPr>
        <dsp:cNvPr id="0" name=""/>
        <dsp:cNvSpPr/>
      </dsp:nvSpPr>
      <dsp:spPr>
        <a:xfrm rot="5400000">
          <a:off x="2323728" y="-1102619"/>
          <a:ext cx="1130377" cy="3344455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1200" b="1" kern="1200" dirty="0"/>
            <a:t>分配帳單。</a:t>
          </a:r>
        </a:p>
      </dsp:txBody>
      <dsp:txXfrm rot="-5400000">
        <a:off x="1216689" y="59600"/>
        <a:ext cx="3289275" cy="1020017"/>
      </dsp:txXfrm>
    </dsp:sp>
    <dsp:sp modelId="{45209E5B-A848-424E-85A1-BB1F595995CD}">
      <dsp:nvSpPr>
        <dsp:cNvPr id="0" name=""/>
        <dsp:cNvSpPr/>
      </dsp:nvSpPr>
      <dsp:spPr>
        <a:xfrm rot="5400000">
          <a:off x="-260719" y="1833155"/>
          <a:ext cx="1738128" cy="1216689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endParaRPr lang="en-US" altLang="zh-TW" sz="1800" b="1" kern="1200" dirty="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1800" b="1" kern="1200" dirty="0"/>
            <a:t>用戶號碼</a:t>
          </a:r>
          <a:endParaRPr lang="en-US" altLang="zh-TW" sz="1800" b="1" kern="1200" dirty="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1800" b="1" kern="1200" dirty="0"/>
            <a:t>管理人</a:t>
          </a:r>
        </a:p>
      </dsp:txBody>
      <dsp:txXfrm rot="-5400000">
        <a:off x="1" y="2180781"/>
        <a:ext cx="1216689" cy="521439"/>
      </dsp:txXfrm>
    </dsp:sp>
    <dsp:sp modelId="{2AC8A04A-D077-4B01-8368-CE431145A36D}">
      <dsp:nvSpPr>
        <dsp:cNvPr id="0" name=""/>
        <dsp:cNvSpPr/>
      </dsp:nvSpPr>
      <dsp:spPr>
        <a:xfrm rot="5400000">
          <a:off x="2324025" y="465100"/>
          <a:ext cx="1129783" cy="3344455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1200" b="1" kern="1200" dirty="0"/>
            <a:t>於</a:t>
          </a:r>
          <a:r>
            <a:rPr lang="en-US" altLang="zh-TW" sz="1200" b="1" kern="1200" dirty="0"/>
            <a:t>【</a:t>
          </a:r>
          <a:r>
            <a:rPr lang="zh-TW" altLang="en-US" sz="1200" b="1" kern="1200" dirty="0"/>
            <a:t>電信帳單查詢</a:t>
          </a:r>
          <a:r>
            <a:rPr lang="en-US" altLang="zh-TW" sz="1200" b="1" kern="1200" dirty="0"/>
            <a:t>】</a:t>
          </a:r>
          <a:r>
            <a:rPr lang="zh-TW" altLang="en-US" sz="1200" b="1" kern="1200" dirty="0"/>
            <a:t>勾選要繳費的用戶號碼。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1200" b="1" kern="1200" dirty="0"/>
            <a:t>點選「產生申購單草稿」，產生</a:t>
          </a:r>
          <a:r>
            <a:rPr lang="en-US" altLang="zh-TW" sz="1200" b="1" kern="1200" dirty="0"/>
            <a:t>TE</a:t>
          </a:r>
          <a:r>
            <a:rPr lang="zh-TW" altLang="en-US" sz="1200" b="1" kern="1200" dirty="0"/>
            <a:t>電信單，內容無誤可送出表單。</a:t>
          </a:r>
        </a:p>
      </dsp:txBody>
      <dsp:txXfrm rot="-5400000">
        <a:off x="1216690" y="1627587"/>
        <a:ext cx="3289304" cy="1019481"/>
      </dsp:txXfrm>
    </dsp:sp>
    <dsp:sp modelId="{C7DAAD22-42DB-443D-AC71-E2ED6AD120A7}">
      <dsp:nvSpPr>
        <dsp:cNvPr id="0" name=""/>
        <dsp:cNvSpPr/>
      </dsp:nvSpPr>
      <dsp:spPr>
        <a:xfrm rot="5400000">
          <a:off x="-260719" y="3401173"/>
          <a:ext cx="1738128" cy="1216689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TW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/>
            <a:t>出納</a:t>
          </a:r>
        </a:p>
      </dsp:txBody>
      <dsp:txXfrm rot="-5400000">
        <a:off x="1" y="3748799"/>
        <a:ext cx="1216689" cy="521439"/>
      </dsp:txXfrm>
    </dsp:sp>
    <dsp:sp modelId="{3F4BDAA6-ABDF-4C0C-B8D1-A30C5BC5B7B2}">
      <dsp:nvSpPr>
        <dsp:cNvPr id="0" name=""/>
        <dsp:cNvSpPr/>
      </dsp:nvSpPr>
      <dsp:spPr>
        <a:xfrm rot="5400000">
          <a:off x="2324025" y="2033118"/>
          <a:ext cx="1129783" cy="3344455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1200" b="1" kern="1200" dirty="0"/>
            <a:t>管理人將</a:t>
          </a:r>
          <a:r>
            <a:rPr lang="en-US" altLang="zh-TW" sz="1200" b="1" kern="1200" dirty="0"/>
            <a:t>TE</a:t>
          </a:r>
          <a:r>
            <a:rPr lang="zh-TW" altLang="en-US" sz="1200" b="1" kern="1200" dirty="0"/>
            <a:t>電信單編號</a:t>
          </a:r>
          <a:r>
            <a:rPr lang="en-US" altLang="zh-TW" sz="1200" b="1" kern="1200" dirty="0"/>
            <a:t>+</a:t>
          </a:r>
          <a:r>
            <a:rPr lang="zh-TW" altLang="en-US" sz="1200" b="1" kern="1200" dirty="0"/>
            <a:t>專案簡稱</a:t>
          </a:r>
          <a:r>
            <a:rPr lang="en-US" altLang="zh-TW" sz="1200" b="1" kern="1200" dirty="0"/>
            <a:t>+</a:t>
          </a:r>
          <a:r>
            <a:rPr lang="zh-TW" altLang="en-US" sz="1200" b="1" kern="1200" dirty="0"/>
            <a:t>姓名寫在帳單後，繳交給出納繳費。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1200" b="1" kern="1200" dirty="0"/>
            <a:t>若為</a:t>
          </a:r>
          <a:r>
            <a:rPr lang="zh-TW" altLang="en-US" sz="1200" b="1" kern="1200" dirty="0">
              <a:highlight>
                <a:srgbClr val="FFFF00"/>
              </a:highlight>
            </a:rPr>
            <a:t>自動扣款</a:t>
          </a:r>
          <a:r>
            <a:rPr lang="zh-TW" altLang="en-US" sz="1200" b="1" kern="1200" dirty="0"/>
            <a:t>可直接放置核銷櫃子。</a:t>
          </a:r>
        </a:p>
      </dsp:txBody>
      <dsp:txXfrm rot="-5400000">
        <a:off x="1216690" y="3195605"/>
        <a:ext cx="3289304" cy="1019481"/>
      </dsp:txXfrm>
    </dsp:sp>
    <dsp:sp modelId="{6B73799B-FCDF-4B1A-8BF4-47FC50896089}">
      <dsp:nvSpPr>
        <dsp:cNvPr id="0" name=""/>
        <dsp:cNvSpPr/>
      </dsp:nvSpPr>
      <dsp:spPr>
        <a:xfrm rot="5400000">
          <a:off x="-260719" y="4969190"/>
          <a:ext cx="1738128" cy="1216689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endParaRPr lang="en-US" altLang="zh-TW" sz="1800" b="1" kern="1200" dirty="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1800" b="1" kern="1200" dirty="0"/>
            <a:t>憑證檢核員</a:t>
          </a:r>
        </a:p>
      </dsp:txBody>
      <dsp:txXfrm rot="-5400000">
        <a:off x="1" y="5316816"/>
        <a:ext cx="1216689" cy="521439"/>
      </dsp:txXfrm>
    </dsp:sp>
    <dsp:sp modelId="{0E297B81-FC03-4E02-A657-D632931F8402}">
      <dsp:nvSpPr>
        <dsp:cNvPr id="0" name=""/>
        <dsp:cNvSpPr/>
      </dsp:nvSpPr>
      <dsp:spPr>
        <a:xfrm rot="5400000">
          <a:off x="2324025" y="3601135"/>
          <a:ext cx="1129783" cy="3344455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1200" b="1" kern="1200" dirty="0"/>
            <a:t>上傳出納已繳費的電信單，後續關卡簽核完流程即結束。</a:t>
          </a:r>
        </a:p>
      </dsp:txBody>
      <dsp:txXfrm rot="-5400000">
        <a:off x="1216690" y="4763622"/>
        <a:ext cx="3289304" cy="101948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9A2ED5-B9D0-434F-87A7-74326C6374AE}">
      <dsp:nvSpPr>
        <dsp:cNvPr id="0" name=""/>
        <dsp:cNvSpPr/>
      </dsp:nvSpPr>
      <dsp:spPr>
        <a:xfrm>
          <a:off x="4785" y="539793"/>
          <a:ext cx="1780206" cy="712082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1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申請人送出郵寄申請單</a:t>
          </a:r>
          <a:endParaRPr lang="zh-TW" altLang="en-US" sz="1100" kern="1200" dirty="0"/>
        </a:p>
      </dsp:txBody>
      <dsp:txXfrm>
        <a:off x="360826" y="539793"/>
        <a:ext cx="1068124" cy="712082"/>
      </dsp:txXfrm>
    </dsp:sp>
    <dsp:sp modelId="{B27180F8-C756-4D0F-9CF0-849D7E0418E2}">
      <dsp:nvSpPr>
        <dsp:cNvPr id="0" name=""/>
        <dsp:cNvSpPr/>
      </dsp:nvSpPr>
      <dsp:spPr>
        <a:xfrm>
          <a:off x="1606970" y="539793"/>
          <a:ext cx="1780206" cy="712082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1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轉交寄送文件給櫃檯</a:t>
          </a:r>
          <a:endParaRPr lang="zh-TW" altLang="en-US" sz="1100" kern="1200" dirty="0"/>
        </a:p>
      </dsp:txBody>
      <dsp:txXfrm>
        <a:off x="1963011" y="539793"/>
        <a:ext cx="1068124" cy="712082"/>
      </dsp:txXfrm>
    </dsp:sp>
    <dsp:sp modelId="{F649E369-1F9D-4A7C-8D3E-342736394C3D}">
      <dsp:nvSpPr>
        <dsp:cNvPr id="0" name=""/>
        <dsp:cNvSpPr/>
      </dsp:nvSpPr>
      <dsp:spPr>
        <a:xfrm>
          <a:off x="3209156" y="539793"/>
          <a:ext cx="1780206" cy="712082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1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櫃台外出郵寄確認金額填入郵寄單金額</a:t>
          </a:r>
          <a:endParaRPr lang="zh-TW" altLang="en-US" sz="1100" kern="1200" dirty="0"/>
        </a:p>
      </dsp:txBody>
      <dsp:txXfrm>
        <a:off x="3565197" y="539793"/>
        <a:ext cx="1068124" cy="712082"/>
      </dsp:txXfrm>
    </dsp:sp>
    <dsp:sp modelId="{49510A99-AB5B-47D5-8116-6F129D793B80}">
      <dsp:nvSpPr>
        <dsp:cNvPr id="0" name=""/>
        <dsp:cNvSpPr/>
      </dsp:nvSpPr>
      <dsp:spPr>
        <a:xfrm>
          <a:off x="4811341" y="539793"/>
          <a:ext cx="1780206" cy="712082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1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表單結束</a:t>
          </a:r>
          <a:endParaRPr lang="zh-TW" altLang="en-US" sz="1100" kern="1200" dirty="0"/>
        </a:p>
      </dsp:txBody>
      <dsp:txXfrm>
        <a:off x="5167382" y="539793"/>
        <a:ext cx="1068124" cy="712082"/>
      </dsp:txXfrm>
    </dsp:sp>
    <dsp:sp modelId="{1E31D04A-29D1-4914-901A-779C24018CBC}">
      <dsp:nvSpPr>
        <dsp:cNvPr id="0" name=""/>
        <dsp:cNvSpPr/>
      </dsp:nvSpPr>
      <dsp:spPr>
        <a:xfrm>
          <a:off x="6413527" y="539793"/>
          <a:ext cx="1780206" cy="712082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1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櫃台轉交購票交易明細給申請人</a:t>
          </a:r>
          <a:endParaRPr lang="zh-TW" altLang="en-US" sz="1100" kern="1200" dirty="0"/>
        </a:p>
      </dsp:txBody>
      <dsp:txXfrm>
        <a:off x="6769568" y="539793"/>
        <a:ext cx="1068124" cy="712082"/>
      </dsp:txXfrm>
    </dsp:sp>
    <dsp:sp modelId="{221EE906-8795-41B8-B131-BDFA7062A148}">
      <dsp:nvSpPr>
        <dsp:cNvPr id="0" name=""/>
        <dsp:cNvSpPr/>
      </dsp:nvSpPr>
      <dsp:spPr>
        <a:xfrm>
          <a:off x="8015712" y="539793"/>
          <a:ext cx="1780206" cy="712082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100" b="1" kern="1200" dirty="0"/>
            <a:t>完成！</a:t>
          </a:r>
        </a:p>
      </dsp:txBody>
      <dsp:txXfrm>
        <a:off x="8371753" y="539793"/>
        <a:ext cx="1068124" cy="71208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B1EC3-A198-44DD-933E-B5DFCAF5D058}">
      <dsp:nvSpPr>
        <dsp:cNvPr id="0" name=""/>
        <dsp:cNvSpPr/>
      </dsp:nvSpPr>
      <dsp:spPr>
        <a:xfrm>
          <a:off x="2307605" y="720658"/>
          <a:ext cx="5000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067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2544372" y="763725"/>
        <a:ext cx="26533" cy="5306"/>
      </dsp:txXfrm>
    </dsp:sp>
    <dsp:sp modelId="{516E74C0-B499-4B47-BDE1-78B788FA9EE4}">
      <dsp:nvSpPr>
        <dsp:cNvPr id="0" name=""/>
        <dsp:cNvSpPr/>
      </dsp:nvSpPr>
      <dsp:spPr>
        <a:xfrm>
          <a:off x="2153" y="74203"/>
          <a:ext cx="2307251" cy="1384350"/>
        </a:xfrm>
        <a:prstGeom prst="rect">
          <a:avLst/>
        </a:prstGeom>
        <a:solidFill>
          <a:srgbClr val="FFCC66"/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100" b="1" kern="1200" dirty="0"/>
            <a:t>申請人送出</a:t>
          </a:r>
          <a:endParaRPr lang="en-US" altLang="zh-TW" sz="1100" b="1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100" b="1" kern="1200" dirty="0"/>
            <a:t>預支單</a:t>
          </a:r>
          <a:endParaRPr lang="zh-TW" altLang="en-US" sz="1100" kern="1200" dirty="0"/>
        </a:p>
      </dsp:txBody>
      <dsp:txXfrm>
        <a:off x="2153" y="74203"/>
        <a:ext cx="2307251" cy="1384350"/>
      </dsp:txXfrm>
    </dsp:sp>
    <dsp:sp modelId="{405CCA24-7974-475A-91CE-8F8A1BD3FF27}">
      <dsp:nvSpPr>
        <dsp:cNvPr id="0" name=""/>
        <dsp:cNvSpPr/>
      </dsp:nvSpPr>
      <dsp:spPr>
        <a:xfrm>
          <a:off x="5145524" y="720658"/>
          <a:ext cx="5000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067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5382291" y="763725"/>
        <a:ext cx="26533" cy="5306"/>
      </dsp:txXfrm>
    </dsp:sp>
    <dsp:sp modelId="{0032A336-7B12-4C20-B090-372D93FAF188}">
      <dsp:nvSpPr>
        <dsp:cNvPr id="0" name=""/>
        <dsp:cNvSpPr/>
      </dsp:nvSpPr>
      <dsp:spPr>
        <a:xfrm>
          <a:off x="2840072" y="74203"/>
          <a:ext cx="2307251" cy="1384350"/>
        </a:xfrm>
        <a:prstGeom prst="rect">
          <a:avLst/>
        </a:prstGeom>
        <a:solidFill>
          <a:srgbClr val="FFCC66"/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100" b="1" kern="1200" dirty="0"/>
            <a:t>預支單簽核完畢</a:t>
          </a:r>
          <a:endParaRPr lang="zh-TW" altLang="en-US" sz="1100" kern="1200" dirty="0"/>
        </a:p>
      </dsp:txBody>
      <dsp:txXfrm>
        <a:off x="2840072" y="74203"/>
        <a:ext cx="2307251" cy="1384350"/>
      </dsp:txXfrm>
    </dsp:sp>
    <dsp:sp modelId="{D87BE2A0-D0C6-477B-AC9C-70AB26E7EFB9}">
      <dsp:nvSpPr>
        <dsp:cNvPr id="0" name=""/>
        <dsp:cNvSpPr/>
      </dsp:nvSpPr>
      <dsp:spPr>
        <a:xfrm>
          <a:off x="7983443" y="720658"/>
          <a:ext cx="5000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067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8220210" y="763725"/>
        <a:ext cx="26533" cy="5306"/>
      </dsp:txXfrm>
    </dsp:sp>
    <dsp:sp modelId="{F084B0DC-B2F7-4424-BDFD-093E781BC98D}">
      <dsp:nvSpPr>
        <dsp:cNvPr id="0" name=""/>
        <dsp:cNvSpPr/>
      </dsp:nvSpPr>
      <dsp:spPr>
        <a:xfrm>
          <a:off x="5677991" y="74203"/>
          <a:ext cx="2307251" cy="13843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100" b="1" kern="1200" dirty="0"/>
            <a:t>出納作帳，主管覆核</a:t>
          </a:r>
          <a:endParaRPr lang="zh-TW" altLang="en-US" sz="1100" kern="1200" dirty="0"/>
        </a:p>
      </dsp:txBody>
      <dsp:txXfrm>
        <a:off x="5677991" y="74203"/>
        <a:ext cx="2307251" cy="1384350"/>
      </dsp:txXfrm>
    </dsp:sp>
    <dsp:sp modelId="{42BA7BAD-5F3A-42B6-8679-D41914A35764}">
      <dsp:nvSpPr>
        <dsp:cNvPr id="0" name=""/>
        <dsp:cNvSpPr/>
      </dsp:nvSpPr>
      <dsp:spPr>
        <a:xfrm>
          <a:off x="1155779" y="1456753"/>
          <a:ext cx="8513756" cy="500067"/>
        </a:xfrm>
        <a:custGeom>
          <a:avLst/>
          <a:gdLst/>
          <a:ahLst/>
          <a:cxnLst/>
          <a:rect l="0" t="0" r="0" b="0"/>
          <a:pathLst>
            <a:path>
              <a:moveTo>
                <a:pt x="8513756" y="0"/>
              </a:moveTo>
              <a:lnTo>
                <a:pt x="8513756" y="267133"/>
              </a:lnTo>
              <a:lnTo>
                <a:pt x="0" y="267133"/>
              </a:lnTo>
              <a:lnTo>
                <a:pt x="0" y="500067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5199401" y="1704134"/>
        <a:ext cx="426513" cy="5306"/>
      </dsp:txXfrm>
    </dsp:sp>
    <dsp:sp modelId="{427882C8-19AD-4530-99A2-D05B668E1FFD}">
      <dsp:nvSpPr>
        <dsp:cNvPr id="0" name=""/>
        <dsp:cNvSpPr/>
      </dsp:nvSpPr>
      <dsp:spPr>
        <a:xfrm>
          <a:off x="8515910" y="74203"/>
          <a:ext cx="2307251" cy="13843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100" b="1" kern="1200" dirty="0"/>
            <a:t>處長覆核，取款條用印</a:t>
          </a:r>
        </a:p>
      </dsp:txBody>
      <dsp:txXfrm>
        <a:off x="8515910" y="74203"/>
        <a:ext cx="2307251" cy="1384350"/>
      </dsp:txXfrm>
    </dsp:sp>
    <dsp:sp modelId="{C9F529A2-6FAB-4DEB-A4B9-8BEA8D8F8FC7}">
      <dsp:nvSpPr>
        <dsp:cNvPr id="0" name=""/>
        <dsp:cNvSpPr/>
      </dsp:nvSpPr>
      <dsp:spPr>
        <a:xfrm>
          <a:off x="2307605" y="2635677"/>
          <a:ext cx="5000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067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2544372" y="2678743"/>
        <a:ext cx="26533" cy="5306"/>
      </dsp:txXfrm>
    </dsp:sp>
    <dsp:sp modelId="{8AFD1B7C-0D4B-41DF-A3BA-0F5D28236BC6}">
      <dsp:nvSpPr>
        <dsp:cNvPr id="0" name=""/>
        <dsp:cNvSpPr/>
      </dsp:nvSpPr>
      <dsp:spPr>
        <a:xfrm>
          <a:off x="2153" y="1989221"/>
          <a:ext cx="2307251" cy="1384350"/>
        </a:xfrm>
        <a:prstGeom prst="rect">
          <a:avLst/>
        </a:prstGeom>
        <a:solidFill>
          <a:srgbClr val="FFCC66"/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100" b="1" kern="1200" dirty="0"/>
            <a:t>銀行開立定存單，開立完成後，由出納提供定存單資訊給申請人，請申請人將已填好資料的：</a:t>
          </a:r>
          <a:r>
            <a:rPr lang="en-US" altLang="zh-TW" sz="1100" b="1" kern="1200" dirty="0"/>
            <a:t>A</a:t>
          </a:r>
          <a:r>
            <a:rPr lang="zh-TW" altLang="zh-TW" sz="1100" b="1" kern="1200" dirty="0"/>
            <a:t>定期存款單質權設定申請書格式</a:t>
          </a:r>
          <a:r>
            <a:rPr lang="en-US" altLang="zh-TW" sz="1100" b="1" kern="1200" dirty="0"/>
            <a:t>+B</a:t>
          </a:r>
          <a:r>
            <a:rPr lang="zh-TW" altLang="zh-TW" sz="1100" b="1" kern="1200" dirty="0"/>
            <a:t>定期存款單質權設定覆函格式</a:t>
          </a:r>
          <a:r>
            <a:rPr lang="zh-TW" altLang="en-US" sz="1100" b="1" kern="1200" dirty="0"/>
            <a:t>給出納</a:t>
          </a:r>
        </a:p>
      </dsp:txBody>
      <dsp:txXfrm>
        <a:off x="2153" y="1989221"/>
        <a:ext cx="2307251" cy="1384350"/>
      </dsp:txXfrm>
    </dsp:sp>
    <dsp:sp modelId="{8B98DAFC-0A6A-4A6A-9794-B31EB55370EC}">
      <dsp:nvSpPr>
        <dsp:cNvPr id="0" name=""/>
        <dsp:cNvSpPr/>
      </dsp:nvSpPr>
      <dsp:spPr>
        <a:xfrm>
          <a:off x="5145524" y="2635677"/>
          <a:ext cx="5000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067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5382291" y="2678743"/>
        <a:ext cx="26533" cy="5306"/>
      </dsp:txXfrm>
    </dsp:sp>
    <dsp:sp modelId="{BBC6F3E8-71CD-46BC-957D-E3C5F15C03FB}">
      <dsp:nvSpPr>
        <dsp:cNvPr id="0" name=""/>
        <dsp:cNvSpPr/>
      </dsp:nvSpPr>
      <dsp:spPr>
        <a:xfrm>
          <a:off x="2840072" y="1989221"/>
          <a:ext cx="2307251" cy="13843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100" b="1" kern="1200" dirty="0"/>
            <a:t>出納提供：定存單影本</a:t>
          </a:r>
          <a:r>
            <a:rPr lang="en-US" altLang="zh-TW" sz="1100" b="1" kern="1200" dirty="0"/>
            <a:t>+</a:t>
          </a:r>
          <a:r>
            <a:rPr lang="zh-TW" altLang="en-US" sz="1100" b="1" kern="1200" dirty="0"/>
            <a:t>用印的</a:t>
          </a:r>
          <a:r>
            <a:rPr lang="en-US" altLang="zh-TW" sz="1100" b="1" kern="1200" dirty="0"/>
            <a:t>A</a:t>
          </a:r>
          <a:r>
            <a:rPr lang="zh-TW" altLang="en-US" sz="1100" b="1" kern="1200" dirty="0"/>
            <a:t>給申請人送至甲方用印</a:t>
          </a:r>
        </a:p>
      </dsp:txBody>
      <dsp:txXfrm>
        <a:off x="2840072" y="1989221"/>
        <a:ext cx="2307251" cy="1384350"/>
      </dsp:txXfrm>
    </dsp:sp>
    <dsp:sp modelId="{08D25261-8A90-46A0-97CB-3A563C7DE1DF}">
      <dsp:nvSpPr>
        <dsp:cNvPr id="0" name=""/>
        <dsp:cNvSpPr/>
      </dsp:nvSpPr>
      <dsp:spPr>
        <a:xfrm>
          <a:off x="7983443" y="2635677"/>
          <a:ext cx="5000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067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8220210" y="2678743"/>
        <a:ext cx="26533" cy="5306"/>
      </dsp:txXfrm>
    </dsp:sp>
    <dsp:sp modelId="{196D3C61-9328-4DA7-893B-C198A62EA8BC}">
      <dsp:nvSpPr>
        <dsp:cNvPr id="0" name=""/>
        <dsp:cNvSpPr/>
      </dsp:nvSpPr>
      <dsp:spPr>
        <a:xfrm>
          <a:off x="5677991" y="1989221"/>
          <a:ext cx="2307251" cy="1384350"/>
        </a:xfrm>
        <a:prstGeom prst="rect">
          <a:avLst/>
        </a:prstGeom>
        <a:solidFill>
          <a:srgbClr val="FFCC66"/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100" b="1" kern="1200" dirty="0"/>
            <a:t>申請人提供甲方用印完畢的</a:t>
          </a:r>
          <a:r>
            <a:rPr lang="en-US" altLang="zh-TW" sz="1100" b="1" kern="1200" dirty="0"/>
            <a:t>A</a:t>
          </a:r>
          <a:r>
            <a:rPr lang="zh-TW" altLang="en-US" sz="1100" b="1" kern="1200" dirty="0"/>
            <a:t>給出納，由出納將定存單正本</a:t>
          </a:r>
          <a:r>
            <a:rPr lang="en-US" altLang="zh-TW" sz="1100" b="1" kern="1200" dirty="0"/>
            <a:t>+A+B</a:t>
          </a:r>
          <a:r>
            <a:rPr lang="zh-TW" altLang="en-US" sz="1100" b="1" kern="1200" dirty="0"/>
            <a:t>送至銀行設質後提供給申請人定存單</a:t>
          </a:r>
          <a:r>
            <a:rPr lang="en-US" altLang="zh-TW" sz="1100" b="1" kern="1200" dirty="0"/>
            <a:t>+B</a:t>
          </a:r>
          <a:r>
            <a:rPr lang="zh-TW" altLang="en-US" sz="1100" b="1" kern="1200" dirty="0"/>
            <a:t>送至甲方完成存保金流程</a:t>
          </a:r>
          <a:endParaRPr lang="en-US" altLang="zh-TW" sz="1100" b="1" kern="1200" dirty="0"/>
        </a:p>
      </dsp:txBody>
      <dsp:txXfrm>
        <a:off x="5677991" y="1989221"/>
        <a:ext cx="2307251" cy="1384350"/>
      </dsp:txXfrm>
    </dsp:sp>
    <dsp:sp modelId="{4146734D-63AA-4565-8D21-FA5E9E4587F2}">
      <dsp:nvSpPr>
        <dsp:cNvPr id="0" name=""/>
        <dsp:cNvSpPr/>
      </dsp:nvSpPr>
      <dsp:spPr>
        <a:xfrm>
          <a:off x="1155779" y="3371772"/>
          <a:ext cx="8513756" cy="500067"/>
        </a:xfrm>
        <a:custGeom>
          <a:avLst/>
          <a:gdLst/>
          <a:ahLst/>
          <a:cxnLst/>
          <a:rect l="0" t="0" r="0" b="0"/>
          <a:pathLst>
            <a:path>
              <a:moveTo>
                <a:pt x="8513756" y="0"/>
              </a:moveTo>
              <a:lnTo>
                <a:pt x="8513756" y="267133"/>
              </a:lnTo>
              <a:lnTo>
                <a:pt x="0" y="267133"/>
              </a:lnTo>
              <a:lnTo>
                <a:pt x="0" y="500067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5199401" y="3619152"/>
        <a:ext cx="426513" cy="5306"/>
      </dsp:txXfrm>
    </dsp:sp>
    <dsp:sp modelId="{7DF0E1FA-BE2B-4445-9369-6D7D76D94925}">
      <dsp:nvSpPr>
        <dsp:cNvPr id="0" name=""/>
        <dsp:cNvSpPr/>
      </dsp:nvSpPr>
      <dsp:spPr>
        <a:xfrm>
          <a:off x="8515910" y="1989221"/>
          <a:ext cx="2307251" cy="1384350"/>
        </a:xfrm>
        <a:prstGeom prst="rect">
          <a:avLst/>
        </a:prstGeom>
        <a:solidFill>
          <a:srgbClr val="FFCC66"/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100" b="1" kern="1200" dirty="0"/>
            <a:t>申請人該筆預支單</a:t>
          </a:r>
          <a:r>
            <a:rPr lang="zh-TW" altLang="en-US" sz="1100" b="1" kern="1200" dirty="0">
              <a:solidFill>
                <a:srgbClr val="FF0000"/>
              </a:solidFill>
            </a:rPr>
            <a:t>核銷</a:t>
          </a:r>
          <a:r>
            <a:rPr lang="en-US" altLang="zh-TW" sz="1100" b="1" kern="1200" dirty="0">
              <a:solidFill>
                <a:srgbClr val="FF0000"/>
              </a:solidFill>
            </a:rPr>
            <a:t>0</a:t>
          </a:r>
          <a:r>
            <a:rPr lang="zh-TW" altLang="en-US" sz="1100" b="1" kern="1200" dirty="0">
              <a:solidFill>
                <a:srgbClr val="FF0000"/>
              </a:solidFill>
            </a:rPr>
            <a:t>元</a:t>
          </a:r>
          <a:r>
            <a:rPr lang="zh-TW" altLang="en-US" sz="1100" b="1" kern="1200" dirty="0"/>
            <a:t>，並將存保金收據正本提供給存保金保管人員，收據影本放置核銷櫃子等憑證掃描人員上傳</a:t>
          </a:r>
        </a:p>
      </dsp:txBody>
      <dsp:txXfrm>
        <a:off x="8515910" y="1989221"/>
        <a:ext cx="2307251" cy="1384350"/>
      </dsp:txXfrm>
    </dsp:sp>
    <dsp:sp modelId="{71342E53-631D-4637-A3C8-6FCF500FEC3E}">
      <dsp:nvSpPr>
        <dsp:cNvPr id="0" name=""/>
        <dsp:cNvSpPr/>
      </dsp:nvSpPr>
      <dsp:spPr>
        <a:xfrm>
          <a:off x="2307605" y="4550695"/>
          <a:ext cx="5000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067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2544372" y="4593762"/>
        <a:ext cx="26533" cy="5306"/>
      </dsp:txXfrm>
    </dsp:sp>
    <dsp:sp modelId="{D3474578-2998-4D80-8FA9-59462C7B44C2}">
      <dsp:nvSpPr>
        <dsp:cNvPr id="0" name=""/>
        <dsp:cNvSpPr/>
      </dsp:nvSpPr>
      <dsp:spPr>
        <a:xfrm>
          <a:off x="2153" y="3904240"/>
          <a:ext cx="2307251" cy="1384350"/>
        </a:xfrm>
        <a:prstGeom prst="rect">
          <a:avLst/>
        </a:prstGeom>
        <a:solidFill>
          <a:srgbClr val="FFCC66"/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100" b="1" kern="1200" dirty="0"/>
            <a:t>專案結束後，發文申請退回存保金：</a:t>
          </a:r>
          <a:br>
            <a:rPr lang="en-US" altLang="zh-TW" sz="1100" b="1" kern="1200" dirty="0"/>
          </a:br>
          <a:r>
            <a:rPr lang="zh-TW" altLang="en-US" sz="1100" b="1" kern="1200" dirty="0"/>
            <a:t>由申請人向存保金人員取回存保金收據正本</a:t>
          </a:r>
          <a:r>
            <a:rPr lang="en-US" altLang="zh-TW" sz="1100" b="1" kern="1200" dirty="0"/>
            <a:t>+</a:t>
          </a:r>
          <a:r>
            <a:rPr lang="zh-TW" altLang="en-US" sz="1100" b="1" kern="1200" dirty="0"/>
            <a:t>提供</a:t>
          </a:r>
          <a:r>
            <a:rPr lang="en-US" altLang="zh-TW" sz="1100" b="1" kern="1200" dirty="0"/>
            <a:t>C</a:t>
          </a:r>
          <a:r>
            <a:rPr lang="zh-TW" altLang="en-US" sz="1100" b="1" kern="1200" dirty="0"/>
            <a:t>質權消滅通知書給甲方用印</a:t>
          </a:r>
        </a:p>
      </dsp:txBody>
      <dsp:txXfrm>
        <a:off x="2153" y="3904240"/>
        <a:ext cx="2307251" cy="1384350"/>
      </dsp:txXfrm>
    </dsp:sp>
    <dsp:sp modelId="{23C799D1-A318-443C-B145-255B384E7EE1}">
      <dsp:nvSpPr>
        <dsp:cNvPr id="0" name=""/>
        <dsp:cNvSpPr/>
      </dsp:nvSpPr>
      <dsp:spPr>
        <a:xfrm>
          <a:off x="5145524" y="4550695"/>
          <a:ext cx="5000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067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5382291" y="4593762"/>
        <a:ext cx="26533" cy="5306"/>
      </dsp:txXfrm>
    </dsp:sp>
    <dsp:sp modelId="{4B70F4AE-BB2A-4C3F-BB06-A447C2619006}">
      <dsp:nvSpPr>
        <dsp:cNvPr id="0" name=""/>
        <dsp:cNvSpPr/>
      </dsp:nvSpPr>
      <dsp:spPr>
        <a:xfrm>
          <a:off x="2840072" y="3904240"/>
          <a:ext cx="2307251" cy="13843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100" b="1" kern="1200" dirty="0"/>
            <a:t>甲方退回定存單正本</a:t>
          </a:r>
          <a:r>
            <a:rPr lang="en-US" altLang="zh-TW" sz="1100" b="1" kern="1200" dirty="0"/>
            <a:t>+B+C</a:t>
          </a:r>
          <a:r>
            <a:rPr lang="zh-TW" altLang="en-US" sz="1100" b="1" kern="1200" dirty="0"/>
            <a:t>，請申請人轉交給出納，由出納於定存單到期日送至銀行解約</a:t>
          </a:r>
        </a:p>
      </dsp:txBody>
      <dsp:txXfrm>
        <a:off x="2840072" y="3904240"/>
        <a:ext cx="2307251" cy="1384350"/>
      </dsp:txXfrm>
    </dsp:sp>
    <dsp:sp modelId="{8905D163-3C1B-493B-ACD8-642AC4ECF16F}">
      <dsp:nvSpPr>
        <dsp:cNvPr id="0" name=""/>
        <dsp:cNvSpPr/>
      </dsp:nvSpPr>
      <dsp:spPr>
        <a:xfrm>
          <a:off x="5677991" y="3904240"/>
          <a:ext cx="2307251" cy="13843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100" b="1" kern="1200" dirty="0"/>
            <a:t>流程結束</a:t>
          </a:r>
        </a:p>
      </dsp:txBody>
      <dsp:txXfrm>
        <a:off x="5677991" y="3904240"/>
        <a:ext cx="2307251" cy="13843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C9D794-A689-44F3-9D51-167D9636A306}" type="datetimeFigureOut">
              <a:rPr lang="zh-TW" altLang="en-US" smtClean="0"/>
              <a:t>2024/6/4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1BBBF-D582-4F80-8E88-35D3B8819A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146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嗨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</a:t>
            </a:r>
            <a:r>
              <a:rPr lang="zh-TW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大家好！今天要來跟大家介紹</a:t>
            </a:r>
            <a:r>
              <a:rPr lang="en-US" altLang="zh-TW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eip</a:t>
            </a:r>
            <a:r>
              <a:rPr lang="zh-TW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表單，我們在執行專案的過程中，都會有支出產生，像是影印費、差旅費、郵寄費等等，但是我們要怎麼申請款項匯款給廠商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zh-TW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自己代墊的錢要怎麼申請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zh-TW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今天就來跟大家分享怎麼填表單請款，以及哪些支出對應哪些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EIP</a:t>
            </a:r>
            <a:r>
              <a:rPr lang="zh-TW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表單，跟其他相關注意事項。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598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5506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5843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9018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1420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5234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2454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4900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7492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1555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7499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90808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44426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55249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99733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32052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65803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85107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22177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1864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52211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42042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57299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45648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12074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65510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16551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02485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75807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13298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87719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58850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30561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06941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44626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15627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42155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58494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88008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204504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166322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468573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36678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787067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63972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448310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119940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689205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03596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055248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BBBF-D582-4F80-8E88-35D3B8819A6C}" type="slidenum">
              <a:rPr lang="zh-TW" altLang="en-US" smtClean="0"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8434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628650" y="1746422"/>
            <a:ext cx="11001375" cy="1950072"/>
          </a:xfrm>
        </p:spPr>
        <p:txBody>
          <a:bodyPr anchor="b">
            <a:noAutofit/>
          </a:bodyPr>
          <a:lstStyle>
            <a:lvl1pPr algn="l">
              <a:defRPr sz="6600" b="1">
                <a:solidFill>
                  <a:srgbClr val="3886D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逢甲大學</a:t>
            </a:r>
            <a:br>
              <a:rPr lang="en-US" altLang="zh-TW" dirty="0"/>
            </a:br>
            <a:r>
              <a:rPr lang="zh-TW" altLang="en-US" dirty="0"/>
              <a:t>地理資訊系統研究中心</a:t>
            </a:r>
          </a:p>
        </p:txBody>
      </p:sp>
      <p:pic>
        <p:nvPicPr>
          <p:cNvPr id="18" name="圖片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0901" y="5634360"/>
            <a:ext cx="776302" cy="865615"/>
          </a:xfrm>
          <a:prstGeom prst="rect">
            <a:avLst/>
          </a:prstGeom>
        </p:spPr>
      </p:pic>
      <p:sp>
        <p:nvSpPr>
          <p:cNvPr id="5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646068" y="3804434"/>
            <a:ext cx="11001375" cy="648890"/>
          </a:xfrm>
        </p:spPr>
        <p:txBody>
          <a:bodyPr>
            <a:noAutofit/>
          </a:bodyPr>
          <a:lstStyle>
            <a:lvl1pPr marL="0" indent="0" algn="l">
              <a:buNone/>
              <a:defRPr sz="3000" b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周天穎 主任</a:t>
            </a:r>
          </a:p>
        </p:txBody>
      </p:sp>
    </p:spTree>
    <p:extLst>
      <p:ext uri="{BB962C8B-B14F-4D97-AF65-F5344CB8AC3E}">
        <p14:creationId xmlns:p14="http://schemas.microsoft.com/office/powerpoint/2010/main" val="1626683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281321"/>
            <a:ext cx="119566" cy="3447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3886DC"/>
              </a:solidFill>
            </a:endParaRP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383177" y="207179"/>
            <a:ext cx="10976800" cy="535358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3886D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9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383177" y="6356347"/>
            <a:ext cx="2743200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10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4143749" y="6356345"/>
            <a:ext cx="4114800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11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170126" y="6363506"/>
            <a:ext cx="2743200" cy="365125"/>
          </a:xfrm>
        </p:spPr>
        <p:txBody>
          <a:bodyPr/>
          <a:lstStyle/>
          <a:p>
            <a:fld id="{2A246A42-501B-4331-B78E-6EAA1B4C824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內容版面配置區 2"/>
          <p:cNvSpPr>
            <a:spLocks noGrp="1"/>
          </p:cNvSpPr>
          <p:nvPr>
            <p:ph idx="1"/>
          </p:nvPr>
        </p:nvSpPr>
        <p:spPr>
          <a:xfrm>
            <a:off x="383178" y="865156"/>
            <a:ext cx="11530148" cy="5368573"/>
          </a:xfrm>
        </p:spPr>
        <p:txBody>
          <a:bodyPr>
            <a:normAutofit/>
          </a:bodyPr>
          <a:lstStyle>
            <a:lvl1pPr>
              <a:defRPr sz="2000" b="1">
                <a:solidFill>
                  <a:srgbClr val="218DB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accent5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solidFill>
                  <a:srgbClr val="51237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solidFill>
                  <a:schemeClr val="accent4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5573" y="230788"/>
            <a:ext cx="437714" cy="48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20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_版本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1277" y="2482164"/>
            <a:ext cx="10515600" cy="1047750"/>
          </a:xfrm>
        </p:spPr>
        <p:txBody>
          <a:bodyPr anchor="b"/>
          <a:lstStyle>
            <a:lvl1pPr algn="ctr">
              <a:defRPr sz="6000" b="1">
                <a:solidFill>
                  <a:srgbClr val="3886D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5922" y="148280"/>
            <a:ext cx="480283" cy="535613"/>
          </a:xfrm>
          <a:prstGeom prst="rect">
            <a:avLst/>
          </a:prstGeom>
        </p:spPr>
      </p:pic>
      <p:sp>
        <p:nvSpPr>
          <p:cNvPr id="7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383177" y="6356347"/>
            <a:ext cx="2743200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9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4143749" y="6356345"/>
            <a:ext cx="4114800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10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170126" y="6363506"/>
            <a:ext cx="2743200" cy="365125"/>
          </a:xfrm>
        </p:spPr>
        <p:txBody>
          <a:bodyPr/>
          <a:lstStyle/>
          <a:p>
            <a:fld id="{2A246A42-501B-4331-B78E-6EAA1B4C824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文字版面配置區 2"/>
          <p:cNvSpPr>
            <a:spLocks noGrp="1"/>
          </p:cNvSpPr>
          <p:nvPr>
            <p:ph type="body" idx="1"/>
          </p:nvPr>
        </p:nvSpPr>
        <p:spPr>
          <a:xfrm>
            <a:off x="881277" y="3609674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218DB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06970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_版本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2428874"/>
            <a:ext cx="10515600" cy="1066801"/>
          </a:xfrm>
        </p:spPr>
        <p:txBody>
          <a:bodyPr anchor="b"/>
          <a:lstStyle>
            <a:lvl1pPr algn="ctr">
              <a:defRPr sz="6000" b="1">
                <a:solidFill>
                  <a:srgbClr val="4D79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7201" y="153296"/>
            <a:ext cx="461231" cy="514510"/>
          </a:xfrm>
          <a:prstGeom prst="rect">
            <a:avLst/>
          </a:prstGeom>
        </p:spPr>
      </p:pic>
      <p:sp>
        <p:nvSpPr>
          <p:cNvPr id="5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383177" y="6356347"/>
            <a:ext cx="2743200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4143749" y="6356345"/>
            <a:ext cx="4114800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7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170126" y="63635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246A42-501B-4331-B78E-6EAA1B4C824E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8" name="文字版面配置區 2"/>
          <p:cNvSpPr>
            <a:spLocks noGrp="1"/>
          </p:cNvSpPr>
          <p:nvPr>
            <p:ph type="body" idx="1"/>
          </p:nvPr>
        </p:nvSpPr>
        <p:spPr>
          <a:xfrm>
            <a:off x="881277" y="3584960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921587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383176" y="207650"/>
            <a:ext cx="11112137" cy="540566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3886D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0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383177" y="6356347"/>
            <a:ext cx="2743200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11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4143749" y="6356345"/>
            <a:ext cx="4114800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12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170126" y="6363506"/>
            <a:ext cx="2743200" cy="365125"/>
          </a:xfrm>
        </p:spPr>
        <p:txBody>
          <a:bodyPr/>
          <a:lstStyle/>
          <a:p>
            <a:fld id="{2A246A42-501B-4331-B78E-6EAA1B4C824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281321"/>
            <a:ext cx="119566" cy="3447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3886DC"/>
              </a:solidFill>
            </a:endParaRPr>
          </a:p>
        </p:txBody>
      </p:sp>
      <p:sp>
        <p:nvSpPr>
          <p:cNvPr id="13" name="內容版面配置區 2"/>
          <p:cNvSpPr>
            <a:spLocks noGrp="1"/>
          </p:cNvSpPr>
          <p:nvPr>
            <p:ph sz="half" idx="1"/>
          </p:nvPr>
        </p:nvSpPr>
        <p:spPr>
          <a:xfrm>
            <a:off x="383176" y="831119"/>
            <a:ext cx="5390607" cy="5417744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218DB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200">
                <a:solidFill>
                  <a:schemeClr val="accent5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800">
                <a:solidFill>
                  <a:srgbClr val="51237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600">
                <a:solidFill>
                  <a:schemeClr val="accent4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5" name="內容版面配置區 3"/>
          <p:cNvSpPr>
            <a:spLocks noGrp="1"/>
          </p:cNvSpPr>
          <p:nvPr>
            <p:ph sz="half" idx="2"/>
          </p:nvPr>
        </p:nvSpPr>
        <p:spPr>
          <a:xfrm>
            <a:off x="5886994" y="831118"/>
            <a:ext cx="5806439" cy="541774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218DB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20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800">
                <a:solidFill>
                  <a:srgbClr val="51237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600">
                <a:solidFill>
                  <a:schemeClr val="accent4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6" name="圖片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5573" y="230788"/>
            <a:ext cx="437714" cy="48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572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title"/>
          </p:nvPr>
        </p:nvSpPr>
        <p:spPr>
          <a:xfrm>
            <a:off x="383177" y="226013"/>
            <a:ext cx="11094720" cy="497024"/>
          </a:xfrm>
        </p:spPr>
        <p:txBody>
          <a:bodyPr>
            <a:noAutofit/>
          </a:bodyPr>
          <a:lstStyle>
            <a:lvl1pPr>
              <a:defRPr sz="3200" b="1">
                <a:solidFill>
                  <a:srgbClr val="3886D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5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383177" y="6356347"/>
            <a:ext cx="2743200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16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4143749" y="6356345"/>
            <a:ext cx="4114800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17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170126" y="6363506"/>
            <a:ext cx="2743200" cy="365125"/>
          </a:xfrm>
        </p:spPr>
        <p:txBody>
          <a:bodyPr/>
          <a:lstStyle/>
          <a:p>
            <a:fld id="{2A246A42-501B-4331-B78E-6EAA1B4C824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0" y="281321"/>
            <a:ext cx="119566" cy="3447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3886DC"/>
              </a:solidFill>
            </a:endParaRPr>
          </a:p>
        </p:txBody>
      </p:sp>
      <p:sp>
        <p:nvSpPr>
          <p:cNvPr id="14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383177" y="814118"/>
            <a:ext cx="5614398" cy="483460"/>
          </a:xfrm>
        </p:spPr>
        <p:txBody>
          <a:bodyPr anchor="b">
            <a:normAutofit/>
          </a:bodyPr>
          <a:lstStyle>
            <a:lvl1pPr marL="0" indent="0" algn="ctr">
              <a:buNone/>
              <a:defRPr sz="2400" b="1">
                <a:solidFill>
                  <a:srgbClr val="218DB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&lt;</a:t>
            </a:r>
            <a:r>
              <a:rPr lang="zh-TW" altLang="en-US" dirty="0"/>
              <a:t>編輯母片文字樣式</a:t>
            </a:r>
            <a:r>
              <a:rPr lang="en-US" altLang="zh-TW" dirty="0"/>
              <a:t>&gt;</a:t>
            </a:r>
            <a:endParaRPr lang="zh-TW" altLang="en-US" dirty="0"/>
          </a:p>
        </p:txBody>
      </p:sp>
      <p:sp>
        <p:nvSpPr>
          <p:cNvPr id="19" name="內容版面配置區 3"/>
          <p:cNvSpPr>
            <a:spLocks noGrp="1"/>
          </p:cNvSpPr>
          <p:nvPr>
            <p:ph sz="half" idx="2"/>
          </p:nvPr>
        </p:nvSpPr>
        <p:spPr>
          <a:xfrm>
            <a:off x="383177" y="1399085"/>
            <a:ext cx="5614398" cy="4865779"/>
          </a:xfrm>
        </p:spPr>
        <p:txBody>
          <a:bodyPr>
            <a:normAutofit/>
          </a:bodyPr>
          <a:lstStyle>
            <a:lvl1pPr>
              <a:defRPr sz="2000" b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800">
                <a:solidFill>
                  <a:srgbClr val="51237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60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0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811532"/>
            <a:ext cx="5593080" cy="483460"/>
          </a:xfrm>
        </p:spPr>
        <p:txBody>
          <a:bodyPr anchor="b">
            <a:normAutofit/>
          </a:bodyPr>
          <a:lstStyle>
            <a:lvl1pPr marL="0" indent="0" algn="ctr">
              <a:buNone/>
              <a:defRPr sz="2400" b="1">
                <a:solidFill>
                  <a:srgbClr val="218DB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&lt;</a:t>
            </a:r>
            <a:r>
              <a:rPr lang="zh-TW" altLang="en-US" dirty="0"/>
              <a:t>編輯母片文字樣式</a:t>
            </a:r>
            <a:r>
              <a:rPr lang="en-US" altLang="zh-TW" dirty="0"/>
              <a:t>&gt;</a:t>
            </a:r>
            <a:endParaRPr lang="zh-TW" altLang="en-US" dirty="0"/>
          </a:p>
        </p:txBody>
      </p:sp>
      <p:sp>
        <p:nvSpPr>
          <p:cNvPr id="21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1399086"/>
            <a:ext cx="5593080" cy="4865778"/>
          </a:xfrm>
        </p:spPr>
        <p:txBody>
          <a:bodyPr>
            <a:normAutofit/>
          </a:bodyPr>
          <a:lstStyle>
            <a:lvl1pPr>
              <a:defRPr sz="2000" b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800">
                <a:solidFill>
                  <a:srgbClr val="51237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60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5573" y="230788"/>
            <a:ext cx="437714" cy="48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67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83177" y="217775"/>
            <a:ext cx="11094720" cy="497024"/>
          </a:xfrm>
        </p:spPr>
        <p:txBody>
          <a:bodyPr>
            <a:noAutofit/>
          </a:bodyPr>
          <a:lstStyle>
            <a:lvl1pPr>
              <a:defRPr sz="3200" b="1">
                <a:solidFill>
                  <a:srgbClr val="3886D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7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383177" y="6356347"/>
            <a:ext cx="2743200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8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4143749" y="6356345"/>
            <a:ext cx="4114800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9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170126" y="6363506"/>
            <a:ext cx="2743200" cy="365125"/>
          </a:xfrm>
        </p:spPr>
        <p:txBody>
          <a:bodyPr/>
          <a:lstStyle/>
          <a:p>
            <a:fld id="{2A246A42-501B-4331-B78E-6EAA1B4C824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281321"/>
            <a:ext cx="119566" cy="3447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3886DC"/>
              </a:solidFill>
            </a:endParaRPr>
          </a:p>
        </p:txBody>
      </p:sp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5573" y="230788"/>
            <a:ext cx="437714" cy="48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06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383177" y="6356347"/>
            <a:ext cx="2743200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3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4143749" y="6356345"/>
            <a:ext cx="4114800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170126" y="6363506"/>
            <a:ext cx="2743200" cy="365125"/>
          </a:xfrm>
        </p:spPr>
        <p:txBody>
          <a:bodyPr/>
          <a:lstStyle/>
          <a:p>
            <a:fld id="{2A246A42-501B-4331-B78E-6EAA1B4C82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9545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46A42-501B-4331-B78E-6EAA1B4C82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5829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1" r:id="rId4"/>
    <p:sldLayoutId id="2147483652" r:id="rId5"/>
    <p:sldLayoutId id="2147483653" r:id="rId6"/>
    <p:sldLayoutId id="2147483654" r:id="rId7"/>
    <p:sldLayoutId id="2147483655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2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11" Type="http://schemas.openxmlformats.org/officeDocument/2006/relationships/image" Target="../media/image25.sv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sv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1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2.sv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41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diagramData" Target="../diagrams/data1.xml"/><Relationship Id="rId5" Type="http://schemas.openxmlformats.org/officeDocument/2006/relationships/image" Target="../media/image12.svg"/><Relationship Id="rId10" Type="http://schemas.microsoft.com/office/2007/relationships/diagramDrawing" Target="../diagrams/drawing1.xml"/><Relationship Id="rId4" Type="http://schemas.openxmlformats.org/officeDocument/2006/relationships/image" Target="../media/image11.png"/><Relationship Id="rId9" Type="http://schemas.openxmlformats.org/officeDocument/2006/relationships/diagramColors" Target="../diagrams/colors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5.svg"/><Relationship Id="rId18" Type="http://schemas.openxmlformats.org/officeDocument/2006/relationships/image" Target="../media/image60.png"/><Relationship Id="rId3" Type="http://schemas.openxmlformats.org/officeDocument/2006/relationships/image" Target="../media/image48.png"/><Relationship Id="rId7" Type="http://schemas.openxmlformats.org/officeDocument/2006/relationships/image" Target="../media/image30.svg"/><Relationship Id="rId12" Type="http://schemas.openxmlformats.org/officeDocument/2006/relationships/image" Target="../media/image54.png"/><Relationship Id="rId17" Type="http://schemas.openxmlformats.org/officeDocument/2006/relationships/image" Target="../media/image59.sv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0.png"/><Relationship Id="rId11" Type="http://schemas.openxmlformats.org/officeDocument/2006/relationships/image" Target="../media/image53.svg"/><Relationship Id="rId5" Type="http://schemas.openxmlformats.org/officeDocument/2006/relationships/image" Target="../media/image28.svg"/><Relationship Id="rId15" Type="http://schemas.openxmlformats.org/officeDocument/2006/relationships/image" Target="../media/image57.svg"/><Relationship Id="rId10" Type="http://schemas.openxmlformats.org/officeDocument/2006/relationships/image" Target="../media/image52.png"/><Relationship Id="rId19" Type="http://schemas.openxmlformats.org/officeDocument/2006/relationships/image" Target="../media/image61.svg"/><Relationship Id="rId4" Type="http://schemas.openxmlformats.org/officeDocument/2006/relationships/image" Target="../media/image49.png"/><Relationship Id="rId9" Type="http://schemas.openxmlformats.org/officeDocument/2006/relationships/image" Target="../media/image32.svg"/><Relationship Id="rId1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1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12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13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diagramLayout" Target="../diagrams/layout4.xml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4.xml"/><Relationship Id="rId11" Type="http://schemas.openxmlformats.org/officeDocument/2006/relationships/image" Target="../media/image68.png"/><Relationship Id="rId5" Type="http://schemas.openxmlformats.org/officeDocument/2006/relationships/image" Target="../media/image67.png"/><Relationship Id="rId10" Type="http://schemas.microsoft.com/office/2007/relationships/diagramDrawing" Target="../diagrams/drawing4.xml"/><Relationship Id="rId4" Type="http://schemas.openxmlformats.org/officeDocument/2006/relationships/image" Target="../media/image66.png"/><Relationship Id="rId9" Type="http://schemas.openxmlformats.org/officeDocument/2006/relationships/diagramColors" Target="../diagrams/colors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83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6.JPG"/><Relationship Id="rId5" Type="http://schemas.openxmlformats.org/officeDocument/2006/relationships/image" Target="../media/image85.JPG"/><Relationship Id="rId4" Type="http://schemas.openxmlformats.org/officeDocument/2006/relationships/image" Target="../media/image84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ezweb.easycard.com.tw/search/CardSearch.php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openxmlformats.org/officeDocument/2006/relationships/image" Target="../media/image9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98.pn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10" Type="http://schemas.openxmlformats.org/officeDocument/2006/relationships/image" Target="../media/image12.svg"/><Relationship Id="rId4" Type="http://schemas.openxmlformats.org/officeDocument/2006/relationships/diagramData" Target="../diagrams/data6.xml"/><Relationship Id="rId9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5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11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1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B72906-4EAB-2418-83DF-8F7E586E3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3886DC"/>
                </a:solidFill>
              </a:rPr>
              <a:t>EIP</a:t>
            </a:r>
            <a:r>
              <a:rPr lang="zh-TW" altLang="en-US" dirty="0">
                <a:solidFill>
                  <a:srgbClr val="3886DC"/>
                </a:solidFill>
              </a:rPr>
              <a:t>表單介紹及注意事項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812654A-49A5-711E-6097-A7CC27EA4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86773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53C1160-CE50-1E9E-12AA-41E0BD812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3" name="語音泡泡: 圓角矩形 2">
            <a:extLst>
              <a:ext uri="{FF2B5EF4-FFF2-40B4-BE49-F238E27FC236}">
                <a16:creationId xmlns:a16="http://schemas.microsoft.com/office/drawing/2014/main" id="{CC260998-D954-AEBE-552E-43E8ABB00867}"/>
              </a:ext>
            </a:extLst>
          </p:cNvPr>
          <p:cNvSpPr/>
          <p:nvPr/>
        </p:nvSpPr>
        <p:spPr>
          <a:xfrm>
            <a:off x="1784983" y="376223"/>
            <a:ext cx="3950799" cy="623125"/>
          </a:xfrm>
          <a:prstGeom prst="wedgeRoundRectCallout">
            <a:avLst>
              <a:gd name="adj1" fmla="val -39129"/>
              <a:gd name="adj2" fmla="val 70582"/>
              <a:gd name="adj3" fmla="val 16667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請問跟費用相關的表單有哪幾種呢</a:t>
            </a:r>
            <a:r>
              <a:rPr lang="en-US" altLang="zh-TW" b="1" dirty="0">
                <a:solidFill>
                  <a:schemeClr val="tx2"/>
                </a:solidFill>
              </a:rPr>
              <a:t>?</a:t>
            </a:r>
            <a:endParaRPr lang="zh-TW" altLang="en-US" b="1" dirty="0">
              <a:solidFill>
                <a:schemeClr val="tx2"/>
              </a:solidFill>
            </a:endParaRPr>
          </a:p>
        </p:txBody>
      </p:sp>
      <p:pic>
        <p:nvPicPr>
          <p:cNvPr id="5" name="圖形 4" descr="波浪髮型的男孩">
            <a:extLst>
              <a:ext uri="{FF2B5EF4-FFF2-40B4-BE49-F238E27FC236}">
                <a16:creationId xmlns:a16="http://schemas.microsoft.com/office/drawing/2014/main" id="{D05FC809-9A2C-981B-FCBE-A146D7A22E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516" y="376223"/>
            <a:ext cx="947347" cy="1127794"/>
          </a:xfrm>
          <a:prstGeom prst="rect">
            <a:avLst/>
          </a:prstGeom>
        </p:spPr>
      </p:pic>
      <p:pic>
        <p:nvPicPr>
          <p:cNvPr id="7" name="圖形 6" descr="笑臉">
            <a:extLst>
              <a:ext uri="{FF2B5EF4-FFF2-40B4-BE49-F238E27FC236}">
                <a16:creationId xmlns:a16="http://schemas.microsoft.com/office/drawing/2014/main" id="{11B04504-47B6-0118-E5D7-BB9DAAC6A9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1065" y="877669"/>
            <a:ext cx="451905" cy="466027"/>
          </a:xfrm>
          <a:prstGeom prst="rect">
            <a:avLst/>
          </a:prstGeom>
        </p:spPr>
      </p:pic>
      <p:grpSp>
        <p:nvGrpSpPr>
          <p:cNvPr id="20" name="圖形 16" descr="長波浪髮型的女子">
            <a:extLst>
              <a:ext uri="{FF2B5EF4-FFF2-40B4-BE49-F238E27FC236}">
                <a16:creationId xmlns:a16="http://schemas.microsoft.com/office/drawing/2014/main" id="{F293AB6E-4B30-77EE-6973-404F1CDFC8D7}"/>
              </a:ext>
            </a:extLst>
          </p:cNvPr>
          <p:cNvGrpSpPr/>
          <p:nvPr/>
        </p:nvGrpSpPr>
        <p:grpSpPr>
          <a:xfrm flipH="1">
            <a:off x="10902782" y="999347"/>
            <a:ext cx="1010543" cy="1156277"/>
            <a:chOff x="10656614" y="1349483"/>
            <a:chExt cx="1099282" cy="1197076"/>
          </a:xfrm>
        </p:grpSpPr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A7FBDE01-2A92-9FB0-4E12-CA7A09FD8682}"/>
                </a:ext>
              </a:extLst>
            </p:cNvPr>
            <p:cNvSpPr/>
            <p:nvPr/>
          </p:nvSpPr>
          <p:spPr>
            <a:xfrm>
              <a:off x="10868733" y="1487001"/>
              <a:ext cx="839859" cy="877869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22" name="圖形 16" descr="長波浪髮型的女子">
              <a:extLst>
                <a:ext uri="{FF2B5EF4-FFF2-40B4-BE49-F238E27FC236}">
                  <a16:creationId xmlns:a16="http://schemas.microsoft.com/office/drawing/2014/main" id="{6A4E15BD-18E2-2EDB-D994-E4A80C1490FD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23" name="手繪多邊形: 圖案 22">
                <a:extLst>
                  <a:ext uri="{FF2B5EF4-FFF2-40B4-BE49-F238E27FC236}">
                    <a16:creationId xmlns:a16="http://schemas.microsoft.com/office/drawing/2014/main" id="{13D77C8E-23D3-6218-4409-E0153D125F3D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4" name="手繪多邊形: 圖案 23">
                <a:extLst>
                  <a:ext uri="{FF2B5EF4-FFF2-40B4-BE49-F238E27FC236}">
                    <a16:creationId xmlns:a16="http://schemas.microsoft.com/office/drawing/2014/main" id="{90635041-976E-1ECA-878E-B80A0527F07E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25" name="語音泡泡: 圓角矩形 24">
            <a:extLst>
              <a:ext uri="{FF2B5EF4-FFF2-40B4-BE49-F238E27FC236}">
                <a16:creationId xmlns:a16="http://schemas.microsoft.com/office/drawing/2014/main" id="{E9273D57-CF87-3B90-5E5E-EF17B3BFA837}"/>
              </a:ext>
            </a:extLst>
          </p:cNvPr>
          <p:cNvSpPr/>
          <p:nvPr/>
        </p:nvSpPr>
        <p:spPr>
          <a:xfrm>
            <a:off x="3953164" y="1224331"/>
            <a:ext cx="6457498" cy="537088"/>
          </a:xfrm>
          <a:prstGeom prst="wedgeRoundRectCallout">
            <a:avLst>
              <a:gd name="adj1" fmla="val 41211"/>
              <a:gd name="adj2" fmla="val 70825"/>
              <a:gd name="adj3" fmla="val 16667"/>
            </a:avLst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</a:rPr>
              <a:t>有使用企業卡需求、</a:t>
            </a:r>
            <a:r>
              <a:rPr lang="en-US" altLang="zh-TW" b="1" dirty="0">
                <a:solidFill>
                  <a:schemeClr val="tx1"/>
                </a:solidFill>
              </a:rPr>
              <a:t>3</a:t>
            </a:r>
            <a:r>
              <a:rPr lang="zh-TW" altLang="en-US" b="1" dirty="0">
                <a:solidFill>
                  <a:schemeClr val="tx1"/>
                </a:solidFill>
              </a:rPr>
              <a:t>萬元以上採購須請示主管同意的</a:t>
            </a:r>
            <a:r>
              <a:rPr lang="zh-TW" altLang="en-US" b="1" dirty="0">
                <a:solidFill>
                  <a:srgbClr val="FF0000"/>
                </a:solidFill>
              </a:rPr>
              <a:t>請購單</a:t>
            </a:r>
          </a:p>
        </p:txBody>
      </p:sp>
      <p:pic>
        <p:nvPicPr>
          <p:cNvPr id="27" name="圖形 26" descr="笑臉">
            <a:extLst>
              <a:ext uri="{FF2B5EF4-FFF2-40B4-BE49-F238E27FC236}">
                <a16:creationId xmlns:a16="http://schemas.microsoft.com/office/drawing/2014/main" id="{0128FB23-39F3-DBB3-C499-38729E8D890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10946267" y="1347428"/>
            <a:ext cx="506835" cy="522674"/>
          </a:xfrm>
          <a:prstGeom prst="rect">
            <a:avLst/>
          </a:prstGeom>
        </p:spPr>
      </p:pic>
      <p:sp>
        <p:nvSpPr>
          <p:cNvPr id="28" name="語音泡泡: 圓角矩形 27">
            <a:extLst>
              <a:ext uri="{FF2B5EF4-FFF2-40B4-BE49-F238E27FC236}">
                <a16:creationId xmlns:a16="http://schemas.microsoft.com/office/drawing/2014/main" id="{AB8668E8-8C4A-14CE-2559-638F13E4161A}"/>
              </a:ext>
            </a:extLst>
          </p:cNvPr>
          <p:cNvSpPr/>
          <p:nvPr/>
        </p:nvSpPr>
        <p:spPr>
          <a:xfrm>
            <a:off x="5467927" y="2155625"/>
            <a:ext cx="4905500" cy="537088"/>
          </a:xfrm>
          <a:prstGeom prst="wedgeRoundRectCallout">
            <a:avLst>
              <a:gd name="adj1" fmla="val 41211"/>
              <a:gd name="adj2" fmla="val 70825"/>
              <a:gd name="adj3" fmla="val 16667"/>
            </a:avLst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</a:rPr>
              <a:t>有大額支出需求、具有時效性時使用的</a:t>
            </a:r>
            <a:r>
              <a:rPr lang="zh-TW" altLang="en-US" b="1" dirty="0">
                <a:solidFill>
                  <a:srgbClr val="FF0000"/>
                </a:solidFill>
              </a:rPr>
              <a:t>預支單</a:t>
            </a:r>
          </a:p>
        </p:txBody>
      </p:sp>
      <p:sp>
        <p:nvSpPr>
          <p:cNvPr id="29" name="語音泡泡: 圓角矩形 28">
            <a:extLst>
              <a:ext uri="{FF2B5EF4-FFF2-40B4-BE49-F238E27FC236}">
                <a16:creationId xmlns:a16="http://schemas.microsoft.com/office/drawing/2014/main" id="{96C64046-0057-650A-EB99-4D4D8DCBFF34}"/>
              </a:ext>
            </a:extLst>
          </p:cNvPr>
          <p:cNvSpPr/>
          <p:nvPr/>
        </p:nvSpPr>
        <p:spPr>
          <a:xfrm>
            <a:off x="2503055" y="3086919"/>
            <a:ext cx="7907607" cy="537088"/>
          </a:xfrm>
          <a:prstGeom prst="wedgeRoundRectCallout">
            <a:avLst>
              <a:gd name="adj1" fmla="val 41211"/>
              <a:gd name="adj2" fmla="val 70825"/>
              <a:gd name="adj3" fmla="val 16667"/>
            </a:avLst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</a:rPr>
              <a:t>專案支出代墊的部分、支付教師津貼、工讀生及配合月結廠商款項的</a:t>
            </a:r>
            <a:r>
              <a:rPr lang="zh-TW" altLang="en-US" b="1" dirty="0">
                <a:solidFill>
                  <a:srgbClr val="FF0000"/>
                </a:solidFill>
              </a:rPr>
              <a:t>申購單</a:t>
            </a:r>
          </a:p>
        </p:txBody>
      </p:sp>
      <p:sp>
        <p:nvSpPr>
          <p:cNvPr id="30" name="語音泡泡: 圓角矩形 29">
            <a:extLst>
              <a:ext uri="{FF2B5EF4-FFF2-40B4-BE49-F238E27FC236}">
                <a16:creationId xmlns:a16="http://schemas.microsoft.com/office/drawing/2014/main" id="{3B3651AD-F669-D3C5-A84A-F3B86E9AAF92}"/>
              </a:ext>
            </a:extLst>
          </p:cNvPr>
          <p:cNvSpPr/>
          <p:nvPr/>
        </p:nvSpPr>
        <p:spPr>
          <a:xfrm>
            <a:off x="7620000" y="4018213"/>
            <a:ext cx="2803096" cy="537088"/>
          </a:xfrm>
          <a:prstGeom prst="wedgeRoundRectCallout">
            <a:avLst>
              <a:gd name="adj1" fmla="val 41211"/>
              <a:gd name="adj2" fmla="val 70825"/>
              <a:gd name="adj3" fmla="val 16667"/>
            </a:avLst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</a:rPr>
              <a:t>出差相關費用的填</a:t>
            </a:r>
            <a:r>
              <a:rPr lang="zh-TW" altLang="en-US" b="1" dirty="0">
                <a:solidFill>
                  <a:srgbClr val="FF0000"/>
                </a:solidFill>
              </a:rPr>
              <a:t>差旅單</a:t>
            </a:r>
          </a:p>
        </p:txBody>
      </p:sp>
      <p:sp>
        <p:nvSpPr>
          <p:cNvPr id="31" name="語音泡泡: 圓角矩形 30">
            <a:extLst>
              <a:ext uri="{FF2B5EF4-FFF2-40B4-BE49-F238E27FC236}">
                <a16:creationId xmlns:a16="http://schemas.microsoft.com/office/drawing/2014/main" id="{3A291CF2-0F7F-E911-CB9F-10822477DBD9}"/>
              </a:ext>
            </a:extLst>
          </p:cNvPr>
          <p:cNvSpPr/>
          <p:nvPr/>
        </p:nvSpPr>
        <p:spPr>
          <a:xfrm>
            <a:off x="6701742" y="4949507"/>
            <a:ext cx="3708920" cy="537088"/>
          </a:xfrm>
          <a:prstGeom prst="wedgeRoundRectCallout">
            <a:avLst>
              <a:gd name="adj1" fmla="val 41211"/>
              <a:gd name="adj2" fmla="val 70825"/>
              <a:gd name="adj3" fmla="val 16667"/>
            </a:avLst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</a:rPr>
              <a:t>請櫃檯協助郵寄或宅配文件</a:t>
            </a:r>
            <a:r>
              <a:rPr lang="zh-TW" altLang="en-US" b="1" dirty="0">
                <a:solidFill>
                  <a:srgbClr val="FF0000"/>
                </a:solidFill>
              </a:rPr>
              <a:t>郵寄單</a:t>
            </a:r>
          </a:p>
        </p:txBody>
      </p:sp>
      <p:sp>
        <p:nvSpPr>
          <p:cNvPr id="32" name="語音泡泡: 圓角矩形 31">
            <a:extLst>
              <a:ext uri="{FF2B5EF4-FFF2-40B4-BE49-F238E27FC236}">
                <a16:creationId xmlns:a16="http://schemas.microsoft.com/office/drawing/2014/main" id="{74D8484D-80AC-8158-5F74-CB8D904298CE}"/>
              </a:ext>
            </a:extLst>
          </p:cNvPr>
          <p:cNvSpPr/>
          <p:nvPr/>
        </p:nvSpPr>
        <p:spPr>
          <a:xfrm>
            <a:off x="7185890" y="5880801"/>
            <a:ext cx="3237205" cy="537088"/>
          </a:xfrm>
          <a:prstGeom prst="wedgeRoundRectCallout">
            <a:avLst>
              <a:gd name="adj1" fmla="val 41211"/>
              <a:gd name="adj2" fmla="val 70825"/>
              <a:gd name="adj3" fmla="val 16667"/>
            </a:avLst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</a:rPr>
              <a:t>電信及台電帳單支出填</a:t>
            </a:r>
            <a:r>
              <a:rPr lang="zh-TW" altLang="en-US" b="1" dirty="0">
                <a:solidFill>
                  <a:srgbClr val="FF0000"/>
                </a:solidFill>
              </a:rPr>
              <a:t>電信單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CE41852-CBA9-BCF5-095F-AF4C34B17C71}"/>
              </a:ext>
            </a:extLst>
          </p:cNvPr>
          <p:cNvSpPr txBox="1"/>
          <p:nvPr/>
        </p:nvSpPr>
        <p:spPr>
          <a:xfrm>
            <a:off x="817798" y="147451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同仁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D703A191-ED3B-9302-AFDA-97ECCA083232}"/>
              </a:ext>
            </a:extLst>
          </p:cNvPr>
          <p:cNvSpPr txBox="1"/>
          <p:nvPr/>
        </p:nvSpPr>
        <p:spPr>
          <a:xfrm>
            <a:off x="10754376" y="21114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財務人員</a:t>
            </a:r>
          </a:p>
        </p:txBody>
      </p:sp>
    </p:spTree>
    <p:extLst>
      <p:ext uri="{BB962C8B-B14F-4D97-AF65-F5344CB8AC3E}">
        <p14:creationId xmlns:p14="http://schemas.microsoft.com/office/powerpoint/2010/main" val="3569115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5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95565A0D-FE01-0978-8BFD-196A7B02EDA0}"/>
              </a:ext>
            </a:extLst>
          </p:cNvPr>
          <p:cNvSpPr/>
          <p:nvPr/>
        </p:nvSpPr>
        <p:spPr>
          <a:xfrm>
            <a:off x="244825" y="5484287"/>
            <a:ext cx="3083286" cy="845861"/>
          </a:xfrm>
          <a:prstGeom prst="round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F11ED41-2A66-E1B2-95A5-27526D58D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54337337-1375-1696-D859-CE783DEA80FB}"/>
              </a:ext>
            </a:extLst>
          </p:cNvPr>
          <p:cNvSpPr/>
          <p:nvPr/>
        </p:nvSpPr>
        <p:spPr>
          <a:xfrm>
            <a:off x="-2" y="1"/>
            <a:ext cx="4873349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/>
              <a:t>表 單 及 會 計 作 業 流 程</a:t>
            </a:r>
          </a:p>
        </p:txBody>
      </p:sp>
      <p:sp>
        <p:nvSpPr>
          <p:cNvPr id="6" name="圖說文字: 向右箭號 5">
            <a:extLst>
              <a:ext uri="{FF2B5EF4-FFF2-40B4-BE49-F238E27FC236}">
                <a16:creationId xmlns:a16="http://schemas.microsoft.com/office/drawing/2014/main" id="{8B01E22E-679E-613F-8EA7-83081F3D0C2F}"/>
              </a:ext>
            </a:extLst>
          </p:cNvPr>
          <p:cNvSpPr/>
          <p:nvPr/>
        </p:nvSpPr>
        <p:spPr>
          <a:xfrm>
            <a:off x="414463" y="1058860"/>
            <a:ext cx="1388961" cy="1551008"/>
          </a:xfrm>
          <a:prstGeom prst="right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請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購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單</a:t>
            </a:r>
            <a:endParaRPr lang="zh-TW" altLang="en-US" sz="16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7" name="圖說文字: 向右箭號 6">
            <a:extLst>
              <a:ext uri="{FF2B5EF4-FFF2-40B4-BE49-F238E27FC236}">
                <a16:creationId xmlns:a16="http://schemas.microsoft.com/office/drawing/2014/main" id="{AE0B2BB4-0513-E39E-B8CF-BA43AB55B864}"/>
              </a:ext>
            </a:extLst>
          </p:cNvPr>
          <p:cNvSpPr/>
          <p:nvPr/>
        </p:nvSpPr>
        <p:spPr>
          <a:xfrm>
            <a:off x="1939151" y="1063124"/>
            <a:ext cx="1388961" cy="1551008"/>
          </a:xfrm>
          <a:prstGeom prst="right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申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購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單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zh-TW" altLang="en-US" sz="16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8" name="圖說文字: 向右箭號 7">
            <a:extLst>
              <a:ext uri="{FF2B5EF4-FFF2-40B4-BE49-F238E27FC236}">
                <a16:creationId xmlns:a16="http://schemas.microsoft.com/office/drawing/2014/main" id="{4F881FAA-CD50-E7E8-97F5-D02F665B1114}"/>
              </a:ext>
            </a:extLst>
          </p:cNvPr>
          <p:cNvSpPr/>
          <p:nvPr/>
        </p:nvSpPr>
        <p:spPr>
          <a:xfrm>
            <a:off x="1939150" y="2952357"/>
            <a:ext cx="1388961" cy="1551008"/>
          </a:xfrm>
          <a:prstGeom prst="right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差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旅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單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zh-TW" altLang="en-US" sz="16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9" name="圖說文字: 向右箭號 8">
            <a:extLst>
              <a:ext uri="{FF2B5EF4-FFF2-40B4-BE49-F238E27FC236}">
                <a16:creationId xmlns:a16="http://schemas.microsoft.com/office/drawing/2014/main" id="{C9C02B61-49E7-EECE-04C7-91E4FB3EE43D}"/>
              </a:ext>
            </a:extLst>
          </p:cNvPr>
          <p:cNvSpPr/>
          <p:nvPr/>
        </p:nvSpPr>
        <p:spPr>
          <a:xfrm>
            <a:off x="414463" y="2941443"/>
            <a:ext cx="1388961" cy="1561922"/>
          </a:xfrm>
          <a:prstGeom prst="right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公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假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單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zh-TW" altLang="en-US" sz="16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0" name="圖說文字: 向右箭號 9">
            <a:extLst>
              <a:ext uri="{FF2B5EF4-FFF2-40B4-BE49-F238E27FC236}">
                <a16:creationId xmlns:a16="http://schemas.microsoft.com/office/drawing/2014/main" id="{7B97A8C7-427B-5209-262F-D859F0D5ADC7}"/>
              </a:ext>
            </a:extLst>
          </p:cNvPr>
          <p:cNvSpPr/>
          <p:nvPr/>
        </p:nvSpPr>
        <p:spPr>
          <a:xfrm>
            <a:off x="3484386" y="4812498"/>
            <a:ext cx="1388961" cy="1551008"/>
          </a:xfrm>
          <a:prstGeom prst="right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預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支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單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zh-TW" altLang="en-US" sz="16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1" name="圖說文字: 向右箭號 10">
            <a:extLst>
              <a:ext uri="{FF2B5EF4-FFF2-40B4-BE49-F238E27FC236}">
                <a16:creationId xmlns:a16="http://schemas.microsoft.com/office/drawing/2014/main" id="{C67D9F82-C7AF-6EC6-645A-11ACD6BC4761}"/>
              </a:ext>
            </a:extLst>
          </p:cNvPr>
          <p:cNvSpPr/>
          <p:nvPr/>
        </p:nvSpPr>
        <p:spPr>
          <a:xfrm>
            <a:off x="3485564" y="1058860"/>
            <a:ext cx="1388961" cy="3428035"/>
          </a:xfrm>
          <a:prstGeom prst="rightArrowCallou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rgbClr val="EC2B32"/>
              </a:solidFill>
              <a:latin typeface="+mj-ea"/>
              <a:ea typeface="+mj-ea"/>
            </a:endParaRPr>
          </a:p>
          <a:p>
            <a:pPr algn="ctr"/>
            <a:r>
              <a:rPr lang="en-US" altLang="zh-TW" sz="2000" b="1" dirty="0">
                <a:solidFill>
                  <a:srgbClr val="EC2B32"/>
                </a:solidFill>
                <a:latin typeface="+mj-ea"/>
                <a:ea typeface="+mj-ea"/>
              </a:rPr>
              <a:t>A</a:t>
            </a:r>
          </a:p>
          <a:p>
            <a:pPr algn="ctr"/>
            <a:endParaRPr lang="en-US" altLang="zh-TW" sz="2000" b="1" dirty="0">
              <a:solidFill>
                <a:srgbClr val="EC2B3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會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計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作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帳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zh-TW" altLang="en-US" sz="16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2" name="圖說文字: 向右箭號 11">
            <a:extLst>
              <a:ext uri="{FF2B5EF4-FFF2-40B4-BE49-F238E27FC236}">
                <a16:creationId xmlns:a16="http://schemas.microsoft.com/office/drawing/2014/main" id="{9BF720CC-EDB5-1215-5B4E-767C7C33BF51}"/>
              </a:ext>
            </a:extLst>
          </p:cNvPr>
          <p:cNvSpPr/>
          <p:nvPr/>
        </p:nvSpPr>
        <p:spPr>
          <a:xfrm>
            <a:off x="5010251" y="1058859"/>
            <a:ext cx="1388961" cy="5271289"/>
          </a:xfrm>
          <a:prstGeom prst="rightArrowCallou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EC2B32"/>
                </a:solidFill>
                <a:latin typeface="+mj-ea"/>
                <a:ea typeface="+mj-ea"/>
              </a:rPr>
              <a:t>A</a:t>
            </a: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出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納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作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帳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zh-TW" altLang="en-US" sz="16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3" name="圖說文字: 向右箭號 12">
            <a:extLst>
              <a:ext uri="{FF2B5EF4-FFF2-40B4-BE49-F238E27FC236}">
                <a16:creationId xmlns:a16="http://schemas.microsoft.com/office/drawing/2014/main" id="{FED98C13-022A-00A9-5904-78A8CEA06136}"/>
              </a:ext>
            </a:extLst>
          </p:cNvPr>
          <p:cNvSpPr/>
          <p:nvPr/>
        </p:nvSpPr>
        <p:spPr>
          <a:xfrm>
            <a:off x="6502626" y="1061390"/>
            <a:ext cx="1388961" cy="5271289"/>
          </a:xfrm>
          <a:prstGeom prst="rightArrowCallou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en-US" altLang="zh-TW" sz="2000" b="1" dirty="0">
                <a:solidFill>
                  <a:srgbClr val="EC2B32"/>
                </a:solidFill>
                <a:latin typeface="+mj-ea"/>
                <a:ea typeface="+mj-ea"/>
              </a:rPr>
              <a:t>A</a:t>
            </a: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主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管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覆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核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zh-TW" altLang="en-US" sz="16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pic>
        <p:nvPicPr>
          <p:cNvPr id="17" name="圖形 16" descr="留言 (重要) 以實心填滿">
            <a:extLst>
              <a:ext uri="{FF2B5EF4-FFF2-40B4-BE49-F238E27FC236}">
                <a16:creationId xmlns:a16="http://schemas.microsoft.com/office/drawing/2014/main" id="{20B0F366-A815-9EDA-1196-BD3BC313DA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821" y="850987"/>
            <a:ext cx="531313" cy="532414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C6552820-9068-7EC6-CF4C-43630CB74CF3}"/>
              </a:ext>
            </a:extLst>
          </p:cNvPr>
          <p:cNvSpPr txBox="1"/>
          <p:nvPr/>
        </p:nvSpPr>
        <p:spPr>
          <a:xfrm>
            <a:off x="283492" y="5540303"/>
            <a:ext cx="30059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/>
              <a:t>未滿</a:t>
            </a:r>
            <a:r>
              <a:rPr lang="en-US" altLang="zh-TW" sz="2000" b="1" dirty="0"/>
              <a:t>3</a:t>
            </a:r>
            <a:r>
              <a:rPr lang="zh-TW" altLang="en-US" sz="2000" b="1" dirty="0"/>
              <a:t>萬元、未使用公務</a:t>
            </a:r>
            <a:endParaRPr lang="en-US" altLang="zh-TW" sz="2000" b="1" dirty="0"/>
          </a:p>
          <a:p>
            <a:r>
              <a:rPr lang="zh-TW" altLang="en-US" sz="2000" b="1" dirty="0"/>
              <a:t>卡、免請購項目無須填寫</a:t>
            </a:r>
          </a:p>
        </p:txBody>
      </p:sp>
      <p:pic>
        <p:nvPicPr>
          <p:cNvPr id="18" name="圖形 17" descr="留言 (重要) 以實心填滿">
            <a:extLst>
              <a:ext uri="{FF2B5EF4-FFF2-40B4-BE49-F238E27FC236}">
                <a16:creationId xmlns:a16="http://schemas.microsoft.com/office/drawing/2014/main" id="{D5F108E0-0568-A196-26E1-CFE449E3BF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25" y="4954689"/>
            <a:ext cx="853802" cy="853802"/>
          </a:xfrm>
          <a:prstGeom prst="rect">
            <a:avLst/>
          </a:prstGeom>
        </p:spPr>
      </p:pic>
      <p:sp>
        <p:nvSpPr>
          <p:cNvPr id="22" name="圖說文字: 向右箭號 10">
            <a:extLst>
              <a:ext uri="{FF2B5EF4-FFF2-40B4-BE49-F238E27FC236}">
                <a16:creationId xmlns:a16="http://schemas.microsoft.com/office/drawing/2014/main" id="{C67D9F82-C7AF-6EC6-645A-11ACD6BC4761}"/>
              </a:ext>
            </a:extLst>
          </p:cNvPr>
          <p:cNvSpPr/>
          <p:nvPr/>
        </p:nvSpPr>
        <p:spPr>
          <a:xfrm>
            <a:off x="7995001" y="1037538"/>
            <a:ext cx="1388961" cy="5292610"/>
          </a:xfrm>
          <a:prstGeom prst="rightArrowCallou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rgbClr val="EC2B3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rgbClr val="EC2B3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rgbClr val="EC2B3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rgbClr val="EC2B32"/>
              </a:solidFill>
              <a:latin typeface="+mj-ea"/>
              <a:ea typeface="+mj-ea"/>
            </a:endParaRPr>
          </a:p>
          <a:p>
            <a:pPr algn="ctr"/>
            <a:r>
              <a:rPr lang="en-US" altLang="zh-TW" sz="2000" b="1" dirty="0">
                <a:solidFill>
                  <a:srgbClr val="EC2B32"/>
                </a:solidFill>
                <a:latin typeface="+mj-ea"/>
                <a:ea typeface="+mj-ea"/>
              </a:rPr>
              <a:t>A</a:t>
            </a: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撥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款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zh-TW" altLang="en-US" sz="16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487376" y="1037537"/>
            <a:ext cx="914400" cy="34280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2000" b="1" dirty="0">
              <a:solidFill>
                <a:srgbClr val="EC2B3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rgbClr val="EC2B3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rgbClr val="EC2B32"/>
              </a:solidFill>
              <a:latin typeface="+mj-ea"/>
              <a:ea typeface="+mj-ea"/>
            </a:endParaRPr>
          </a:p>
          <a:p>
            <a:pPr algn="ctr"/>
            <a:r>
              <a:rPr lang="en-US" altLang="zh-TW" sz="2000" b="1" dirty="0">
                <a:solidFill>
                  <a:srgbClr val="EC2B32"/>
                </a:solidFill>
                <a:latin typeface="+mj-ea"/>
                <a:ea typeface="+mj-ea"/>
              </a:rPr>
              <a:t>A</a:t>
            </a: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結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案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zh-TW" altLang="en-US" sz="20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3" name="圖說文字: 向右箭號 10">
            <a:extLst>
              <a:ext uri="{FF2B5EF4-FFF2-40B4-BE49-F238E27FC236}">
                <a16:creationId xmlns:a16="http://schemas.microsoft.com/office/drawing/2014/main" id="{C67D9F82-C7AF-6EC6-645A-11ACD6BC4761}"/>
              </a:ext>
            </a:extLst>
          </p:cNvPr>
          <p:cNvSpPr/>
          <p:nvPr/>
        </p:nvSpPr>
        <p:spPr>
          <a:xfrm>
            <a:off x="9487376" y="4706027"/>
            <a:ext cx="1388961" cy="1551008"/>
          </a:xfrm>
          <a:prstGeom prst="rightArrowCallou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核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chemeClr val="tx2"/>
                </a:solidFill>
                <a:latin typeface="+mj-ea"/>
                <a:ea typeface="+mj-ea"/>
              </a:rPr>
              <a:t>銷</a:t>
            </a:r>
          </a:p>
        </p:txBody>
      </p:sp>
      <p:sp>
        <p:nvSpPr>
          <p:cNvPr id="24" name="矩形 23"/>
          <p:cNvSpPr/>
          <p:nvPr/>
        </p:nvSpPr>
        <p:spPr>
          <a:xfrm>
            <a:off x="11012063" y="4706027"/>
            <a:ext cx="914400" cy="15510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EC2B32"/>
                </a:solidFill>
                <a:latin typeface="+mj-ea"/>
                <a:ea typeface="+mj-ea"/>
              </a:rPr>
              <a:t>同</a:t>
            </a:r>
            <a:endParaRPr lang="en-US" altLang="zh-TW" sz="2000" b="1" dirty="0">
              <a:solidFill>
                <a:srgbClr val="EC2B32"/>
              </a:solidFill>
              <a:latin typeface="+mj-ea"/>
              <a:ea typeface="+mj-ea"/>
            </a:endParaRPr>
          </a:p>
          <a:p>
            <a:pPr algn="ctr"/>
            <a:r>
              <a:rPr lang="en-US" altLang="zh-TW" sz="2000" b="1" dirty="0">
                <a:solidFill>
                  <a:srgbClr val="EC2B32"/>
                </a:solidFill>
                <a:latin typeface="+mj-ea"/>
                <a:ea typeface="+mj-ea"/>
              </a:rPr>
              <a:t>A</a:t>
            </a:r>
          </a:p>
          <a:p>
            <a:pPr algn="ctr"/>
            <a:r>
              <a:rPr lang="zh-TW" altLang="en-US" sz="2000" b="1" dirty="0">
                <a:solidFill>
                  <a:srgbClr val="EC2B32"/>
                </a:solidFill>
                <a:latin typeface="+mj-ea"/>
                <a:ea typeface="+mj-ea"/>
              </a:rPr>
              <a:t>流</a:t>
            </a:r>
            <a:endParaRPr lang="en-US" altLang="zh-TW" sz="2000" b="1" dirty="0">
              <a:solidFill>
                <a:srgbClr val="EC2B32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2000" b="1" dirty="0">
                <a:solidFill>
                  <a:srgbClr val="EC2B32"/>
                </a:solidFill>
                <a:latin typeface="+mj-ea"/>
                <a:ea typeface="+mj-ea"/>
              </a:rPr>
              <a:t>程</a:t>
            </a:r>
            <a:endParaRPr lang="en-US" altLang="zh-TW" sz="20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5223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6" grpId="0" animBg="1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圓角矩形 15"/>
          <p:cNvSpPr/>
          <p:nvPr/>
        </p:nvSpPr>
        <p:spPr>
          <a:xfrm>
            <a:off x="1257300" y="5549366"/>
            <a:ext cx="8926561" cy="92491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rgbClr val="FF0000"/>
                </a:solidFill>
              </a:rPr>
              <a:t>並非表單簽完就會馬上撥款唷</a:t>
            </a:r>
            <a:r>
              <a:rPr lang="zh-TW" altLang="en-US" b="1" dirty="0">
                <a:solidFill>
                  <a:schemeClr val="tx2"/>
                </a:solidFill>
              </a:rPr>
              <a:t>！後續還需要財務人員作帳、出納人員抓撥付明細、主管覆核撥款資料並至網銀放行才會進入交易排程，若對於款項有問題可向出納詢問。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767A394-403F-8F1C-8928-22F6BBE91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4</a:t>
            </a:fld>
            <a:endParaRPr lang="zh-TW" altLang="en-US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1048591D-5E43-683F-F318-4F9AD6F029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143440"/>
              </p:ext>
            </p:extLst>
          </p:nvPr>
        </p:nvGraphicFramePr>
        <p:xfrm>
          <a:off x="1040685" y="1291473"/>
          <a:ext cx="10116592" cy="3932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5707">
                  <a:extLst>
                    <a:ext uri="{9D8B030D-6E8A-4147-A177-3AD203B41FA5}">
                      <a16:colId xmlns:a16="http://schemas.microsoft.com/office/drawing/2014/main" val="3049398993"/>
                    </a:ext>
                  </a:extLst>
                </a:gridCol>
                <a:gridCol w="4541715">
                  <a:extLst>
                    <a:ext uri="{9D8B030D-6E8A-4147-A177-3AD203B41FA5}">
                      <a16:colId xmlns:a16="http://schemas.microsoft.com/office/drawing/2014/main" val="3282105734"/>
                    </a:ext>
                  </a:extLst>
                </a:gridCol>
                <a:gridCol w="2949170">
                  <a:extLst>
                    <a:ext uri="{9D8B030D-6E8A-4147-A177-3AD203B41FA5}">
                      <a16:colId xmlns:a16="http://schemas.microsoft.com/office/drawing/2014/main" val="1186712211"/>
                    </a:ext>
                  </a:extLst>
                </a:gridCol>
              </a:tblGrid>
              <a:tr h="58751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表單</a:t>
                      </a:r>
                      <a:r>
                        <a:rPr lang="en-US" altLang="zh-TW" sz="2000" dirty="0"/>
                        <a:t>-</a:t>
                      </a:r>
                      <a:r>
                        <a:rPr lang="zh-TW" altLang="en-US" sz="2000" dirty="0"/>
                        <a:t>給付對象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撥款日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備註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88246"/>
                  </a:ext>
                </a:extLst>
              </a:tr>
              <a:tr h="4387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dirty="0"/>
                        <a:t>差旅單</a:t>
                      </a:r>
                      <a:r>
                        <a:rPr lang="en-US" altLang="zh-TW" sz="2000" b="0" dirty="0"/>
                        <a:t>-</a:t>
                      </a:r>
                      <a:r>
                        <a:rPr lang="zh-TW" altLang="en-US" sz="2000" b="0" dirty="0"/>
                        <a:t>同仁代墊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dirty="0"/>
                        <a:t>每周四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dirty="0"/>
                        <a:t>遇假日提前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5452721"/>
                  </a:ext>
                </a:extLst>
              </a:tr>
              <a:tr h="43873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dirty="0"/>
                        <a:t>申購單</a:t>
                      </a:r>
                      <a:r>
                        <a:rPr lang="en-US" altLang="zh-TW" sz="2000" b="0" dirty="0"/>
                        <a:t>-</a:t>
                      </a:r>
                      <a:r>
                        <a:rPr lang="zh-TW" altLang="en-US" sz="2000" b="0" dirty="0"/>
                        <a:t>同仁代墊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dirty="0"/>
                        <a:t>每周四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298544"/>
                  </a:ext>
                </a:extLst>
              </a:tr>
              <a:tr h="43873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dirty="0"/>
                        <a:t>申購單</a:t>
                      </a:r>
                      <a:r>
                        <a:rPr lang="en-US" altLang="zh-TW" sz="2000" b="0" dirty="0"/>
                        <a:t>-</a:t>
                      </a:r>
                      <a:r>
                        <a:rPr lang="zh-TW" altLang="en-US" sz="2000" b="0" dirty="0"/>
                        <a:t>工讀生</a:t>
                      </a:r>
                      <a:endParaRPr lang="en-US" altLang="zh-TW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dirty="0"/>
                        <a:t>每月</a:t>
                      </a:r>
                      <a:r>
                        <a:rPr lang="en-US" altLang="zh-TW" sz="2000" b="0" dirty="0"/>
                        <a:t>10</a:t>
                      </a:r>
                      <a:r>
                        <a:rPr lang="zh-TW" altLang="en-US" sz="2000" b="0" dirty="0"/>
                        <a:t>日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673055"/>
                  </a:ext>
                </a:extLst>
              </a:tr>
              <a:tr h="43873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dirty="0"/>
                        <a:t>申購單</a:t>
                      </a:r>
                      <a:r>
                        <a:rPr lang="en-US" altLang="zh-TW" sz="2000" b="0" dirty="0"/>
                        <a:t>-</a:t>
                      </a:r>
                      <a:r>
                        <a:rPr lang="zh-TW" altLang="en-US" sz="2000" b="0" dirty="0"/>
                        <a:t>教師津貼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dirty="0"/>
                        <a:t>每月</a:t>
                      </a:r>
                      <a:r>
                        <a:rPr lang="en-US" altLang="zh-TW" sz="2000" b="0" dirty="0"/>
                        <a:t>15</a:t>
                      </a:r>
                      <a:r>
                        <a:rPr lang="zh-TW" altLang="en-US" sz="2000" b="0" dirty="0"/>
                        <a:t>日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767940"/>
                  </a:ext>
                </a:extLst>
              </a:tr>
              <a:tr h="79521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dirty="0"/>
                        <a:t>申購單</a:t>
                      </a:r>
                      <a:r>
                        <a:rPr lang="en-US" altLang="zh-TW" sz="2000" b="0" dirty="0"/>
                        <a:t>-</a:t>
                      </a:r>
                      <a:r>
                        <a:rPr lang="zh-TW" altLang="en-US" sz="2000" b="0" dirty="0"/>
                        <a:t>廠商貨款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dirty="0"/>
                        <a:t>每月</a:t>
                      </a:r>
                      <a:r>
                        <a:rPr lang="en-US" altLang="zh-TW" sz="2000" b="0" dirty="0"/>
                        <a:t>28</a:t>
                      </a:r>
                      <a:r>
                        <a:rPr lang="zh-TW" altLang="en-US" sz="2000" b="0" dirty="0"/>
                        <a:t>日</a:t>
                      </a:r>
                      <a:br>
                        <a:rPr lang="en-US" altLang="zh-TW" sz="2000" b="0" dirty="0"/>
                      </a:br>
                      <a:r>
                        <a:rPr lang="en-US" altLang="zh-TW" sz="2000" b="0" dirty="0"/>
                        <a:t>(</a:t>
                      </a:r>
                      <a:r>
                        <a:rPr lang="zh-TW" altLang="en-US" sz="20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依發票月份起算次次月</a:t>
                      </a:r>
                      <a:r>
                        <a:rPr lang="en-US" altLang="zh-TW" sz="20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</a:t>
                      </a:r>
                      <a:r>
                        <a:rPr lang="zh-TW" altLang="en-US" sz="20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日撥款</a:t>
                      </a:r>
                      <a:r>
                        <a:rPr lang="en-US" altLang="zh-TW" sz="20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dirty="0"/>
                        <a:t>遇假日延後至</a:t>
                      </a:r>
                      <a:endParaRPr lang="en-US" altLang="zh-TW" sz="2000" b="0" dirty="0"/>
                    </a:p>
                    <a:p>
                      <a:pPr algn="ctr"/>
                      <a:r>
                        <a:rPr lang="zh-TW" altLang="en-US" sz="2000" b="0" dirty="0"/>
                        <a:t>次一個工作天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387621"/>
                  </a:ext>
                </a:extLst>
              </a:tr>
              <a:tr h="79521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dirty="0"/>
                        <a:t>預支單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dirty="0"/>
                        <a:t>預計取款日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dirty="0"/>
                        <a:t>取款日當天可先詢</a:t>
                      </a:r>
                      <a:endParaRPr lang="en-US" altLang="zh-TW" sz="2000" b="0" dirty="0"/>
                    </a:p>
                    <a:p>
                      <a:pPr algn="ctr"/>
                      <a:r>
                        <a:rPr lang="zh-TW" altLang="en-US" sz="2000" b="0" dirty="0"/>
                        <a:t>問出納是否可領款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8163"/>
                  </a:ext>
                </a:extLst>
              </a:tr>
            </a:tbl>
          </a:graphicData>
        </a:graphic>
      </p:graphicFrame>
      <p:sp>
        <p:nvSpPr>
          <p:cNvPr id="8" name="箭號: 五邊形 3">
            <a:extLst>
              <a:ext uri="{FF2B5EF4-FFF2-40B4-BE49-F238E27FC236}">
                <a16:creationId xmlns:a16="http://schemas.microsoft.com/office/drawing/2014/main" id="{CB982365-BE74-F9A5-4815-6E77D24607FD}"/>
              </a:ext>
            </a:extLst>
          </p:cNvPr>
          <p:cNvSpPr/>
          <p:nvPr/>
        </p:nvSpPr>
        <p:spPr>
          <a:xfrm>
            <a:off x="0" y="0"/>
            <a:ext cx="3895107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/>
              <a:t>撥 款 日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057A909-1DFF-CAE9-DAC5-AB5BE040C02D}"/>
              </a:ext>
            </a:extLst>
          </p:cNvPr>
          <p:cNvSpPr/>
          <p:nvPr/>
        </p:nvSpPr>
        <p:spPr>
          <a:xfrm>
            <a:off x="9983808" y="5383584"/>
            <a:ext cx="1208387" cy="1090692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0" name="圖形 16" descr="長波浪髮型的女子">
            <a:extLst>
              <a:ext uri="{FF2B5EF4-FFF2-40B4-BE49-F238E27FC236}">
                <a16:creationId xmlns:a16="http://schemas.microsoft.com/office/drawing/2014/main" id="{23CDF577-B2FB-2521-EBEB-7E99174C6817}"/>
              </a:ext>
            </a:extLst>
          </p:cNvPr>
          <p:cNvGrpSpPr/>
          <p:nvPr/>
        </p:nvGrpSpPr>
        <p:grpSpPr>
          <a:xfrm rot="400818" flipH="1">
            <a:off x="10206136" y="5462505"/>
            <a:ext cx="807743" cy="856927"/>
            <a:chOff x="10656614" y="1349483"/>
            <a:chExt cx="1099282" cy="1197076"/>
          </a:xfrm>
        </p:grpSpPr>
        <p:sp>
          <p:nvSpPr>
            <p:cNvPr id="11" name="手繪多邊形: 圖案 11">
              <a:extLst>
                <a:ext uri="{FF2B5EF4-FFF2-40B4-BE49-F238E27FC236}">
                  <a16:creationId xmlns:a16="http://schemas.microsoft.com/office/drawing/2014/main" id="{124A3ECE-1B9F-AA3E-F8B1-0412EBA51075}"/>
                </a:ext>
              </a:extLst>
            </p:cNvPr>
            <p:cNvSpPr/>
            <p:nvPr/>
          </p:nvSpPr>
          <p:spPr>
            <a:xfrm>
              <a:off x="10868733" y="1487001"/>
              <a:ext cx="839859" cy="877869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12" name="圖形 16" descr="長波浪髮型的女子">
              <a:extLst>
                <a:ext uri="{FF2B5EF4-FFF2-40B4-BE49-F238E27FC236}">
                  <a16:creationId xmlns:a16="http://schemas.microsoft.com/office/drawing/2014/main" id="{3E0DEE2D-D06E-8B28-F74D-6A884C999030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13" name="手繪多邊形: 圖案 13">
                <a:extLst>
                  <a:ext uri="{FF2B5EF4-FFF2-40B4-BE49-F238E27FC236}">
                    <a16:creationId xmlns:a16="http://schemas.microsoft.com/office/drawing/2014/main" id="{931D9469-DA99-728E-689A-C62FCD0E2114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4" name="手繪多邊形: 圖案 14">
                <a:extLst>
                  <a:ext uri="{FF2B5EF4-FFF2-40B4-BE49-F238E27FC236}">
                    <a16:creationId xmlns:a16="http://schemas.microsoft.com/office/drawing/2014/main" id="{6B554734-2B73-DC69-5832-B521E83F0AAE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15" name="圖形 15" descr="笑臉">
            <a:extLst>
              <a:ext uri="{FF2B5EF4-FFF2-40B4-BE49-F238E27FC236}">
                <a16:creationId xmlns:a16="http://schemas.microsoft.com/office/drawing/2014/main" id="{08DDFCF9-A46E-8E0A-CDAD-7AA2BB34E0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737482" flipH="1">
            <a:off x="10234523" y="5697836"/>
            <a:ext cx="433226" cy="44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請 購 單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2699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語音泡泡: 圓角矩形 13">
            <a:extLst>
              <a:ext uri="{FF2B5EF4-FFF2-40B4-BE49-F238E27FC236}">
                <a16:creationId xmlns:a16="http://schemas.microsoft.com/office/drawing/2014/main" id="{210CC31B-FA2E-1A87-7DD5-BDEE0AB90B8E}"/>
              </a:ext>
            </a:extLst>
          </p:cNvPr>
          <p:cNvSpPr/>
          <p:nvPr/>
        </p:nvSpPr>
        <p:spPr>
          <a:xfrm>
            <a:off x="1810659" y="2345292"/>
            <a:ext cx="4552502" cy="989046"/>
          </a:xfrm>
          <a:prstGeom prst="wedgeRoundRectCallout">
            <a:avLst>
              <a:gd name="adj1" fmla="val -37067"/>
              <a:gd name="adj2" fmla="val 46088"/>
              <a:gd name="adj3" fmla="val 16667"/>
            </a:avLst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67FB612C-500C-F24B-24A4-0D10D91DCAA1}"/>
              </a:ext>
            </a:extLst>
          </p:cNvPr>
          <p:cNvSpPr/>
          <p:nvPr/>
        </p:nvSpPr>
        <p:spPr>
          <a:xfrm rot="20303317">
            <a:off x="499836" y="1654865"/>
            <a:ext cx="1410787" cy="1387273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302E616-16DD-F0FF-00B5-9E6A92D51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A4417B3-F3BA-DE62-DA1F-99EB36F764C1}"/>
              </a:ext>
            </a:extLst>
          </p:cNvPr>
          <p:cNvSpPr txBox="1"/>
          <p:nvPr/>
        </p:nvSpPr>
        <p:spPr>
          <a:xfrm>
            <a:off x="2005105" y="2516045"/>
            <a:ext cx="4361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/>
              <a:t>依據中心管理辦法，</a:t>
            </a:r>
            <a:r>
              <a:rPr lang="zh-TW" altLang="en-US" b="1" dirty="0">
                <a:solidFill>
                  <a:srgbClr val="FF0000"/>
                </a:solidFill>
              </a:rPr>
              <a:t>採購前</a:t>
            </a:r>
            <a:r>
              <a:rPr lang="zh-TW" altLang="en-US" b="1" dirty="0"/>
              <a:t>徵得主管同意後，再與廠商洽討採購細節。</a:t>
            </a:r>
          </a:p>
        </p:txBody>
      </p:sp>
      <p:pic>
        <p:nvPicPr>
          <p:cNvPr id="20" name="圖形 19" descr="夾板 外框">
            <a:extLst>
              <a:ext uri="{FF2B5EF4-FFF2-40B4-BE49-F238E27FC236}">
                <a16:creationId xmlns:a16="http://schemas.microsoft.com/office/drawing/2014/main" id="{B2930C98-79B2-F906-435D-F46E68733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359884"/>
            <a:ext cx="6847389" cy="6847389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A7FD4221-62A3-D997-F224-5B17D28AA350}"/>
              </a:ext>
            </a:extLst>
          </p:cNvPr>
          <p:cNvSpPr txBox="1"/>
          <p:nvPr/>
        </p:nvSpPr>
        <p:spPr>
          <a:xfrm>
            <a:off x="7539653" y="2381218"/>
            <a:ext cx="40097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/>
              <a:t>使用時機：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70AAEA1-2449-E3AA-CCB6-678BACF13131}"/>
              </a:ext>
            </a:extLst>
          </p:cNvPr>
          <p:cNvSpPr txBox="1"/>
          <p:nvPr/>
        </p:nvSpPr>
        <p:spPr>
          <a:xfrm>
            <a:off x="8100114" y="2781328"/>
            <a:ext cx="44650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altLang="en-US" sz="2000" b="1" dirty="0"/>
              <a:t>採購及外包項目超過新台幣</a:t>
            </a:r>
            <a:endParaRPr lang="en-US" altLang="zh-TW" sz="2000" b="1" dirty="0"/>
          </a:p>
          <a:p>
            <a:pPr marL="0" indent="0">
              <a:buNone/>
            </a:pPr>
            <a:r>
              <a:rPr lang="en-US" altLang="zh-TW" sz="2000" b="1" dirty="0">
                <a:solidFill>
                  <a:srgbClr val="FF0000"/>
                </a:solidFill>
              </a:rPr>
              <a:t>3</a:t>
            </a:r>
            <a:r>
              <a:rPr lang="zh-TW" altLang="en-US" sz="2000" b="1" dirty="0">
                <a:solidFill>
                  <a:srgbClr val="FF0000"/>
                </a:solidFill>
              </a:rPr>
              <a:t>萬元</a:t>
            </a:r>
            <a:r>
              <a:rPr lang="en-US" altLang="zh-TW" sz="2000" b="1" dirty="0">
                <a:solidFill>
                  <a:srgbClr val="FF0000"/>
                </a:solidFill>
              </a:rPr>
              <a:t>(</a:t>
            </a:r>
            <a:r>
              <a:rPr lang="zh-TW" altLang="en-US" sz="2000" b="1" dirty="0">
                <a:solidFill>
                  <a:srgbClr val="FF0000"/>
                </a:solidFill>
              </a:rPr>
              <a:t>含</a:t>
            </a:r>
            <a:r>
              <a:rPr lang="en-US" altLang="zh-TW" sz="2000" b="1" dirty="0">
                <a:solidFill>
                  <a:srgbClr val="FF0000"/>
                </a:solidFill>
              </a:rPr>
              <a:t>)</a:t>
            </a:r>
            <a:r>
              <a:rPr lang="zh-TW" altLang="en-US" sz="2000" b="1" dirty="0"/>
              <a:t>以上。</a:t>
            </a:r>
            <a:endParaRPr lang="en-US" altLang="zh-TW" sz="2000" b="1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35AD52A9-A230-A3B0-7B89-1FF46EC0E670}"/>
              </a:ext>
            </a:extLst>
          </p:cNvPr>
          <p:cNvSpPr txBox="1"/>
          <p:nvPr/>
        </p:nvSpPr>
        <p:spPr>
          <a:xfrm>
            <a:off x="8100114" y="3570175"/>
            <a:ext cx="3124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altLang="en-US" sz="2000" b="1" dirty="0"/>
              <a:t>支出需使用</a:t>
            </a:r>
            <a:r>
              <a:rPr lang="zh-TW" altLang="en-US" sz="2000" b="1" dirty="0">
                <a:solidFill>
                  <a:srgbClr val="FF0000"/>
                </a:solidFill>
              </a:rPr>
              <a:t>公司企業卡</a:t>
            </a:r>
            <a:r>
              <a:rPr lang="zh-TW" altLang="en-US" sz="2000" b="1" dirty="0"/>
              <a:t>。</a:t>
            </a:r>
            <a:endParaRPr lang="en-US" altLang="zh-TW" sz="2000" b="1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C2E0ACE3-9E05-2119-34D1-888212366094}"/>
              </a:ext>
            </a:extLst>
          </p:cNvPr>
          <p:cNvSpPr txBox="1"/>
          <p:nvPr/>
        </p:nvSpPr>
        <p:spPr>
          <a:xfrm>
            <a:off x="8087573" y="4286414"/>
            <a:ext cx="32813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altLang="en-US" sz="2000" b="1" dirty="0"/>
              <a:t>免請購程序申購項目可參考：</a:t>
            </a:r>
            <a:r>
              <a:rPr lang="zh-TW" altLang="en-US" sz="2000" b="1" dirty="0">
                <a:solidFill>
                  <a:schemeClr val="accent2"/>
                </a:solidFill>
              </a:rPr>
              <a:t>申購單</a:t>
            </a:r>
            <a:r>
              <a:rPr lang="zh-TW" altLang="en-US" sz="2000" b="1" dirty="0"/>
              <a:t>的申購類別清單。</a:t>
            </a:r>
            <a:endParaRPr lang="en-US" altLang="zh-TW" sz="2000" b="1" dirty="0"/>
          </a:p>
        </p:txBody>
      </p:sp>
      <p:pic>
        <p:nvPicPr>
          <p:cNvPr id="30" name="圖形 29" descr="核取方塊 (打勾) 以實心填滿">
            <a:extLst>
              <a:ext uri="{FF2B5EF4-FFF2-40B4-BE49-F238E27FC236}">
                <a16:creationId xmlns:a16="http://schemas.microsoft.com/office/drawing/2014/main" id="{26912FDB-54C2-DE03-A489-5A1AE26AAE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35078" y="2704640"/>
            <a:ext cx="577515" cy="577515"/>
          </a:xfrm>
          <a:prstGeom prst="rect">
            <a:avLst/>
          </a:prstGeom>
        </p:spPr>
      </p:pic>
      <p:pic>
        <p:nvPicPr>
          <p:cNvPr id="31" name="圖形 30" descr="核取方塊 (打勾) 以實心填滿">
            <a:extLst>
              <a:ext uri="{FF2B5EF4-FFF2-40B4-BE49-F238E27FC236}">
                <a16:creationId xmlns:a16="http://schemas.microsoft.com/office/drawing/2014/main" id="{198191C6-2B0A-CC95-20C5-E269864FAF5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35078" y="3473850"/>
            <a:ext cx="577515" cy="577515"/>
          </a:xfrm>
          <a:prstGeom prst="rect">
            <a:avLst/>
          </a:prstGeom>
        </p:spPr>
      </p:pic>
      <p:pic>
        <p:nvPicPr>
          <p:cNvPr id="34" name="圖形 33" descr="留言 (重要) 以實心填滿">
            <a:extLst>
              <a:ext uri="{FF2B5EF4-FFF2-40B4-BE49-F238E27FC236}">
                <a16:creationId xmlns:a16="http://schemas.microsoft.com/office/drawing/2014/main" id="{6607897E-B645-9A66-8E3B-E6A4F5CD8F0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01242" y="5099085"/>
            <a:ext cx="645185" cy="645185"/>
          </a:xfrm>
          <a:prstGeom prst="rect">
            <a:avLst/>
          </a:prstGeom>
        </p:spPr>
      </p:pic>
      <p:sp>
        <p:nvSpPr>
          <p:cNvPr id="36" name="文字方塊 35">
            <a:extLst>
              <a:ext uri="{FF2B5EF4-FFF2-40B4-BE49-F238E27FC236}">
                <a16:creationId xmlns:a16="http://schemas.microsoft.com/office/drawing/2014/main" id="{985A4860-DF16-E853-F232-D8103B2CFDD2}"/>
              </a:ext>
            </a:extLst>
          </p:cNvPr>
          <p:cNvSpPr txBox="1"/>
          <p:nvPr/>
        </p:nvSpPr>
        <p:spPr>
          <a:xfrm>
            <a:off x="8134420" y="5355162"/>
            <a:ext cx="34935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/>
              <a:t>一次性交易廠商，適用</a:t>
            </a:r>
            <a:r>
              <a:rPr lang="zh-TW" altLang="en-US" sz="2000" b="1" dirty="0">
                <a:solidFill>
                  <a:schemeClr val="accent2"/>
                </a:solidFill>
              </a:rPr>
              <a:t>預支</a:t>
            </a:r>
            <a:endParaRPr lang="en-US" altLang="zh-TW" sz="2000" b="1" dirty="0">
              <a:solidFill>
                <a:schemeClr val="accent2"/>
              </a:solidFill>
            </a:endParaRPr>
          </a:p>
          <a:p>
            <a:r>
              <a:rPr lang="zh-TW" altLang="en-US" sz="2000" b="1" dirty="0">
                <a:solidFill>
                  <a:schemeClr val="accent2"/>
                </a:solidFill>
              </a:rPr>
              <a:t>單。</a:t>
            </a:r>
            <a:endParaRPr lang="en-US" altLang="zh-TW" sz="2000" b="1" dirty="0">
              <a:solidFill>
                <a:schemeClr val="accent2"/>
              </a:solidFill>
            </a:endParaRPr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42341538-DBBA-BF58-6926-152F89A90A1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11681"/>
          <a:stretch/>
        </p:blipFill>
        <p:spPr>
          <a:xfrm>
            <a:off x="402426" y="4019090"/>
            <a:ext cx="6416554" cy="1966272"/>
          </a:xfrm>
          <a:prstGeom prst="rect">
            <a:avLst/>
          </a:prstGeom>
        </p:spPr>
      </p:pic>
      <p:pic>
        <p:nvPicPr>
          <p:cNvPr id="39" name="圖形 38" descr="返回 以實心填滿">
            <a:extLst>
              <a:ext uri="{FF2B5EF4-FFF2-40B4-BE49-F238E27FC236}">
                <a16:creationId xmlns:a16="http://schemas.microsoft.com/office/drawing/2014/main" id="{82EE1D21-DC1B-BBD4-553B-5F32F0F15A5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18980" y="3884849"/>
            <a:ext cx="914400" cy="914400"/>
          </a:xfrm>
          <a:prstGeom prst="rect">
            <a:avLst/>
          </a:prstGeom>
        </p:spPr>
      </p:pic>
      <p:grpSp>
        <p:nvGrpSpPr>
          <p:cNvPr id="43" name="圖形 16" descr="長波浪髮型的女子">
            <a:extLst>
              <a:ext uri="{FF2B5EF4-FFF2-40B4-BE49-F238E27FC236}">
                <a16:creationId xmlns:a16="http://schemas.microsoft.com/office/drawing/2014/main" id="{7C5E6D8C-DCE0-3883-9CA1-4DF619F30813}"/>
              </a:ext>
            </a:extLst>
          </p:cNvPr>
          <p:cNvGrpSpPr/>
          <p:nvPr/>
        </p:nvGrpSpPr>
        <p:grpSpPr>
          <a:xfrm rot="21338524">
            <a:off x="686521" y="1818139"/>
            <a:ext cx="936558" cy="1054308"/>
            <a:chOff x="10656614" y="1349483"/>
            <a:chExt cx="1099282" cy="1197076"/>
          </a:xfrm>
        </p:grpSpPr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254D01A9-2930-6BA5-2335-B69D30F4E737}"/>
                </a:ext>
              </a:extLst>
            </p:cNvPr>
            <p:cNvSpPr/>
            <p:nvPr/>
          </p:nvSpPr>
          <p:spPr>
            <a:xfrm>
              <a:off x="10868733" y="1487001"/>
              <a:ext cx="839859" cy="877869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45" name="圖形 16" descr="長波浪髮型的女子">
              <a:extLst>
                <a:ext uri="{FF2B5EF4-FFF2-40B4-BE49-F238E27FC236}">
                  <a16:creationId xmlns:a16="http://schemas.microsoft.com/office/drawing/2014/main" id="{BA28D96C-0797-1D97-AFCA-4DFDA9C484C3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46" name="手繪多邊形: 圖案 45">
                <a:extLst>
                  <a:ext uri="{FF2B5EF4-FFF2-40B4-BE49-F238E27FC236}">
                    <a16:creationId xmlns:a16="http://schemas.microsoft.com/office/drawing/2014/main" id="{3139D4BD-EAE6-1263-20A7-BBCD4C3D14DD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7" name="手繪多邊形: 圖案 46">
                <a:extLst>
                  <a:ext uri="{FF2B5EF4-FFF2-40B4-BE49-F238E27FC236}">
                    <a16:creationId xmlns:a16="http://schemas.microsoft.com/office/drawing/2014/main" id="{AFB60C1C-6984-5677-3CE7-05667F3C3001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E26E6F4B-1D7D-D6CA-D545-8307D1A5D8BD}"/>
              </a:ext>
            </a:extLst>
          </p:cNvPr>
          <p:cNvSpPr txBox="1"/>
          <p:nvPr/>
        </p:nvSpPr>
        <p:spPr>
          <a:xfrm>
            <a:off x="8990546" y="1735922"/>
            <a:ext cx="1107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/>
              <a:t>請購單</a:t>
            </a:r>
          </a:p>
        </p:txBody>
      </p:sp>
      <p:sp>
        <p:nvSpPr>
          <p:cNvPr id="54" name="箭號: 五邊形 53">
            <a:extLst>
              <a:ext uri="{FF2B5EF4-FFF2-40B4-BE49-F238E27FC236}">
                <a16:creationId xmlns:a16="http://schemas.microsoft.com/office/drawing/2014/main" id="{1F690E27-4E17-7BD3-F796-D5D322211E03}"/>
              </a:ext>
            </a:extLst>
          </p:cNvPr>
          <p:cNvSpPr/>
          <p:nvPr/>
        </p:nvSpPr>
        <p:spPr>
          <a:xfrm>
            <a:off x="-1" y="1"/>
            <a:ext cx="3895107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A Y </a:t>
            </a:r>
            <a:r>
              <a:rPr lang="zh-TW" altLang="en-US" sz="2800" b="1" dirty="0"/>
              <a:t>請  購  單</a:t>
            </a:r>
          </a:p>
        </p:txBody>
      </p:sp>
      <p:pic>
        <p:nvPicPr>
          <p:cNvPr id="3" name="圖形 2" descr="笑臉">
            <a:extLst>
              <a:ext uri="{FF2B5EF4-FFF2-40B4-BE49-F238E27FC236}">
                <a16:creationId xmlns:a16="http://schemas.microsoft.com/office/drawing/2014/main" id="{B165A1FB-B62F-2B8C-2D85-2DFBAF93FD52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1134253">
            <a:off x="1086032" y="2167670"/>
            <a:ext cx="498686" cy="426518"/>
          </a:xfrm>
          <a:prstGeom prst="rect">
            <a:avLst/>
          </a:prstGeom>
        </p:spPr>
      </p:pic>
      <p:pic>
        <p:nvPicPr>
          <p:cNvPr id="27" name="圖形 33" descr="留言 (重要) 以實心填滿">
            <a:extLst>
              <a:ext uri="{FF2B5EF4-FFF2-40B4-BE49-F238E27FC236}">
                <a16:creationId xmlns:a16="http://schemas.microsoft.com/office/drawing/2014/main" id="{6607897E-B645-9A66-8E3B-E6A4F5CD8F0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7884" y="4178531"/>
            <a:ext cx="645185" cy="64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84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3" grpId="0" animBg="1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C17AFEB-900E-5707-0D4C-DD2A3DF0A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A669E437-808A-C5C7-EDA3-4D7BF6B381E2}"/>
              </a:ext>
            </a:extLst>
          </p:cNvPr>
          <p:cNvSpPr/>
          <p:nvPr/>
        </p:nvSpPr>
        <p:spPr>
          <a:xfrm>
            <a:off x="-1" y="1"/>
            <a:ext cx="3895107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A Y </a:t>
            </a:r>
            <a:r>
              <a:rPr lang="zh-TW" altLang="en-US" sz="2800" b="1" dirty="0"/>
              <a:t>請  購  單</a:t>
            </a:r>
          </a:p>
        </p:txBody>
      </p:sp>
      <p:pic>
        <p:nvPicPr>
          <p:cNvPr id="4" name="內容版面配置區 4">
            <a:extLst>
              <a:ext uri="{FF2B5EF4-FFF2-40B4-BE49-F238E27FC236}">
                <a16:creationId xmlns:a16="http://schemas.microsoft.com/office/drawing/2014/main" id="{9490F7B4-67E9-BB1E-7C9E-FCCE94D09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274" y="1273077"/>
            <a:ext cx="9161813" cy="388017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9B7E025-D301-6593-B974-F147380C8E48}"/>
              </a:ext>
            </a:extLst>
          </p:cNvPr>
          <p:cNvSpPr txBox="1"/>
          <p:nvPr/>
        </p:nvSpPr>
        <p:spPr>
          <a:xfrm>
            <a:off x="3706904" y="2665641"/>
            <a:ext cx="6664012" cy="369332"/>
          </a:xfrm>
          <a:prstGeom prst="rect">
            <a:avLst/>
          </a:prstGeom>
          <a:solidFill>
            <a:srgbClr val="FFCC66"/>
          </a:solidFill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chemeClr val="tx2"/>
                </a:solidFill>
              </a:rPr>
              <a:t>若有使用企業卡需求，需提供採購商品網址，備註需使用企業卡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pic>
        <p:nvPicPr>
          <p:cNvPr id="6" name="圖形 5" descr="徽章 1 以實心填滿">
            <a:extLst>
              <a:ext uri="{FF2B5EF4-FFF2-40B4-BE49-F238E27FC236}">
                <a16:creationId xmlns:a16="http://schemas.microsoft.com/office/drawing/2014/main" id="{E7AED60D-7785-0BE2-DF33-015D662D3D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03075" y="3183795"/>
            <a:ext cx="442003" cy="442003"/>
          </a:xfrm>
          <a:prstGeom prst="rect">
            <a:avLst/>
          </a:prstGeom>
        </p:spPr>
      </p:pic>
      <p:pic>
        <p:nvPicPr>
          <p:cNvPr id="7" name="圖形 6" descr="識別證 以實心填滿">
            <a:extLst>
              <a:ext uri="{FF2B5EF4-FFF2-40B4-BE49-F238E27FC236}">
                <a16:creationId xmlns:a16="http://schemas.microsoft.com/office/drawing/2014/main" id="{A160DB22-8B2D-512E-A44E-B5C5C14582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70323" y="3183796"/>
            <a:ext cx="442003" cy="442003"/>
          </a:xfrm>
          <a:prstGeom prst="rect">
            <a:avLst/>
          </a:prstGeom>
        </p:spPr>
      </p:pic>
      <p:pic>
        <p:nvPicPr>
          <p:cNvPr id="8" name="圖形 7" descr="徽章 3 以實心填滿">
            <a:extLst>
              <a:ext uri="{FF2B5EF4-FFF2-40B4-BE49-F238E27FC236}">
                <a16:creationId xmlns:a16="http://schemas.microsoft.com/office/drawing/2014/main" id="{5F3E9B20-AFF8-AF8E-E503-C596A07BDF4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28866" y="4276874"/>
            <a:ext cx="442004" cy="442004"/>
          </a:xfrm>
          <a:prstGeom prst="rect">
            <a:avLst/>
          </a:prstGeom>
        </p:spPr>
      </p:pic>
      <p:sp>
        <p:nvSpPr>
          <p:cNvPr id="16" name="語音泡泡: 圓角矩形 15">
            <a:extLst>
              <a:ext uri="{FF2B5EF4-FFF2-40B4-BE49-F238E27FC236}">
                <a16:creationId xmlns:a16="http://schemas.microsoft.com/office/drawing/2014/main" id="{02A0B452-5A06-615E-CE63-69CDC5ABE976}"/>
              </a:ext>
            </a:extLst>
          </p:cNvPr>
          <p:cNvSpPr/>
          <p:nvPr/>
        </p:nvSpPr>
        <p:spPr>
          <a:xfrm>
            <a:off x="7606765" y="4497876"/>
            <a:ext cx="4404901" cy="1935969"/>
          </a:xfrm>
          <a:prstGeom prst="wedgeRoundRectCallout">
            <a:avLst>
              <a:gd name="adj1" fmla="val -49534"/>
              <a:gd name="adj2" fmla="val -57283"/>
              <a:gd name="adj3" fmla="val 16667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TW" sz="1800" b="1" dirty="0">
              <a:solidFill>
                <a:schemeClr val="tx2"/>
              </a:solidFill>
            </a:endParaRPr>
          </a:p>
          <a:p>
            <a:endParaRPr lang="en-US" altLang="zh-TW" b="1" dirty="0">
              <a:solidFill>
                <a:schemeClr val="tx2"/>
              </a:solidFill>
            </a:endParaRPr>
          </a:p>
          <a:p>
            <a:r>
              <a:rPr lang="zh-TW" altLang="en-US" sz="1800" b="1" dirty="0">
                <a:solidFill>
                  <a:schemeClr val="tx2"/>
                </a:solidFill>
              </a:rPr>
              <a:t>兼職所得：委外給個人時可詢問</a:t>
            </a:r>
            <a:r>
              <a:rPr lang="zh-TW" altLang="en-US" sz="1800" b="1" dirty="0">
                <a:solidFill>
                  <a:srgbClr val="FF0000"/>
                </a:solidFill>
              </a:rPr>
              <a:t>專案</a:t>
            </a:r>
            <a:r>
              <a:rPr lang="en-US" altLang="zh-TW" sz="1800" b="1" dirty="0">
                <a:solidFill>
                  <a:srgbClr val="FF0000"/>
                </a:solidFill>
              </a:rPr>
              <a:t>AC</a:t>
            </a:r>
            <a:r>
              <a:rPr lang="zh-TW" altLang="en-US" b="1" dirty="0">
                <a:solidFill>
                  <a:schemeClr val="tx2"/>
                </a:solidFill>
              </a:rPr>
              <a:t>。</a:t>
            </a:r>
            <a:endParaRPr lang="en-US" altLang="zh-TW" b="1" dirty="0">
              <a:solidFill>
                <a:schemeClr val="tx2"/>
              </a:solidFill>
            </a:endParaRPr>
          </a:p>
          <a:p>
            <a:endParaRPr lang="en-US" altLang="zh-TW" b="1" dirty="0">
              <a:solidFill>
                <a:schemeClr val="tx2"/>
              </a:solidFill>
            </a:endParaRPr>
          </a:p>
          <a:p>
            <a:r>
              <a:rPr lang="zh-TW" altLang="en-US" sz="1800" b="1" dirty="0">
                <a:solidFill>
                  <a:schemeClr val="tx2"/>
                </a:solidFill>
              </a:rPr>
              <a:t>財產：各處採購資訊設備或辦公設備留意使用年限</a:t>
            </a:r>
            <a:r>
              <a:rPr lang="en-US" altLang="zh-TW" sz="1800" b="1" dirty="0">
                <a:solidFill>
                  <a:schemeClr val="tx2"/>
                </a:solidFill>
              </a:rPr>
              <a:t>3</a:t>
            </a:r>
            <a:r>
              <a:rPr lang="zh-TW" altLang="en-US" sz="1800" b="1" dirty="0">
                <a:solidFill>
                  <a:schemeClr val="tx2"/>
                </a:solidFill>
              </a:rPr>
              <a:t>年以上、單價</a:t>
            </a:r>
            <a:r>
              <a:rPr lang="en-US" altLang="zh-TW" sz="1800" b="1" dirty="0">
                <a:solidFill>
                  <a:schemeClr val="tx2"/>
                </a:solidFill>
              </a:rPr>
              <a:t>2000</a:t>
            </a:r>
            <a:r>
              <a:rPr lang="zh-TW" altLang="en-US" sz="1800" b="1" dirty="0">
                <a:solidFill>
                  <a:schemeClr val="tx2"/>
                </a:solidFill>
              </a:rPr>
              <a:t>元以上，需勾選，以利登列資產項目</a:t>
            </a:r>
            <a:r>
              <a:rPr lang="en-US" altLang="zh-TW" sz="1800" b="1" dirty="0">
                <a:solidFill>
                  <a:schemeClr val="tx2"/>
                </a:solidFill>
              </a:rPr>
              <a:t>(</a:t>
            </a:r>
            <a:r>
              <a:rPr lang="zh-TW" altLang="en-US" sz="1800" b="1" dirty="0">
                <a:solidFill>
                  <a:schemeClr val="tx2"/>
                </a:solidFill>
              </a:rPr>
              <a:t>詳下頁</a:t>
            </a:r>
            <a:r>
              <a:rPr lang="en-US" altLang="zh-TW" sz="1800" b="1" dirty="0">
                <a:solidFill>
                  <a:schemeClr val="tx2"/>
                </a:solidFill>
              </a:rPr>
              <a:t>)</a:t>
            </a:r>
            <a:r>
              <a:rPr lang="zh-TW" altLang="en-US" sz="1800" b="1" dirty="0">
                <a:solidFill>
                  <a:schemeClr val="tx2"/>
                </a:solidFill>
              </a:rPr>
              <a:t>。</a:t>
            </a:r>
            <a:endParaRPr lang="en-US" altLang="zh-TW" sz="1800" b="1" dirty="0">
              <a:solidFill>
                <a:schemeClr val="tx2"/>
              </a:solidFill>
            </a:endParaRPr>
          </a:p>
          <a:p>
            <a:endParaRPr lang="en-US" altLang="zh-TW" b="1" dirty="0">
              <a:solidFill>
                <a:schemeClr val="tx2"/>
              </a:solidFill>
            </a:endParaRPr>
          </a:p>
          <a:p>
            <a:endParaRPr lang="en-US" altLang="zh-TW" sz="1800" b="1" dirty="0">
              <a:solidFill>
                <a:schemeClr val="tx2"/>
              </a:solidFill>
            </a:endParaRPr>
          </a:p>
        </p:txBody>
      </p:sp>
      <p:sp>
        <p:nvSpPr>
          <p:cNvPr id="12" name="圖說文字: 向上箭號 11">
            <a:extLst>
              <a:ext uri="{FF2B5EF4-FFF2-40B4-BE49-F238E27FC236}">
                <a16:creationId xmlns:a16="http://schemas.microsoft.com/office/drawing/2014/main" id="{E2340DB1-73D3-B4A7-A5A6-28CBEC9BAC5E}"/>
              </a:ext>
            </a:extLst>
          </p:cNvPr>
          <p:cNvSpPr/>
          <p:nvPr/>
        </p:nvSpPr>
        <p:spPr>
          <a:xfrm>
            <a:off x="394784" y="4763656"/>
            <a:ext cx="2743199" cy="1894318"/>
          </a:xfrm>
          <a:prstGeom prst="upArrowCallout">
            <a:avLst>
              <a:gd name="adj1" fmla="val 10147"/>
              <a:gd name="adj2" fmla="val 25000"/>
              <a:gd name="adj3" fmla="val 25000"/>
              <a:gd name="adj4" fmla="val 64977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800" b="1" dirty="0">
                <a:solidFill>
                  <a:schemeClr val="tx2"/>
                </a:solidFill>
              </a:rPr>
              <a:t>資訊設備類：</a:t>
            </a:r>
            <a:endParaRPr lang="en-US" altLang="zh-TW" sz="1800" b="1" dirty="0">
              <a:solidFill>
                <a:schemeClr val="tx2"/>
              </a:solidFill>
            </a:endParaRPr>
          </a:p>
          <a:p>
            <a:r>
              <a:rPr lang="zh-TW" altLang="en-US" sz="1800" b="1" dirty="0">
                <a:solidFill>
                  <a:schemeClr val="tx2"/>
                </a:solidFill>
              </a:rPr>
              <a:t>可向總管理處</a:t>
            </a:r>
            <a:r>
              <a:rPr lang="en-US" altLang="zh-TW" sz="1800" b="1" dirty="0">
                <a:solidFill>
                  <a:schemeClr val="tx2"/>
                </a:solidFill>
              </a:rPr>
              <a:t>IT</a:t>
            </a:r>
            <a:r>
              <a:rPr lang="zh-TW" altLang="en-US" sz="1800" b="1" dirty="0">
                <a:solidFill>
                  <a:schemeClr val="tx2"/>
                </a:solidFill>
              </a:rPr>
              <a:t>詢訪價→提供報價單給需求同仁夾帶附件。</a:t>
            </a:r>
            <a:endParaRPr lang="en-US" altLang="zh-TW" sz="1800" b="1" dirty="0">
              <a:solidFill>
                <a:schemeClr val="tx2"/>
              </a:solidFill>
            </a:endParaRPr>
          </a:p>
        </p:txBody>
      </p:sp>
      <p:sp>
        <p:nvSpPr>
          <p:cNvPr id="14" name="圖說文字: 向上箭號 13">
            <a:extLst>
              <a:ext uri="{FF2B5EF4-FFF2-40B4-BE49-F238E27FC236}">
                <a16:creationId xmlns:a16="http://schemas.microsoft.com/office/drawing/2014/main" id="{62E9AF9A-6592-30B2-F33F-AE1A90A6413C}"/>
              </a:ext>
            </a:extLst>
          </p:cNvPr>
          <p:cNvSpPr/>
          <p:nvPr/>
        </p:nvSpPr>
        <p:spPr>
          <a:xfrm>
            <a:off x="4665280" y="5086724"/>
            <a:ext cx="2345901" cy="1248181"/>
          </a:xfrm>
          <a:prstGeom prst="up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TW" sz="1800" b="1" dirty="0">
              <a:solidFill>
                <a:schemeClr val="tx2"/>
              </a:solidFill>
            </a:endParaRPr>
          </a:p>
          <a:p>
            <a:r>
              <a:rPr lang="zh-TW" altLang="en-US" sz="1800" b="1" dirty="0">
                <a:solidFill>
                  <a:schemeClr val="tx2"/>
                </a:solidFill>
              </a:rPr>
              <a:t>配合專案資訊網可用款單固定支出類別。</a:t>
            </a:r>
            <a:endParaRPr lang="en-US" altLang="zh-TW" sz="1800" b="1" dirty="0">
              <a:solidFill>
                <a:schemeClr val="tx2"/>
              </a:solidFill>
            </a:endParaRPr>
          </a:p>
          <a:p>
            <a:endParaRPr lang="zh-TW" alt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999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B52748C-FFEB-26C9-5CB1-BC5A09DB4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8</a:t>
            </a:fld>
            <a:endParaRPr lang="zh-TW" altLang="en-US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9449762"/>
              </p:ext>
            </p:extLst>
          </p:nvPr>
        </p:nvGraphicFramePr>
        <p:xfrm>
          <a:off x="418508" y="1261640"/>
          <a:ext cx="11354983" cy="5197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525">
                  <a:extLst>
                    <a:ext uri="{9D8B030D-6E8A-4147-A177-3AD203B41FA5}">
                      <a16:colId xmlns:a16="http://schemas.microsoft.com/office/drawing/2014/main" val="279843853"/>
                    </a:ext>
                  </a:extLst>
                </a:gridCol>
                <a:gridCol w="9900458">
                  <a:extLst>
                    <a:ext uri="{9D8B030D-6E8A-4147-A177-3AD203B41FA5}">
                      <a16:colId xmlns:a16="http://schemas.microsoft.com/office/drawing/2014/main" val="1804776949"/>
                    </a:ext>
                  </a:extLst>
                </a:gridCol>
              </a:tblGrid>
              <a:tr h="599342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種類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項目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656777"/>
                  </a:ext>
                </a:extLst>
              </a:tr>
              <a:tr h="1921178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資訊設備</a:t>
                      </a:r>
                      <a:endParaRPr lang="zh-TW" alt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伺服器、</a:t>
                      </a:r>
                      <a:r>
                        <a:rPr lang="en-US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</a:t>
                      </a:r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NB</a:t>
                      </a:r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、可攜式</a:t>
                      </a:r>
                      <a:r>
                        <a:rPr lang="en-US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如光碟機、燒錄器、</a:t>
                      </a:r>
                      <a:r>
                        <a:rPr lang="en-US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DVD</a:t>
                      </a:r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光碟機</a:t>
                      </a:r>
                      <a:r>
                        <a:rPr lang="en-US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、磁帶機設備、印表機、繪圖機、顯示器、專業繪圖卡、護貝機、繪圖數位板、相機、攝影機、網路</a:t>
                      </a:r>
                      <a:r>
                        <a:rPr lang="en-US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網管設備、</a:t>
                      </a:r>
                      <a:r>
                        <a:rPr lang="en-US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UPS</a:t>
                      </a:r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、投影機、簡報筆、</a:t>
                      </a:r>
                      <a:r>
                        <a:rPr lang="en-US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GPS</a:t>
                      </a:r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、無線電對講機、麥克風</a:t>
                      </a:r>
                      <a:r>
                        <a:rPr lang="en-US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音響</a:t>
                      </a:r>
                      <a:r>
                        <a:rPr lang="en-US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廣播教學系統、應用軟體</a:t>
                      </a:r>
                      <a:r>
                        <a:rPr lang="en-US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買斷</a:t>
                      </a:r>
                      <a:r>
                        <a:rPr lang="en-US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、手機、平板、</a:t>
                      </a:r>
                      <a:r>
                        <a:rPr lang="en-US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UAV</a:t>
                      </a:r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、工業電子、監測設備、其他設備</a:t>
                      </a:r>
                      <a:endParaRPr lang="zh-TW" altLang="en-US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9238582"/>
                  </a:ext>
                </a:extLst>
              </a:tr>
              <a:tr h="1477829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事務設備</a:t>
                      </a:r>
                      <a:endParaRPr lang="zh-TW" alt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辦公桌、會議桌、邊桌、電話</a:t>
                      </a:r>
                      <a:r>
                        <a:rPr lang="en-US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校內電話、活動櫃、系統櫃、輔助桌、鐵櫃、木櫃、辦公椅、屏風、雜項</a:t>
                      </a:r>
                      <a:r>
                        <a:rPr lang="en-US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碎紙機、血壓計…</a:t>
                      </a:r>
                      <a:r>
                        <a:rPr lang="en-US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..) </a:t>
                      </a:r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、防疫用品、風扇、會議椅、飲水機、烤箱、微波爐、冰箱</a:t>
                      </a:r>
                      <a:endParaRPr lang="zh-TW" altLang="en-US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889821"/>
                  </a:ext>
                </a:extLst>
              </a:tr>
              <a:tr h="599342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運輸設備</a:t>
                      </a:r>
                      <a:endParaRPr lang="zh-TW" alt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公務車、觀測車、小金鋼吊車、割草機、行車紀錄器</a:t>
                      </a:r>
                      <a:endParaRPr lang="zh-TW" altLang="en-US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1913405"/>
                  </a:ext>
                </a:extLst>
              </a:tr>
              <a:tr h="599342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其他</a:t>
                      </a:r>
                      <a:endParaRPr lang="zh-TW" alt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zh-TW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滅火器、機電、冷氣</a:t>
                      </a:r>
                      <a:endParaRPr lang="zh-TW" altLang="en-US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3284366"/>
                  </a:ext>
                </a:extLst>
              </a:tr>
            </a:tbl>
          </a:graphicData>
        </a:graphic>
      </p:graphicFrame>
      <p:sp>
        <p:nvSpPr>
          <p:cNvPr id="6" name="箭號: 五邊形 5">
            <a:extLst>
              <a:ext uri="{FF2B5EF4-FFF2-40B4-BE49-F238E27FC236}">
                <a16:creationId xmlns:a16="http://schemas.microsoft.com/office/drawing/2014/main" id="{5D103FFA-652A-2FF1-5C5C-7C1EDDBC3786}"/>
              </a:ext>
            </a:extLst>
          </p:cNvPr>
          <p:cNvSpPr/>
          <p:nvPr/>
        </p:nvSpPr>
        <p:spPr>
          <a:xfrm>
            <a:off x="0" y="1"/>
            <a:ext cx="3459638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/>
              <a:t>財 產 項 目</a:t>
            </a:r>
          </a:p>
        </p:txBody>
      </p:sp>
      <p:sp>
        <p:nvSpPr>
          <p:cNvPr id="7" name="圓角矩形 6"/>
          <p:cNvSpPr/>
          <p:nvPr/>
        </p:nvSpPr>
        <p:spPr>
          <a:xfrm>
            <a:off x="5354424" y="381055"/>
            <a:ext cx="4838437" cy="70664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請購單轉申購單、預支單核銷、申購單適用。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057A909-1DFF-CAE9-DAC5-AB5BE040C02D}"/>
              </a:ext>
            </a:extLst>
          </p:cNvPr>
          <p:cNvSpPr/>
          <p:nvPr/>
        </p:nvSpPr>
        <p:spPr>
          <a:xfrm>
            <a:off x="10045062" y="83979"/>
            <a:ext cx="1208387" cy="1090692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圖形 16" descr="長波浪髮型的女子">
            <a:extLst>
              <a:ext uri="{FF2B5EF4-FFF2-40B4-BE49-F238E27FC236}">
                <a16:creationId xmlns:a16="http://schemas.microsoft.com/office/drawing/2014/main" id="{23CDF577-B2FB-2521-EBEB-7E99174C6817}"/>
              </a:ext>
            </a:extLst>
          </p:cNvPr>
          <p:cNvGrpSpPr/>
          <p:nvPr/>
        </p:nvGrpSpPr>
        <p:grpSpPr>
          <a:xfrm rot="400818" flipH="1">
            <a:off x="10267390" y="162900"/>
            <a:ext cx="807743" cy="856927"/>
            <a:chOff x="10656614" y="1349483"/>
            <a:chExt cx="1099282" cy="1197076"/>
          </a:xfrm>
        </p:grpSpPr>
        <p:sp>
          <p:nvSpPr>
            <p:cNvPr id="10" name="手繪多邊形: 圖案 11">
              <a:extLst>
                <a:ext uri="{FF2B5EF4-FFF2-40B4-BE49-F238E27FC236}">
                  <a16:creationId xmlns:a16="http://schemas.microsoft.com/office/drawing/2014/main" id="{124A3ECE-1B9F-AA3E-F8B1-0412EBA51075}"/>
                </a:ext>
              </a:extLst>
            </p:cNvPr>
            <p:cNvSpPr/>
            <p:nvPr/>
          </p:nvSpPr>
          <p:spPr>
            <a:xfrm>
              <a:off x="10868733" y="1487001"/>
              <a:ext cx="839859" cy="877869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11" name="圖形 16" descr="長波浪髮型的女子">
              <a:extLst>
                <a:ext uri="{FF2B5EF4-FFF2-40B4-BE49-F238E27FC236}">
                  <a16:creationId xmlns:a16="http://schemas.microsoft.com/office/drawing/2014/main" id="{3E0DEE2D-D06E-8B28-F74D-6A884C999030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12" name="手繪多邊形: 圖案 13">
                <a:extLst>
                  <a:ext uri="{FF2B5EF4-FFF2-40B4-BE49-F238E27FC236}">
                    <a16:creationId xmlns:a16="http://schemas.microsoft.com/office/drawing/2014/main" id="{931D9469-DA99-728E-689A-C62FCD0E2114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3" name="手繪多邊形: 圖案 14">
                <a:extLst>
                  <a:ext uri="{FF2B5EF4-FFF2-40B4-BE49-F238E27FC236}">
                    <a16:creationId xmlns:a16="http://schemas.microsoft.com/office/drawing/2014/main" id="{6B554734-2B73-DC69-5832-B521E83F0AAE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14" name="圖形 15" descr="笑臉">
            <a:extLst>
              <a:ext uri="{FF2B5EF4-FFF2-40B4-BE49-F238E27FC236}">
                <a16:creationId xmlns:a16="http://schemas.microsoft.com/office/drawing/2014/main" id="{08DDFCF9-A46E-8E0A-CDAD-7AA2BB34E0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737482" flipH="1">
            <a:off x="10295777" y="398231"/>
            <a:ext cx="433226" cy="44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68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圓角矩形 8"/>
          <p:cNvSpPr/>
          <p:nvPr/>
        </p:nvSpPr>
        <p:spPr>
          <a:xfrm>
            <a:off x="358857" y="1950012"/>
            <a:ext cx="3123252" cy="190600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600" b="1" dirty="0">
                <a:solidFill>
                  <a:schemeClr val="tx2"/>
                </a:solidFill>
              </a:rPr>
              <a:t>若請購單請購的項目為</a:t>
            </a:r>
            <a:r>
              <a:rPr lang="zh-TW" altLang="en-US" sz="1600" b="1" dirty="0">
                <a:solidFill>
                  <a:srgbClr val="FF0000"/>
                </a:solidFill>
              </a:rPr>
              <a:t>固定支出</a:t>
            </a:r>
            <a:r>
              <a:rPr lang="zh-TW" altLang="en-US" sz="1600" b="1" dirty="0">
                <a:solidFill>
                  <a:schemeClr val="tx2"/>
                </a:solidFill>
              </a:rPr>
              <a:t>項目，須</a:t>
            </a:r>
            <a:r>
              <a:rPr lang="zh-TW" altLang="en-US" sz="1600" b="1" dirty="0">
                <a:solidFill>
                  <a:srgbClr val="FF0000"/>
                </a:solidFill>
              </a:rPr>
              <a:t>點選紅框</a:t>
            </a:r>
            <a:r>
              <a:rPr lang="zh-TW" altLang="en-US" sz="1600" b="1" dirty="0">
                <a:solidFill>
                  <a:schemeClr val="tx2"/>
                </a:solidFill>
              </a:rPr>
              <a:t>固定支出要請購的項目，資料會自動帶入。</a:t>
            </a:r>
            <a:endParaRPr lang="en-US" altLang="zh-TW" sz="1600" b="1" dirty="0">
              <a:solidFill>
                <a:schemeClr val="tx2"/>
              </a:solidFill>
            </a:endParaRPr>
          </a:p>
          <a:p>
            <a:r>
              <a:rPr lang="zh-TW" altLang="en-US" sz="1600" b="1" dirty="0">
                <a:solidFill>
                  <a:schemeClr val="tx2"/>
                </a:solidFill>
              </a:rPr>
              <a:t>若</a:t>
            </a:r>
            <a:r>
              <a:rPr lang="zh-TW" altLang="en-US" sz="1600" b="1" dirty="0">
                <a:solidFill>
                  <a:srgbClr val="FF0000"/>
                </a:solidFill>
              </a:rPr>
              <a:t>非</a:t>
            </a:r>
            <a:r>
              <a:rPr lang="zh-TW" altLang="en-US" sz="1600" b="1" dirty="0">
                <a:solidFill>
                  <a:schemeClr val="tx2"/>
                </a:solidFill>
              </a:rPr>
              <a:t>固定支出項目，則</a:t>
            </a:r>
            <a:r>
              <a:rPr lang="zh-TW" altLang="en-US" sz="1600" b="1" dirty="0">
                <a:solidFill>
                  <a:srgbClr val="FF0000"/>
                </a:solidFill>
              </a:rPr>
              <a:t>直接新增</a:t>
            </a:r>
            <a:r>
              <a:rPr lang="zh-TW" altLang="en-US" sz="1600" b="1" dirty="0">
                <a:solidFill>
                  <a:schemeClr val="tx2"/>
                </a:solidFill>
              </a:rPr>
              <a:t>採購項目即可。</a:t>
            </a:r>
            <a:endParaRPr lang="zh-TW" altLang="en-US" sz="1600" dirty="0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E6A12D5-18A8-7294-B5E1-C2BD36D26314}"/>
              </a:ext>
            </a:extLst>
          </p:cNvPr>
          <p:cNvSpPr/>
          <p:nvPr/>
        </p:nvSpPr>
        <p:spPr>
          <a:xfrm>
            <a:off x="157859" y="1087230"/>
            <a:ext cx="1208387" cy="1090692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7493AC8-7D2A-3F33-8A36-BA16527D4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4092B712-E02D-D32E-2953-2D338A4A10B6}"/>
              </a:ext>
            </a:extLst>
          </p:cNvPr>
          <p:cNvSpPr/>
          <p:nvPr/>
        </p:nvSpPr>
        <p:spPr>
          <a:xfrm>
            <a:off x="-1" y="1"/>
            <a:ext cx="5717895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A Y </a:t>
            </a:r>
            <a:r>
              <a:rPr lang="zh-TW" altLang="en-US" sz="2800" b="1" dirty="0"/>
              <a:t>請  購  單 </a:t>
            </a:r>
            <a:r>
              <a:rPr lang="en-US" altLang="zh-TW" sz="2800" b="1" dirty="0"/>
              <a:t>-</a:t>
            </a:r>
            <a:r>
              <a:rPr lang="zh-TW" altLang="en-US" sz="2800" b="1" dirty="0"/>
              <a:t> 範 例：</a:t>
            </a:r>
            <a:r>
              <a:rPr lang="zh-TW" altLang="en-US" sz="2800" b="1" dirty="0">
                <a:solidFill>
                  <a:schemeClr val="bg1"/>
                </a:solidFill>
              </a:rPr>
              <a:t>外 包 項 目</a:t>
            </a:r>
            <a:endParaRPr lang="en-US" altLang="zh-TW" sz="2800" b="1" dirty="0">
              <a:solidFill>
                <a:schemeClr val="bg1"/>
              </a:solidFill>
            </a:endParaRPr>
          </a:p>
        </p:txBody>
      </p:sp>
      <p:grpSp>
        <p:nvGrpSpPr>
          <p:cNvPr id="4" name="圖形 16" descr="長波浪髮型的女子">
            <a:extLst>
              <a:ext uri="{FF2B5EF4-FFF2-40B4-BE49-F238E27FC236}">
                <a16:creationId xmlns:a16="http://schemas.microsoft.com/office/drawing/2014/main" id="{54B266B6-7582-5F17-13E9-DF86EA31FEC6}"/>
              </a:ext>
            </a:extLst>
          </p:cNvPr>
          <p:cNvGrpSpPr/>
          <p:nvPr/>
        </p:nvGrpSpPr>
        <p:grpSpPr>
          <a:xfrm rot="21199182">
            <a:off x="342925" y="1171540"/>
            <a:ext cx="807743" cy="856927"/>
            <a:chOff x="10656614" y="1349483"/>
            <a:chExt cx="1099282" cy="1197076"/>
          </a:xfrm>
        </p:grpSpPr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2BAA48BA-31D8-7BA1-A73F-D44229DEB57D}"/>
                </a:ext>
              </a:extLst>
            </p:cNvPr>
            <p:cNvSpPr/>
            <p:nvPr/>
          </p:nvSpPr>
          <p:spPr>
            <a:xfrm>
              <a:off x="10868735" y="1487002"/>
              <a:ext cx="839859" cy="877870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6" name="圖形 16" descr="長波浪髮型的女子">
              <a:extLst>
                <a:ext uri="{FF2B5EF4-FFF2-40B4-BE49-F238E27FC236}">
                  <a16:creationId xmlns:a16="http://schemas.microsoft.com/office/drawing/2014/main" id="{B3CF1BFF-9386-F461-E1CA-C9E01A5BB903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7" name="手繪多邊形: 圖案 6">
                <a:extLst>
                  <a:ext uri="{FF2B5EF4-FFF2-40B4-BE49-F238E27FC236}">
                    <a16:creationId xmlns:a16="http://schemas.microsoft.com/office/drawing/2014/main" id="{A9DFE53D-CA40-9CEF-72EF-A16F8DACBCFA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 dirty="0"/>
              </a:p>
            </p:txBody>
          </p:sp>
          <p:sp>
            <p:nvSpPr>
              <p:cNvPr id="8" name="手繪多邊形: 圖案 7">
                <a:extLst>
                  <a:ext uri="{FF2B5EF4-FFF2-40B4-BE49-F238E27FC236}">
                    <a16:creationId xmlns:a16="http://schemas.microsoft.com/office/drawing/2014/main" id="{5EFDB5FD-FA36-5B97-CF02-AF0BB883FE41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16" name="圖形 15" descr="笑臉">
            <a:extLst>
              <a:ext uri="{FF2B5EF4-FFF2-40B4-BE49-F238E27FC236}">
                <a16:creationId xmlns:a16="http://schemas.microsoft.com/office/drawing/2014/main" id="{196DB4D8-5349-B547-FFBF-7C951AD69B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862518">
            <a:off x="680254" y="1406869"/>
            <a:ext cx="433226" cy="448266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8FD8C0C2-6536-64CA-E9C5-362CAE3A0D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175" y="4137831"/>
            <a:ext cx="6572250" cy="259080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C2486E27-E479-558C-E38F-52480697CE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4411" y="952322"/>
            <a:ext cx="8181975" cy="3486150"/>
          </a:xfrm>
          <a:prstGeom prst="rect">
            <a:avLst/>
          </a:prstGeom>
        </p:spPr>
      </p:pic>
      <p:pic>
        <p:nvPicPr>
          <p:cNvPr id="21" name="圖形 20" descr="返回 以實心填滿">
            <a:extLst>
              <a:ext uri="{FF2B5EF4-FFF2-40B4-BE49-F238E27FC236}">
                <a16:creationId xmlns:a16="http://schemas.microsoft.com/office/drawing/2014/main" id="{92431178-E8F5-B8E8-FE5B-2990E29B84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7291965">
            <a:off x="3122832" y="3733106"/>
            <a:ext cx="914400" cy="9144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3196A22-6E7A-B857-C799-DE76B01BC8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4054" y="4309103"/>
            <a:ext cx="5606223" cy="2419528"/>
          </a:xfrm>
          <a:prstGeom prst="rect">
            <a:avLst/>
          </a:prstGeom>
        </p:spPr>
      </p:pic>
      <p:pic>
        <p:nvPicPr>
          <p:cNvPr id="18" name="圖形 20" descr="返回 以實心填滿">
            <a:extLst>
              <a:ext uri="{FF2B5EF4-FFF2-40B4-BE49-F238E27FC236}">
                <a16:creationId xmlns:a16="http://schemas.microsoft.com/office/drawing/2014/main" id="{92431178-E8F5-B8E8-FE5B-2990E29B84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526388">
            <a:off x="6056854" y="55537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21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8971558" y="2507055"/>
            <a:ext cx="2699693" cy="133502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zh-TW" b="1" dirty="0">
                <a:solidFill>
                  <a:schemeClr val="tx2"/>
                </a:solidFill>
              </a:rPr>
              <a:t>若報價單內容包含明確交付項目、交付期限、付款方式、價金、驗收方式可免附合約</a:t>
            </a:r>
            <a:r>
              <a:rPr lang="zh-TW" altLang="en-US" b="1" dirty="0">
                <a:solidFill>
                  <a:schemeClr val="tx2"/>
                </a:solidFill>
              </a:rPr>
              <a:t>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A7762C6-3748-BBBD-CD44-92051098E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31" y="2284060"/>
            <a:ext cx="7791450" cy="33147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F2068C0-367C-F9BD-CCF8-C983EB54D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E5302486-65A0-3D81-45FC-A90E4E1A40F9}"/>
              </a:ext>
            </a:extLst>
          </p:cNvPr>
          <p:cNvSpPr/>
          <p:nvPr/>
        </p:nvSpPr>
        <p:spPr>
          <a:xfrm>
            <a:off x="-1" y="1"/>
            <a:ext cx="5717895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A Y </a:t>
            </a:r>
            <a:r>
              <a:rPr lang="zh-TW" altLang="en-US" sz="2800" b="1" dirty="0"/>
              <a:t>請  購  單 </a:t>
            </a:r>
            <a:r>
              <a:rPr lang="en-US" altLang="zh-TW" sz="2800" b="1" dirty="0"/>
              <a:t>-</a:t>
            </a:r>
            <a:r>
              <a:rPr lang="zh-TW" altLang="en-US" sz="2800" b="1" dirty="0"/>
              <a:t> 範 例：</a:t>
            </a:r>
            <a:r>
              <a:rPr lang="zh-TW" altLang="en-US" sz="2800" b="1" dirty="0">
                <a:solidFill>
                  <a:schemeClr val="bg1"/>
                </a:solidFill>
              </a:rPr>
              <a:t>外 包 項 目</a:t>
            </a:r>
            <a:endParaRPr lang="en-US" altLang="zh-TW" sz="2800" b="1" dirty="0"/>
          </a:p>
        </p:txBody>
      </p:sp>
      <p:sp>
        <p:nvSpPr>
          <p:cNvPr id="6" name="圖說文字: 向下箭號 5">
            <a:extLst>
              <a:ext uri="{FF2B5EF4-FFF2-40B4-BE49-F238E27FC236}">
                <a16:creationId xmlns:a16="http://schemas.microsoft.com/office/drawing/2014/main" id="{AF7D3BB4-4523-FCD4-7543-4A5A82FACE40}"/>
              </a:ext>
            </a:extLst>
          </p:cNvPr>
          <p:cNvSpPr/>
          <p:nvPr/>
        </p:nvSpPr>
        <p:spPr>
          <a:xfrm>
            <a:off x="4562661" y="1033968"/>
            <a:ext cx="3066677" cy="1594556"/>
          </a:xfrm>
          <a:prstGeom prst="downArrowCallout">
            <a:avLst>
              <a:gd name="adj1" fmla="val 11667"/>
              <a:gd name="adj2" fmla="val 25000"/>
              <a:gd name="adj3" fmla="val 23519"/>
              <a:gd name="adj4" fmla="val 70903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zh-TW" altLang="en-US" b="1" dirty="0">
                <a:solidFill>
                  <a:schemeClr val="tx2"/>
                </a:solidFill>
              </a:rPr>
              <a:t>合約草稿</a:t>
            </a:r>
            <a:r>
              <a:rPr lang="en-US" altLang="zh-TW" b="1" dirty="0">
                <a:solidFill>
                  <a:schemeClr val="tx2"/>
                </a:solidFill>
              </a:rPr>
              <a:t>(</a:t>
            </a:r>
            <a:r>
              <a:rPr lang="zh-TW" altLang="en-US" b="1" dirty="0">
                <a:solidFill>
                  <a:schemeClr val="tx2"/>
                </a:solidFill>
              </a:rPr>
              <a:t>含內部主子案的跨處或跨公司委託</a:t>
            </a:r>
            <a:r>
              <a:rPr lang="en-US" altLang="zh-TW" b="1" dirty="0">
                <a:solidFill>
                  <a:schemeClr val="tx2"/>
                </a:solidFill>
              </a:rPr>
              <a:t>)</a:t>
            </a:r>
            <a:r>
              <a:rPr lang="zh-TW" altLang="en-US" b="1" dirty="0">
                <a:solidFill>
                  <a:schemeClr val="tx2"/>
                </a:solidFill>
              </a:rPr>
              <a:t>、報價單。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7" name="圖說文字: 向上箭號 6">
            <a:extLst>
              <a:ext uri="{FF2B5EF4-FFF2-40B4-BE49-F238E27FC236}">
                <a16:creationId xmlns:a16="http://schemas.microsoft.com/office/drawing/2014/main" id="{9070C20E-4842-7D2F-82BC-811E41D0EFDA}"/>
              </a:ext>
            </a:extLst>
          </p:cNvPr>
          <p:cNvSpPr/>
          <p:nvPr/>
        </p:nvSpPr>
        <p:spPr>
          <a:xfrm>
            <a:off x="2731154" y="5216666"/>
            <a:ext cx="5390815" cy="1214731"/>
          </a:xfrm>
          <a:prstGeom prst="upArrowCallout">
            <a:avLst>
              <a:gd name="adj1" fmla="val 15873"/>
              <a:gd name="adj2" fmla="val 25000"/>
              <a:gd name="adj3" fmla="val 25000"/>
              <a:gd name="adj4" fmla="val 64977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若有分期款要給外包廠商，可於固定支出分項列出。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4057A909-1DFF-CAE9-DAC5-AB5BE040C02D}"/>
              </a:ext>
            </a:extLst>
          </p:cNvPr>
          <p:cNvSpPr/>
          <p:nvPr/>
        </p:nvSpPr>
        <p:spPr>
          <a:xfrm>
            <a:off x="10944561" y="1537832"/>
            <a:ext cx="1208387" cy="1090692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1" name="圖形 16" descr="長波浪髮型的女子">
            <a:extLst>
              <a:ext uri="{FF2B5EF4-FFF2-40B4-BE49-F238E27FC236}">
                <a16:creationId xmlns:a16="http://schemas.microsoft.com/office/drawing/2014/main" id="{23CDF577-B2FB-2521-EBEB-7E99174C6817}"/>
              </a:ext>
            </a:extLst>
          </p:cNvPr>
          <p:cNvGrpSpPr/>
          <p:nvPr/>
        </p:nvGrpSpPr>
        <p:grpSpPr>
          <a:xfrm rot="400818" flipH="1">
            <a:off x="11166889" y="1616753"/>
            <a:ext cx="807743" cy="856927"/>
            <a:chOff x="10656614" y="1349483"/>
            <a:chExt cx="1099282" cy="1197076"/>
          </a:xfrm>
        </p:grpSpPr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124A3ECE-1B9F-AA3E-F8B1-0412EBA51075}"/>
                </a:ext>
              </a:extLst>
            </p:cNvPr>
            <p:cNvSpPr/>
            <p:nvPr/>
          </p:nvSpPr>
          <p:spPr>
            <a:xfrm>
              <a:off x="10868733" y="1487001"/>
              <a:ext cx="839859" cy="877869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13" name="圖形 16" descr="長波浪髮型的女子">
              <a:extLst>
                <a:ext uri="{FF2B5EF4-FFF2-40B4-BE49-F238E27FC236}">
                  <a16:creationId xmlns:a16="http://schemas.microsoft.com/office/drawing/2014/main" id="{3E0DEE2D-D06E-8B28-F74D-6A884C999030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14" name="手繪多邊形: 圖案 13">
                <a:extLst>
                  <a:ext uri="{FF2B5EF4-FFF2-40B4-BE49-F238E27FC236}">
                    <a16:creationId xmlns:a16="http://schemas.microsoft.com/office/drawing/2014/main" id="{931D9469-DA99-728E-689A-C62FCD0E2114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5" name="手繪多邊形: 圖案 14">
                <a:extLst>
                  <a:ext uri="{FF2B5EF4-FFF2-40B4-BE49-F238E27FC236}">
                    <a16:creationId xmlns:a16="http://schemas.microsoft.com/office/drawing/2014/main" id="{6B554734-2B73-DC69-5832-B521E83F0AAE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16" name="圖形 15" descr="笑臉">
            <a:extLst>
              <a:ext uri="{FF2B5EF4-FFF2-40B4-BE49-F238E27FC236}">
                <a16:creationId xmlns:a16="http://schemas.microsoft.com/office/drawing/2014/main" id="{08DDFCF9-A46E-8E0A-CDAD-7AA2BB34E0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37482" flipH="1">
            <a:off x="11195276" y="1852084"/>
            <a:ext cx="433226" cy="44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76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7575533" y="1354398"/>
            <a:ext cx="3474293" cy="121854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與申購單核銷步驟差異為請購單核銷要選擇「已核請購單號」，其他與申購單一樣唷！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4D5A199-D03E-FD52-A190-8442321AD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00B4A8CB-4B04-6196-66BB-8BDF6C5A7A4E}"/>
              </a:ext>
            </a:extLst>
          </p:cNvPr>
          <p:cNvSpPr/>
          <p:nvPr/>
        </p:nvSpPr>
        <p:spPr>
          <a:xfrm>
            <a:off x="-1" y="1"/>
            <a:ext cx="5825613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A Y </a:t>
            </a:r>
            <a:r>
              <a:rPr lang="zh-TW" altLang="en-US" sz="2800" b="1" dirty="0"/>
              <a:t>請  購  單 </a:t>
            </a:r>
            <a:r>
              <a:rPr lang="en-US" altLang="zh-TW" sz="2800" b="1" dirty="0"/>
              <a:t>–</a:t>
            </a:r>
            <a:r>
              <a:rPr lang="zh-TW" altLang="en-US" sz="2800" b="1" dirty="0"/>
              <a:t> 核 銷 外 包 項 目</a:t>
            </a:r>
            <a:endParaRPr lang="en-US" altLang="zh-TW" sz="2800" b="1" dirty="0">
              <a:solidFill>
                <a:schemeClr val="bg1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4D2F52B-B838-F4B2-5F6F-EB81C3118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75" y="1018562"/>
            <a:ext cx="7051274" cy="208955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B962A48-D557-87BF-3F3B-E75A08702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7150" y="2705141"/>
            <a:ext cx="7496175" cy="3800475"/>
          </a:xfrm>
          <a:prstGeom prst="rect">
            <a:avLst/>
          </a:prstGeom>
        </p:spPr>
      </p:pic>
      <p:sp>
        <p:nvSpPr>
          <p:cNvPr id="10" name="圖說文字: 向左箭號 9">
            <a:extLst>
              <a:ext uri="{FF2B5EF4-FFF2-40B4-BE49-F238E27FC236}">
                <a16:creationId xmlns:a16="http://schemas.microsoft.com/office/drawing/2014/main" id="{F6EF1323-AA2F-DCD1-7A24-FC6A64C8D9E0}"/>
              </a:ext>
            </a:extLst>
          </p:cNvPr>
          <p:cNvSpPr/>
          <p:nvPr/>
        </p:nvSpPr>
        <p:spPr>
          <a:xfrm>
            <a:off x="2344994" y="1460607"/>
            <a:ext cx="4291780" cy="1021519"/>
          </a:xfrm>
          <a:prstGeom prst="leftArrowCallout">
            <a:avLst>
              <a:gd name="adj1" fmla="val 16337"/>
              <a:gd name="adj2" fmla="val 25000"/>
              <a:gd name="adj3" fmla="val 25000"/>
              <a:gd name="adj4" fmla="val 64977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打開</a:t>
            </a:r>
            <a:r>
              <a:rPr lang="zh-TW" altLang="en-US" sz="1800" b="1" dirty="0">
                <a:solidFill>
                  <a:schemeClr val="tx2"/>
                </a:solidFill>
              </a:rPr>
              <a:t>「申購單」後，點選「已核請購單號」，系統會帶出已請購的單號。</a:t>
            </a:r>
          </a:p>
        </p:txBody>
      </p:sp>
      <p:sp>
        <p:nvSpPr>
          <p:cNvPr id="12" name="圖說文字: 向右箭號 11">
            <a:extLst>
              <a:ext uri="{FF2B5EF4-FFF2-40B4-BE49-F238E27FC236}">
                <a16:creationId xmlns:a16="http://schemas.microsoft.com/office/drawing/2014/main" id="{CDABD9B1-FC0A-66FE-75B1-10171DCE7FBA}"/>
              </a:ext>
            </a:extLst>
          </p:cNvPr>
          <p:cNvSpPr/>
          <p:nvPr/>
        </p:nvSpPr>
        <p:spPr>
          <a:xfrm>
            <a:off x="278674" y="3894911"/>
            <a:ext cx="4411314" cy="1420934"/>
          </a:xfrm>
          <a:prstGeom prst="rightArrowCallout">
            <a:avLst>
              <a:gd name="adj1" fmla="val 15119"/>
              <a:gd name="adj2" fmla="val 25000"/>
              <a:gd name="adj3" fmla="val 25000"/>
              <a:gd name="adj4" fmla="val 83477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點選要核銷的請購單號後，系統會帶入當初請購的內容，確認金額無誤後，即可點選送出申請。</a:t>
            </a:r>
          </a:p>
        </p:txBody>
      </p:sp>
      <p:sp>
        <p:nvSpPr>
          <p:cNvPr id="13" name="圖說文字: 向右箭號 12">
            <a:extLst>
              <a:ext uri="{FF2B5EF4-FFF2-40B4-BE49-F238E27FC236}">
                <a16:creationId xmlns:a16="http://schemas.microsoft.com/office/drawing/2014/main" id="{DE7AD2E6-9CA9-DA31-01AA-967956FE8469}"/>
              </a:ext>
            </a:extLst>
          </p:cNvPr>
          <p:cNvSpPr/>
          <p:nvPr/>
        </p:nvSpPr>
        <p:spPr>
          <a:xfrm>
            <a:off x="278674" y="5839438"/>
            <a:ext cx="5428952" cy="777685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7945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送出核銷後，由請購單帶入的申購單下方會顯示關聯請購單。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61DC9387-CE11-0BDA-EDD9-BD2263700BAF}"/>
              </a:ext>
            </a:extLst>
          </p:cNvPr>
          <p:cNvSpPr/>
          <p:nvPr/>
        </p:nvSpPr>
        <p:spPr>
          <a:xfrm>
            <a:off x="10704938" y="771160"/>
            <a:ext cx="1208387" cy="1090692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6" name="圖形 16" descr="長波浪髮型的女子">
            <a:extLst>
              <a:ext uri="{FF2B5EF4-FFF2-40B4-BE49-F238E27FC236}">
                <a16:creationId xmlns:a16="http://schemas.microsoft.com/office/drawing/2014/main" id="{173FD5BE-8A34-3415-8F91-B104C632B318}"/>
              </a:ext>
            </a:extLst>
          </p:cNvPr>
          <p:cNvGrpSpPr/>
          <p:nvPr/>
        </p:nvGrpSpPr>
        <p:grpSpPr>
          <a:xfrm rot="400818" flipH="1">
            <a:off x="10905259" y="888041"/>
            <a:ext cx="807743" cy="856927"/>
            <a:chOff x="10656614" y="1349483"/>
            <a:chExt cx="1099282" cy="1197076"/>
          </a:xfrm>
        </p:grpSpPr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FBD14AB7-55CD-9384-E31C-7B9FF0B50C91}"/>
                </a:ext>
              </a:extLst>
            </p:cNvPr>
            <p:cNvSpPr/>
            <p:nvPr/>
          </p:nvSpPr>
          <p:spPr>
            <a:xfrm>
              <a:off x="10868733" y="1487001"/>
              <a:ext cx="839859" cy="877869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18" name="圖形 16" descr="長波浪髮型的女子">
              <a:extLst>
                <a:ext uri="{FF2B5EF4-FFF2-40B4-BE49-F238E27FC236}">
                  <a16:creationId xmlns:a16="http://schemas.microsoft.com/office/drawing/2014/main" id="{7564785A-B401-81BA-DCAE-F138EBA091DA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19" name="手繪多邊形: 圖案 18">
                <a:extLst>
                  <a:ext uri="{FF2B5EF4-FFF2-40B4-BE49-F238E27FC236}">
                    <a16:creationId xmlns:a16="http://schemas.microsoft.com/office/drawing/2014/main" id="{84107A3F-56C3-A709-1F26-331737E75014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0" name="手繪多邊形: 圖案 19">
                <a:extLst>
                  <a:ext uri="{FF2B5EF4-FFF2-40B4-BE49-F238E27FC236}">
                    <a16:creationId xmlns:a16="http://schemas.microsoft.com/office/drawing/2014/main" id="{A968C9A2-9866-76B2-62DC-B19224B72157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21" name="圖形 20" descr="笑臉">
            <a:extLst>
              <a:ext uri="{FF2B5EF4-FFF2-40B4-BE49-F238E27FC236}">
                <a16:creationId xmlns:a16="http://schemas.microsoft.com/office/drawing/2014/main" id="{23D315C5-677E-228F-EA2F-BB01FD2E77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737482" flipH="1">
            <a:off x="10941638" y="1123372"/>
            <a:ext cx="433226" cy="44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45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433546" y="3263960"/>
            <a:ext cx="2353322" cy="158832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若消費有</a:t>
            </a:r>
            <a:r>
              <a:rPr lang="zh-TW" altLang="en-US" b="1" dirty="0">
                <a:solidFill>
                  <a:srgbClr val="FF0000"/>
                </a:solidFill>
              </a:rPr>
              <a:t>自動續約</a:t>
            </a:r>
            <a:r>
              <a:rPr lang="zh-TW" altLang="en-US" b="1" dirty="0">
                <a:solidFill>
                  <a:schemeClr val="tx2"/>
                </a:solidFill>
              </a:rPr>
              <a:t>，申請人須留意續約終止日，並於</a:t>
            </a:r>
            <a:r>
              <a:rPr lang="zh-TW" altLang="en-US" b="1" dirty="0">
                <a:solidFill>
                  <a:srgbClr val="FF0000"/>
                </a:solidFill>
              </a:rPr>
              <a:t>終止日前辦理停止續約</a:t>
            </a:r>
            <a:r>
              <a:rPr lang="zh-TW" altLang="en-US" b="1" dirty="0">
                <a:solidFill>
                  <a:schemeClr val="tx2"/>
                </a:solidFill>
              </a:rPr>
              <a:t>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B0CAFF3-FEA9-F6A5-04BF-BE68D6BB9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1120EB38-D4EC-F929-054C-25CA900BD8B2}"/>
              </a:ext>
            </a:extLst>
          </p:cNvPr>
          <p:cNvSpPr/>
          <p:nvPr/>
        </p:nvSpPr>
        <p:spPr>
          <a:xfrm>
            <a:off x="-1" y="1"/>
            <a:ext cx="6253317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A Y </a:t>
            </a:r>
            <a:r>
              <a:rPr lang="zh-TW" altLang="en-US" sz="2800" b="1" dirty="0"/>
              <a:t>請  購  單 </a:t>
            </a:r>
            <a:r>
              <a:rPr lang="en-US" altLang="zh-TW" sz="2800" b="1" dirty="0"/>
              <a:t>-</a:t>
            </a:r>
            <a:r>
              <a:rPr lang="zh-TW" altLang="en-US" sz="2800" b="1" dirty="0"/>
              <a:t> 範 例：公 司 企 業 卡</a:t>
            </a:r>
            <a:endParaRPr lang="en-US" altLang="zh-TW" sz="2800" b="1" dirty="0">
              <a:solidFill>
                <a:schemeClr val="bg1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889470C-6FD9-28ED-270B-1F396F366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094" y="1288582"/>
            <a:ext cx="8840793" cy="3626992"/>
          </a:xfrm>
          <a:prstGeom prst="rect">
            <a:avLst/>
          </a:prstGeom>
        </p:spPr>
      </p:pic>
      <p:sp>
        <p:nvSpPr>
          <p:cNvPr id="6" name="圖說文字: 向下箭號 5">
            <a:extLst>
              <a:ext uri="{FF2B5EF4-FFF2-40B4-BE49-F238E27FC236}">
                <a16:creationId xmlns:a16="http://schemas.microsoft.com/office/drawing/2014/main" id="{C315FD03-BEF2-660E-474F-D16FDF11FE65}"/>
              </a:ext>
            </a:extLst>
          </p:cNvPr>
          <p:cNvSpPr/>
          <p:nvPr/>
        </p:nvSpPr>
        <p:spPr>
          <a:xfrm>
            <a:off x="4925961" y="1863213"/>
            <a:ext cx="1917290" cy="825910"/>
          </a:xfrm>
          <a:prstGeom prst="down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備註使用企業卡</a:t>
            </a:r>
          </a:p>
        </p:txBody>
      </p:sp>
      <p:sp>
        <p:nvSpPr>
          <p:cNvPr id="8" name="圖說文字: 向下箭號 7">
            <a:extLst>
              <a:ext uri="{FF2B5EF4-FFF2-40B4-BE49-F238E27FC236}">
                <a16:creationId xmlns:a16="http://schemas.microsoft.com/office/drawing/2014/main" id="{D34D7775-89C8-4FA8-143E-F5BB7EF33C5F}"/>
              </a:ext>
            </a:extLst>
          </p:cNvPr>
          <p:cNvSpPr/>
          <p:nvPr/>
        </p:nvSpPr>
        <p:spPr>
          <a:xfrm>
            <a:off x="8462792" y="2099188"/>
            <a:ext cx="2078934" cy="825910"/>
          </a:xfrm>
          <a:prstGeom prst="down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tx2"/>
                </a:solidFill>
              </a:rPr>
              <a:t>提供採購商品網址</a:t>
            </a:r>
            <a:endParaRPr lang="en-US" altLang="zh-TW" sz="1800" b="1" dirty="0">
              <a:solidFill>
                <a:schemeClr val="tx2"/>
              </a:solidFill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35212F49-7D16-91F3-8792-17DEA61E1CA7}"/>
              </a:ext>
            </a:extLst>
          </p:cNvPr>
          <p:cNvSpPr/>
          <p:nvPr/>
        </p:nvSpPr>
        <p:spPr>
          <a:xfrm>
            <a:off x="131166" y="2329280"/>
            <a:ext cx="1208387" cy="1090692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0" name="圖形 16" descr="長波浪髮型的女子">
            <a:extLst>
              <a:ext uri="{FF2B5EF4-FFF2-40B4-BE49-F238E27FC236}">
                <a16:creationId xmlns:a16="http://schemas.microsoft.com/office/drawing/2014/main" id="{2FEBBD35-129D-0C00-D138-8E708063F935}"/>
              </a:ext>
            </a:extLst>
          </p:cNvPr>
          <p:cNvGrpSpPr/>
          <p:nvPr/>
        </p:nvGrpSpPr>
        <p:grpSpPr>
          <a:xfrm rot="21199182">
            <a:off x="312483" y="2446162"/>
            <a:ext cx="807743" cy="856927"/>
            <a:chOff x="10656614" y="1349483"/>
            <a:chExt cx="1099282" cy="1197076"/>
          </a:xfrm>
        </p:grpSpPr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0BB658CB-4189-4C12-240B-EBE53371C4BD}"/>
                </a:ext>
              </a:extLst>
            </p:cNvPr>
            <p:cNvSpPr/>
            <p:nvPr/>
          </p:nvSpPr>
          <p:spPr>
            <a:xfrm>
              <a:off x="10868735" y="1487002"/>
              <a:ext cx="839859" cy="877870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12" name="圖形 16" descr="長波浪髮型的女子">
              <a:extLst>
                <a:ext uri="{FF2B5EF4-FFF2-40B4-BE49-F238E27FC236}">
                  <a16:creationId xmlns:a16="http://schemas.microsoft.com/office/drawing/2014/main" id="{A7CA67E3-EB1B-928D-D6F4-EB1509035BF8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13" name="手繪多邊形: 圖案 12">
                <a:extLst>
                  <a:ext uri="{FF2B5EF4-FFF2-40B4-BE49-F238E27FC236}">
                    <a16:creationId xmlns:a16="http://schemas.microsoft.com/office/drawing/2014/main" id="{201C95F4-56E9-0BA5-AE9C-319335B446E9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 dirty="0"/>
              </a:p>
            </p:txBody>
          </p:sp>
          <p:sp>
            <p:nvSpPr>
              <p:cNvPr id="14" name="手繪多邊形: 圖案 13">
                <a:extLst>
                  <a:ext uri="{FF2B5EF4-FFF2-40B4-BE49-F238E27FC236}">
                    <a16:creationId xmlns:a16="http://schemas.microsoft.com/office/drawing/2014/main" id="{E1061898-F93F-DB88-0AD9-09E04FA45D7F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16" name="圖形 15" descr="笑臉">
            <a:extLst>
              <a:ext uri="{FF2B5EF4-FFF2-40B4-BE49-F238E27FC236}">
                <a16:creationId xmlns:a16="http://schemas.microsoft.com/office/drawing/2014/main" id="{2C564EBA-FD5A-7960-58A1-49B731ABF3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862518">
            <a:off x="641702" y="2684249"/>
            <a:ext cx="433226" cy="448266"/>
          </a:xfrm>
          <a:prstGeom prst="rect">
            <a:avLst/>
          </a:prstGeom>
        </p:spPr>
      </p:pic>
      <p:graphicFrame>
        <p:nvGraphicFramePr>
          <p:cNvPr id="17" name="資料庫圖表 16">
            <a:extLst>
              <a:ext uri="{FF2B5EF4-FFF2-40B4-BE49-F238E27FC236}">
                <a16:creationId xmlns:a16="http://schemas.microsoft.com/office/drawing/2014/main" id="{31C6CB36-51E6-7630-E6BC-5FA3980324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1080985"/>
              </p:ext>
            </p:extLst>
          </p:nvPr>
        </p:nvGraphicFramePr>
        <p:xfrm>
          <a:off x="83549" y="5054941"/>
          <a:ext cx="12108451" cy="22981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8" name="文字方塊 17">
            <a:extLst>
              <a:ext uri="{FF2B5EF4-FFF2-40B4-BE49-F238E27FC236}">
                <a16:creationId xmlns:a16="http://schemas.microsoft.com/office/drawing/2014/main" id="{AC1FB0E2-83EE-581B-52FC-CD3016A6D7A4}"/>
              </a:ext>
            </a:extLst>
          </p:cNvPr>
          <p:cNvSpPr txBox="1"/>
          <p:nvPr/>
        </p:nvSpPr>
        <p:spPr>
          <a:xfrm>
            <a:off x="0" y="5203285"/>
            <a:ext cx="3201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/>
              <a:t>公務卡請購階段流程：</a:t>
            </a:r>
          </a:p>
        </p:txBody>
      </p:sp>
    </p:spTree>
    <p:extLst>
      <p:ext uri="{BB962C8B-B14F-4D97-AF65-F5344CB8AC3E}">
        <p14:creationId xmlns:p14="http://schemas.microsoft.com/office/powerpoint/2010/main" val="106524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31" y="1400948"/>
            <a:ext cx="5379870" cy="4385837"/>
          </a:xfrm>
          <a:prstGeom prst="rect">
            <a:avLst/>
          </a:prstGeom>
        </p:spPr>
      </p:pic>
      <p:sp>
        <p:nvSpPr>
          <p:cNvPr id="4" name="圓角矩形 3"/>
          <p:cNvSpPr/>
          <p:nvPr/>
        </p:nvSpPr>
        <p:spPr>
          <a:xfrm>
            <a:off x="7239846" y="5637984"/>
            <a:ext cx="3194953" cy="91440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回信給出納企業卡的申購編號可以讓出納更即時對帳唷！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9289763-937F-02FC-7342-393617B1B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5823" y="1552080"/>
            <a:ext cx="6092718" cy="312911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205948D-F0A7-0B48-0247-02746F5F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8EBABFD8-7F6D-6410-0288-497BCA41CE35}"/>
              </a:ext>
            </a:extLst>
          </p:cNvPr>
          <p:cNvSpPr/>
          <p:nvPr/>
        </p:nvSpPr>
        <p:spPr>
          <a:xfrm>
            <a:off x="-1" y="1"/>
            <a:ext cx="6253317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A Y</a:t>
            </a:r>
            <a:r>
              <a:rPr lang="zh-TW" altLang="en-US" sz="2800" b="1" dirty="0"/>
              <a:t> 請  購  單 </a:t>
            </a:r>
            <a:r>
              <a:rPr lang="en-US" altLang="zh-TW" sz="2800" b="1" dirty="0"/>
              <a:t>–</a:t>
            </a:r>
            <a:r>
              <a:rPr lang="zh-TW" altLang="en-US" sz="2800" b="1" dirty="0"/>
              <a:t> 核 銷 公 司 企 業 卡</a:t>
            </a:r>
            <a:endParaRPr lang="en-US" altLang="zh-TW" sz="2800" b="1" dirty="0">
              <a:solidFill>
                <a:schemeClr val="bg1"/>
              </a:solidFill>
            </a:endParaRPr>
          </a:p>
        </p:txBody>
      </p:sp>
      <p:sp>
        <p:nvSpPr>
          <p:cNvPr id="10" name="圖說文字: 向下箭號 9">
            <a:extLst>
              <a:ext uri="{FF2B5EF4-FFF2-40B4-BE49-F238E27FC236}">
                <a16:creationId xmlns:a16="http://schemas.microsoft.com/office/drawing/2014/main" id="{CF1CAAC5-DED7-56BE-1229-C2EE03E0758B}"/>
              </a:ext>
            </a:extLst>
          </p:cNvPr>
          <p:cNvSpPr/>
          <p:nvPr/>
        </p:nvSpPr>
        <p:spPr>
          <a:xfrm>
            <a:off x="5635823" y="1044119"/>
            <a:ext cx="6092718" cy="749785"/>
          </a:xfrm>
          <a:prstGeom prst="down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申請人依照出納</a:t>
            </a:r>
            <a:r>
              <a:rPr lang="en-US" altLang="zh-TW" b="1" dirty="0">
                <a:solidFill>
                  <a:schemeClr val="tx2"/>
                </a:solidFill>
              </a:rPr>
              <a:t>mail</a:t>
            </a:r>
            <a:r>
              <a:rPr lang="zh-TW" altLang="en-US" b="1" dirty="0">
                <a:solidFill>
                  <a:schemeClr val="tx2"/>
                </a:solidFill>
              </a:rPr>
              <a:t>的內容核銷，並送出憑證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17E97D-64F8-62F8-D99F-A622287C5C5F}"/>
              </a:ext>
            </a:extLst>
          </p:cNvPr>
          <p:cNvSpPr/>
          <p:nvPr/>
        </p:nvSpPr>
        <p:spPr>
          <a:xfrm>
            <a:off x="5635823" y="4681200"/>
            <a:ext cx="6092718" cy="426510"/>
          </a:xfrm>
          <a:prstGeom prst="rec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rgbClr val="FF0000"/>
                </a:solidFill>
              </a:rPr>
              <a:t>申請人回信給出納申購單號</a:t>
            </a:r>
            <a:r>
              <a:rPr lang="zh-TW" altLang="en-US" b="1" dirty="0">
                <a:solidFill>
                  <a:schemeClr val="tx2"/>
                </a:solidFill>
              </a:rPr>
              <a:t>。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8BBE5B18-A1A2-C78C-449F-5E24177030BF}"/>
              </a:ext>
            </a:extLst>
          </p:cNvPr>
          <p:cNvSpPr/>
          <p:nvPr/>
        </p:nvSpPr>
        <p:spPr>
          <a:xfrm>
            <a:off x="10306404" y="5481266"/>
            <a:ext cx="1208387" cy="1090692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5" name="圖形 16" descr="長波浪髮型的女子">
            <a:extLst>
              <a:ext uri="{FF2B5EF4-FFF2-40B4-BE49-F238E27FC236}">
                <a16:creationId xmlns:a16="http://schemas.microsoft.com/office/drawing/2014/main" id="{AC9F717B-5B39-5381-EFAC-67FB1E70DDF8}"/>
              </a:ext>
            </a:extLst>
          </p:cNvPr>
          <p:cNvGrpSpPr/>
          <p:nvPr/>
        </p:nvGrpSpPr>
        <p:grpSpPr>
          <a:xfrm rot="400818" flipH="1">
            <a:off x="10506725" y="5580240"/>
            <a:ext cx="807743" cy="856927"/>
            <a:chOff x="10656614" y="1349483"/>
            <a:chExt cx="1099282" cy="1197076"/>
          </a:xfrm>
        </p:grpSpPr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3A3456B2-C6DC-3CB8-1531-77EDEF90B32D}"/>
                </a:ext>
              </a:extLst>
            </p:cNvPr>
            <p:cNvSpPr/>
            <p:nvPr/>
          </p:nvSpPr>
          <p:spPr>
            <a:xfrm>
              <a:off x="10868735" y="1487002"/>
              <a:ext cx="839859" cy="877870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17" name="圖形 16" descr="長波浪髮型的女子">
              <a:extLst>
                <a:ext uri="{FF2B5EF4-FFF2-40B4-BE49-F238E27FC236}">
                  <a16:creationId xmlns:a16="http://schemas.microsoft.com/office/drawing/2014/main" id="{6E211EB6-B48D-826E-7C9B-1A12A39D9415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18" name="手繪多邊形: 圖案 17">
                <a:extLst>
                  <a:ext uri="{FF2B5EF4-FFF2-40B4-BE49-F238E27FC236}">
                    <a16:creationId xmlns:a16="http://schemas.microsoft.com/office/drawing/2014/main" id="{A6177360-0E12-5815-9DD7-562457343B4F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 dirty="0"/>
              </a:p>
            </p:txBody>
          </p:sp>
          <p:sp>
            <p:nvSpPr>
              <p:cNvPr id="19" name="手繪多邊形: 圖案 18">
                <a:extLst>
                  <a:ext uri="{FF2B5EF4-FFF2-40B4-BE49-F238E27FC236}">
                    <a16:creationId xmlns:a16="http://schemas.microsoft.com/office/drawing/2014/main" id="{F567FCB2-4664-DA18-3F2D-0195A167CCF5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22" name="圖形 21" descr="笑臉">
            <a:extLst>
              <a:ext uri="{FF2B5EF4-FFF2-40B4-BE49-F238E27FC236}">
                <a16:creationId xmlns:a16="http://schemas.microsoft.com/office/drawing/2014/main" id="{B11429A0-FD83-28EA-24CC-F7BB72CFD5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737482" flipH="1">
            <a:off x="10552023" y="5812687"/>
            <a:ext cx="433226" cy="448266"/>
          </a:xfrm>
          <a:prstGeom prst="rect">
            <a:avLst/>
          </a:prstGeom>
        </p:spPr>
      </p:pic>
      <p:sp>
        <p:nvSpPr>
          <p:cNvPr id="7" name="向右箭號圖說文字 6"/>
          <p:cNvSpPr/>
          <p:nvPr/>
        </p:nvSpPr>
        <p:spPr>
          <a:xfrm>
            <a:off x="102731" y="1037786"/>
            <a:ext cx="5657046" cy="514294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95223"/>
            </a:avLst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出納收到帳單後，寄信給申請人</a:t>
            </a:r>
          </a:p>
        </p:txBody>
      </p:sp>
    </p:spTree>
    <p:extLst>
      <p:ext uri="{BB962C8B-B14F-4D97-AF65-F5344CB8AC3E}">
        <p14:creationId xmlns:p14="http://schemas.microsoft.com/office/powerpoint/2010/main" val="1594895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預 支 單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543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語音泡泡: 圓角矩形 43">
            <a:extLst>
              <a:ext uri="{FF2B5EF4-FFF2-40B4-BE49-F238E27FC236}">
                <a16:creationId xmlns:a16="http://schemas.microsoft.com/office/drawing/2014/main" id="{4B70D17B-CB0A-BCC9-EDA7-1DE71C0E9C7C}"/>
              </a:ext>
            </a:extLst>
          </p:cNvPr>
          <p:cNvSpPr/>
          <p:nvPr/>
        </p:nvSpPr>
        <p:spPr>
          <a:xfrm>
            <a:off x="5816271" y="1189037"/>
            <a:ext cx="4660505" cy="1241359"/>
          </a:xfrm>
          <a:prstGeom prst="wedgeRoundRectCallout">
            <a:avLst>
              <a:gd name="adj1" fmla="val 42554"/>
              <a:gd name="adj2" fmla="val 1986"/>
              <a:gd name="adj3" fmla="val 16667"/>
            </a:avLst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zh-TW" altLang="en-US" b="1" dirty="0">
                <a:solidFill>
                  <a:schemeClr val="tx2"/>
                </a:solidFill>
              </a:rPr>
              <a:t>預支單只提供</a:t>
            </a:r>
            <a:r>
              <a:rPr lang="zh-TW" altLang="en-US" b="1" dirty="0">
                <a:solidFill>
                  <a:srgbClr val="FF0000"/>
                </a:solidFill>
              </a:rPr>
              <a:t>大額支出</a:t>
            </a:r>
            <a:r>
              <a:rPr lang="zh-TW" altLang="en-US" b="1" dirty="0">
                <a:solidFill>
                  <a:schemeClr val="tx2"/>
                </a:solidFill>
              </a:rPr>
              <a:t>及左方五個特定狀況使用，若支出金額為</a:t>
            </a:r>
            <a:r>
              <a:rPr lang="en-US" altLang="zh-TW" b="1" dirty="0">
                <a:solidFill>
                  <a:srgbClr val="FF0000"/>
                </a:solidFill>
              </a:rPr>
              <a:t>2,000</a:t>
            </a:r>
            <a:r>
              <a:rPr lang="zh-TW" altLang="en-US" b="1" dirty="0">
                <a:solidFill>
                  <a:srgbClr val="FF0000"/>
                </a:solidFill>
              </a:rPr>
              <a:t>元以下</a:t>
            </a:r>
            <a:r>
              <a:rPr lang="zh-TW" altLang="en-US" b="1" dirty="0">
                <a:solidFill>
                  <a:schemeClr val="tx2"/>
                </a:solidFill>
              </a:rPr>
              <a:t>要請同仁先自行代墊，後續填申購單申請唷！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6205A74-0503-9FB2-3CFF-EFF786BC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FF923750-0BC5-AB25-F093-CD6A48D0B4A1}"/>
              </a:ext>
            </a:extLst>
          </p:cNvPr>
          <p:cNvSpPr/>
          <p:nvPr/>
        </p:nvSpPr>
        <p:spPr>
          <a:xfrm>
            <a:off x="-1" y="1"/>
            <a:ext cx="3895107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R</a:t>
            </a:r>
            <a:r>
              <a:rPr lang="zh-TW" altLang="en-US" sz="2800" b="1" dirty="0"/>
              <a:t> 預 支 單</a:t>
            </a:r>
          </a:p>
        </p:txBody>
      </p:sp>
      <p:pic>
        <p:nvPicPr>
          <p:cNvPr id="11" name="圖形 10" descr="夾板 外框">
            <a:extLst>
              <a:ext uri="{FF2B5EF4-FFF2-40B4-BE49-F238E27FC236}">
                <a16:creationId xmlns:a16="http://schemas.microsoft.com/office/drawing/2014/main" id="{C7824BFD-1982-C31A-89CB-7E0D8B9730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622798" y="663677"/>
            <a:ext cx="6345172" cy="6345172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753F6AA7-B20E-BDAB-C82C-CECC855C9595}"/>
              </a:ext>
            </a:extLst>
          </p:cNvPr>
          <p:cNvSpPr txBox="1"/>
          <p:nvPr/>
        </p:nvSpPr>
        <p:spPr>
          <a:xfrm>
            <a:off x="2058307" y="1976284"/>
            <a:ext cx="98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預 支 單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6AF346E-2B9A-7044-BC72-7511819ECE38}"/>
              </a:ext>
            </a:extLst>
          </p:cNvPr>
          <p:cNvSpPr txBox="1"/>
          <p:nvPr/>
        </p:nvSpPr>
        <p:spPr>
          <a:xfrm>
            <a:off x="691019" y="2521663"/>
            <a:ext cx="6408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/>
              <a:t>使用時機：</a:t>
            </a:r>
          </a:p>
        </p:txBody>
      </p:sp>
      <p:pic>
        <p:nvPicPr>
          <p:cNvPr id="15" name="圖形 14" descr="核取方塊 (打勾) 以實心填滿">
            <a:extLst>
              <a:ext uri="{FF2B5EF4-FFF2-40B4-BE49-F238E27FC236}">
                <a16:creationId xmlns:a16="http://schemas.microsoft.com/office/drawing/2014/main" id="{476A1455-B56F-FE19-1D44-EC8F06B6AE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1019" y="2851485"/>
            <a:ext cx="577515" cy="577515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BEF7CD95-DE9E-6AD3-9CBD-E8B954DFE67A}"/>
              </a:ext>
            </a:extLst>
          </p:cNvPr>
          <p:cNvSpPr txBox="1"/>
          <p:nvPr/>
        </p:nvSpPr>
        <p:spPr>
          <a:xfrm>
            <a:off x="1167143" y="2971689"/>
            <a:ext cx="1874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altLang="en-US" b="1" dirty="0"/>
              <a:t>具有時效性。</a:t>
            </a:r>
            <a:endParaRPr lang="en-US" altLang="zh-TW" b="1" dirty="0"/>
          </a:p>
        </p:txBody>
      </p:sp>
      <p:pic>
        <p:nvPicPr>
          <p:cNvPr id="18" name="圖形 17" descr="核取方塊 (打勾) 以實心填滿">
            <a:extLst>
              <a:ext uri="{FF2B5EF4-FFF2-40B4-BE49-F238E27FC236}">
                <a16:creationId xmlns:a16="http://schemas.microsoft.com/office/drawing/2014/main" id="{E98074E0-B582-39CF-453C-EEF3DD4FB3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1016" y="3510455"/>
            <a:ext cx="577515" cy="57751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34AE9FD3-CE44-51E4-2EA6-A3CE402E2DE5}"/>
              </a:ext>
            </a:extLst>
          </p:cNvPr>
          <p:cNvSpPr txBox="1"/>
          <p:nvPr/>
        </p:nvSpPr>
        <p:spPr>
          <a:xfrm>
            <a:off x="1167142" y="3601896"/>
            <a:ext cx="2201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altLang="en-US" b="1" dirty="0"/>
              <a:t>開立支票、定存單。</a:t>
            </a:r>
            <a:endParaRPr lang="en-US" altLang="zh-TW" b="1" dirty="0"/>
          </a:p>
        </p:txBody>
      </p:sp>
      <p:pic>
        <p:nvPicPr>
          <p:cNvPr id="21" name="圖形 20" descr="核取方塊 (打勾) 以實心填滿">
            <a:extLst>
              <a:ext uri="{FF2B5EF4-FFF2-40B4-BE49-F238E27FC236}">
                <a16:creationId xmlns:a16="http://schemas.microsoft.com/office/drawing/2014/main" id="{CF02EBE2-043F-BD5E-E8D5-212B495AEB7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1016" y="4145116"/>
            <a:ext cx="577515" cy="577515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B86763D5-A0A4-C85D-CCF7-DABD6451E934}"/>
              </a:ext>
            </a:extLst>
          </p:cNvPr>
          <p:cNvSpPr txBox="1"/>
          <p:nvPr/>
        </p:nvSpPr>
        <p:spPr>
          <a:xfrm>
            <a:off x="1167142" y="4240882"/>
            <a:ext cx="3370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altLang="en-US" b="1" dirty="0"/>
              <a:t>外幣需求</a:t>
            </a:r>
            <a:endParaRPr lang="en-US" altLang="zh-TW" b="1" dirty="0"/>
          </a:p>
        </p:txBody>
      </p:sp>
      <p:pic>
        <p:nvPicPr>
          <p:cNvPr id="24" name="圖形 23" descr="核取方塊 (打勾) 以實心填滿">
            <a:extLst>
              <a:ext uri="{FF2B5EF4-FFF2-40B4-BE49-F238E27FC236}">
                <a16:creationId xmlns:a16="http://schemas.microsoft.com/office/drawing/2014/main" id="{D0E1F368-9776-4DAA-807D-A656D939A1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1016" y="4804086"/>
            <a:ext cx="577515" cy="577515"/>
          </a:xfrm>
          <a:prstGeom prst="rect">
            <a:avLst/>
          </a:prstGeom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B88FCB37-D47B-70DA-6C7D-A97A9F1A7439}"/>
              </a:ext>
            </a:extLst>
          </p:cNvPr>
          <p:cNvSpPr txBox="1"/>
          <p:nvPr/>
        </p:nvSpPr>
        <p:spPr>
          <a:xfrm>
            <a:off x="1167142" y="4924838"/>
            <a:ext cx="6408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altLang="en-US" b="1" dirty="0"/>
              <a:t>國外匯款。</a:t>
            </a:r>
            <a:endParaRPr lang="en-US" altLang="zh-TW" b="1" dirty="0"/>
          </a:p>
        </p:txBody>
      </p:sp>
      <p:pic>
        <p:nvPicPr>
          <p:cNvPr id="27" name="圖形 26" descr="核取方塊 (打勾) 以實心填滿">
            <a:extLst>
              <a:ext uri="{FF2B5EF4-FFF2-40B4-BE49-F238E27FC236}">
                <a16:creationId xmlns:a16="http://schemas.microsoft.com/office/drawing/2014/main" id="{D9B44002-D6C4-7977-8C1D-CBBE5D2751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1016" y="5526098"/>
            <a:ext cx="577515" cy="577515"/>
          </a:xfrm>
          <a:prstGeom prst="rect">
            <a:avLst/>
          </a:prstGeom>
        </p:spPr>
      </p:pic>
      <p:sp>
        <p:nvSpPr>
          <p:cNvPr id="30" name="圖說文字: 向左箭號 29">
            <a:extLst>
              <a:ext uri="{FF2B5EF4-FFF2-40B4-BE49-F238E27FC236}">
                <a16:creationId xmlns:a16="http://schemas.microsoft.com/office/drawing/2014/main" id="{EB03933C-83FD-8762-F7EA-9F5858788EBE}"/>
              </a:ext>
            </a:extLst>
          </p:cNvPr>
          <p:cNvSpPr/>
          <p:nvPr/>
        </p:nvSpPr>
        <p:spPr>
          <a:xfrm>
            <a:off x="2768613" y="2785273"/>
            <a:ext cx="6934709" cy="612648"/>
          </a:xfrm>
          <a:prstGeom prst="left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需先支付訂金或貨款才能交付成果的支出。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31" name="圖說文字: 向左箭號 30">
            <a:extLst>
              <a:ext uri="{FF2B5EF4-FFF2-40B4-BE49-F238E27FC236}">
                <a16:creationId xmlns:a16="http://schemas.microsoft.com/office/drawing/2014/main" id="{F59A201D-30A3-F753-FA2A-408C8024F98C}"/>
              </a:ext>
            </a:extLst>
          </p:cNvPr>
          <p:cNvSpPr/>
          <p:nvPr/>
        </p:nvSpPr>
        <p:spPr>
          <a:xfrm>
            <a:off x="3368481" y="3480238"/>
            <a:ext cx="6934709" cy="612648"/>
          </a:xfrm>
          <a:prstGeom prst="left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zh-TW" altLang="en-US" b="1" dirty="0">
                <a:solidFill>
                  <a:schemeClr val="tx2"/>
                </a:solidFill>
              </a:rPr>
              <a:t>通常為專案押標金</a:t>
            </a:r>
            <a:r>
              <a:rPr lang="en-US" altLang="zh-TW" b="1" dirty="0">
                <a:solidFill>
                  <a:schemeClr val="tx2"/>
                </a:solidFill>
              </a:rPr>
              <a:t>/</a:t>
            </a:r>
            <a:r>
              <a:rPr lang="zh-TW" altLang="en-US" b="1" dirty="0">
                <a:solidFill>
                  <a:schemeClr val="tx2"/>
                </a:solidFill>
              </a:rPr>
              <a:t>履保金</a:t>
            </a:r>
            <a:r>
              <a:rPr lang="en-US" altLang="zh-TW" b="1" dirty="0">
                <a:solidFill>
                  <a:schemeClr val="tx2"/>
                </a:solidFill>
              </a:rPr>
              <a:t>/</a:t>
            </a:r>
            <a:r>
              <a:rPr lang="zh-TW" altLang="en-US" b="1" dirty="0">
                <a:solidFill>
                  <a:schemeClr val="tx2"/>
                </a:solidFill>
              </a:rPr>
              <a:t>保固金需求。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32" name="圖說文字: 向左箭號 31">
            <a:extLst>
              <a:ext uri="{FF2B5EF4-FFF2-40B4-BE49-F238E27FC236}">
                <a16:creationId xmlns:a16="http://schemas.microsoft.com/office/drawing/2014/main" id="{BE5C2E4F-4FCE-5768-8EA2-275460BBDB9F}"/>
              </a:ext>
            </a:extLst>
          </p:cNvPr>
          <p:cNvSpPr/>
          <p:nvPr/>
        </p:nvSpPr>
        <p:spPr>
          <a:xfrm>
            <a:off x="2437219" y="4174720"/>
            <a:ext cx="6345172" cy="612648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55783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zh-TW" altLang="en-US" b="1" dirty="0">
                <a:solidFill>
                  <a:schemeClr val="tx2"/>
                </a:solidFill>
              </a:rPr>
              <a:t>專案至國外辦理活動之相關費用。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33" name="圖說文字: 向左箭號 32">
            <a:extLst>
              <a:ext uri="{FF2B5EF4-FFF2-40B4-BE49-F238E27FC236}">
                <a16:creationId xmlns:a16="http://schemas.microsoft.com/office/drawing/2014/main" id="{2B1F0249-E7C0-A5FA-C41A-74A8F63307DE}"/>
              </a:ext>
            </a:extLst>
          </p:cNvPr>
          <p:cNvSpPr/>
          <p:nvPr/>
        </p:nvSpPr>
        <p:spPr>
          <a:xfrm>
            <a:off x="2582346" y="4865113"/>
            <a:ext cx="6345172" cy="612648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51971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zh-TW" altLang="en-US" b="1" dirty="0">
                <a:solidFill>
                  <a:schemeClr val="tx2"/>
                </a:solidFill>
              </a:rPr>
              <a:t>支付專案外國學者或廠商貨款。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4C3971AA-A687-DF60-2474-1125F986F896}"/>
              </a:ext>
            </a:extLst>
          </p:cNvPr>
          <p:cNvSpPr txBox="1"/>
          <p:nvPr/>
        </p:nvSpPr>
        <p:spPr>
          <a:xfrm>
            <a:off x="1138977" y="5649553"/>
            <a:ext cx="1443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/>
              <a:t>出納代繳 。</a:t>
            </a:r>
          </a:p>
        </p:txBody>
      </p:sp>
      <p:sp>
        <p:nvSpPr>
          <p:cNvPr id="36" name="圖說文字: 向左箭號 35">
            <a:extLst>
              <a:ext uri="{FF2B5EF4-FFF2-40B4-BE49-F238E27FC236}">
                <a16:creationId xmlns:a16="http://schemas.microsoft.com/office/drawing/2014/main" id="{E6F39927-799B-9F50-F886-6B95D64BEF27}"/>
              </a:ext>
            </a:extLst>
          </p:cNvPr>
          <p:cNvSpPr/>
          <p:nvPr/>
        </p:nvSpPr>
        <p:spPr>
          <a:xfrm>
            <a:off x="2582346" y="5555506"/>
            <a:ext cx="9157370" cy="612648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64272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zh-TW" altLang="en-US" b="1" dirty="0">
                <a:solidFill>
                  <a:schemeClr val="tx2"/>
                </a:solidFill>
              </a:rPr>
              <a:t>有繳費條碼須由出納先行代繳的費用，如：保險費。 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01CC802E-7659-7993-C4E4-8A6954219160}"/>
              </a:ext>
            </a:extLst>
          </p:cNvPr>
          <p:cNvSpPr/>
          <p:nvPr/>
        </p:nvSpPr>
        <p:spPr>
          <a:xfrm>
            <a:off x="10289254" y="705820"/>
            <a:ext cx="1208387" cy="1090692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38" name="圖形 16" descr="長波浪髮型的女子">
            <a:extLst>
              <a:ext uri="{FF2B5EF4-FFF2-40B4-BE49-F238E27FC236}">
                <a16:creationId xmlns:a16="http://schemas.microsoft.com/office/drawing/2014/main" id="{2157C1EA-FC8A-AAEE-EC37-DD95A97149F7}"/>
              </a:ext>
            </a:extLst>
          </p:cNvPr>
          <p:cNvGrpSpPr/>
          <p:nvPr/>
        </p:nvGrpSpPr>
        <p:grpSpPr>
          <a:xfrm rot="400818" flipH="1">
            <a:off x="10503512" y="806728"/>
            <a:ext cx="807743" cy="856927"/>
            <a:chOff x="10656614" y="1349483"/>
            <a:chExt cx="1099282" cy="1197076"/>
          </a:xfrm>
        </p:grpSpPr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A36AF546-4FFE-EEC3-0289-04E3E0C84F86}"/>
                </a:ext>
              </a:extLst>
            </p:cNvPr>
            <p:cNvSpPr/>
            <p:nvPr/>
          </p:nvSpPr>
          <p:spPr>
            <a:xfrm>
              <a:off x="10868733" y="1487001"/>
              <a:ext cx="839859" cy="877869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40" name="圖形 16" descr="長波浪髮型的女子">
              <a:extLst>
                <a:ext uri="{FF2B5EF4-FFF2-40B4-BE49-F238E27FC236}">
                  <a16:creationId xmlns:a16="http://schemas.microsoft.com/office/drawing/2014/main" id="{96ED19D6-5EF4-0898-D355-BBBAE3F3DFED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41" name="手繪多邊形: 圖案 40">
                <a:extLst>
                  <a:ext uri="{FF2B5EF4-FFF2-40B4-BE49-F238E27FC236}">
                    <a16:creationId xmlns:a16="http://schemas.microsoft.com/office/drawing/2014/main" id="{B5BC82F9-3EF7-3E16-3DB9-F99EAC1D1EF3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2" name="手繪多邊形: 圖案 41">
                <a:extLst>
                  <a:ext uri="{FF2B5EF4-FFF2-40B4-BE49-F238E27FC236}">
                    <a16:creationId xmlns:a16="http://schemas.microsoft.com/office/drawing/2014/main" id="{E3056186-E359-9905-984E-9D09CD8BC75C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43" name="圖形 42" descr="笑臉">
            <a:extLst>
              <a:ext uri="{FF2B5EF4-FFF2-40B4-BE49-F238E27FC236}">
                <a16:creationId xmlns:a16="http://schemas.microsoft.com/office/drawing/2014/main" id="{32BE8ABF-A4A2-5B45-EF2B-326710CAE7B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737482" flipH="1">
            <a:off x="10539891" y="1027033"/>
            <a:ext cx="433226" cy="44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66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3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形 9" descr="打開的書">
            <a:extLst>
              <a:ext uri="{FF2B5EF4-FFF2-40B4-BE49-F238E27FC236}">
                <a16:creationId xmlns:a16="http://schemas.microsoft.com/office/drawing/2014/main" id="{15CBA089-1F8F-1A92-3C0C-AD55108F13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666601">
            <a:off x="9273597" y="4304422"/>
            <a:ext cx="2991252" cy="2991252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738386E-ED11-F5BB-0D33-0B2E1C8CA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3A455C29-3F16-0D7E-E990-8768625A9939}"/>
              </a:ext>
            </a:extLst>
          </p:cNvPr>
          <p:cNvSpPr/>
          <p:nvPr/>
        </p:nvSpPr>
        <p:spPr>
          <a:xfrm>
            <a:off x="-1" y="1"/>
            <a:ext cx="3895107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R</a:t>
            </a:r>
            <a:r>
              <a:rPr lang="zh-TW" altLang="en-US" sz="2800" b="1" dirty="0"/>
              <a:t> 預 支 單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B50359B-DBD7-F851-7A74-50E636E54F84}"/>
              </a:ext>
            </a:extLst>
          </p:cNvPr>
          <p:cNvSpPr txBox="1"/>
          <p:nvPr/>
        </p:nvSpPr>
        <p:spPr>
          <a:xfrm>
            <a:off x="691018" y="1830518"/>
            <a:ext cx="1067876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b="1" dirty="0">
                <a:solidFill>
                  <a:schemeClr val="tx2"/>
                </a:solidFill>
              </a:rPr>
              <a:t>預支取款日</a:t>
            </a:r>
            <a:r>
              <a:rPr lang="zh-TW" altLang="en-US" sz="2000" b="1" dirty="0">
                <a:solidFill>
                  <a:srgbClr val="FF0000"/>
                </a:solidFill>
              </a:rPr>
              <a:t>當天早上</a:t>
            </a:r>
            <a:r>
              <a:rPr lang="en-US" altLang="zh-TW" sz="2000" b="1" dirty="0">
                <a:solidFill>
                  <a:srgbClr val="FF0000"/>
                </a:solidFill>
              </a:rPr>
              <a:t>10</a:t>
            </a:r>
            <a:r>
              <a:rPr lang="zh-TW" altLang="en-US" sz="2000" b="1" dirty="0">
                <a:solidFill>
                  <a:srgbClr val="FF0000"/>
                </a:solidFill>
              </a:rPr>
              <a:t>點前</a:t>
            </a:r>
            <a:r>
              <a:rPr lang="zh-TW" altLang="en-US" sz="2000" b="1" dirty="0">
                <a:solidFill>
                  <a:schemeClr val="tx2"/>
                </a:solidFill>
              </a:rPr>
              <a:t>須簽核完表單流程出納才能出款。</a:t>
            </a:r>
            <a:endParaRPr lang="en-US" altLang="zh-TW" sz="2000" b="1" dirty="0">
              <a:solidFill>
                <a:schemeClr val="tx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b="1" dirty="0">
                <a:solidFill>
                  <a:schemeClr val="tx2"/>
                </a:solidFill>
              </a:rPr>
              <a:t>若有預支需求，最晚須於預計取款日前</a:t>
            </a:r>
            <a:r>
              <a:rPr lang="en-US" altLang="zh-TW" sz="2000" b="1" dirty="0">
                <a:solidFill>
                  <a:schemeClr val="tx2"/>
                </a:solidFill>
              </a:rPr>
              <a:t>3</a:t>
            </a:r>
            <a:r>
              <a:rPr lang="zh-TW" altLang="en-US" sz="2000" b="1" dirty="0">
                <a:solidFill>
                  <a:schemeClr val="tx2"/>
                </a:solidFill>
              </a:rPr>
              <a:t>個工作天申請，並於出款日起算</a:t>
            </a:r>
            <a:r>
              <a:rPr lang="en-US" altLang="zh-TW" sz="2000" b="1" dirty="0">
                <a:solidFill>
                  <a:schemeClr val="tx2"/>
                </a:solidFill>
              </a:rPr>
              <a:t>30</a:t>
            </a:r>
            <a:r>
              <a:rPr lang="zh-TW" altLang="en-US" sz="2000" b="1" dirty="0">
                <a:solidFill>
                  <a:schemeClr val="tx2"/>
                </a:solidFill>
              </a:rPr>
              <a:t>天內核銷。</a:t>
            </a:r>
            <a:endParaRPr lang="en-US" altLang="zh-TW" sz="2000" b="1" dirty="0">
              <a:solidFill>
                <a:schemeClr val="tx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b="1" dirty="0">
                <a:solidFill>
                  <a:schemeClr val="tx2"/>
                </a:solidFill>
              </a:rPr>
              <a:t>預支單須自行追蹤簽核進度。</a:t>
            </a:r>
            <a:endParaRPr lang="en-US" altLang="zh-TW" sz="2000" b="1" dirty="0">
              <a:solidFill>
                <a:schemeClr val="tx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b="1" dirty="0">
                <a:solidFill>
                  <a:schemeClr val="tx2"/>
                </a:solidFill>
              </a:rPr>
              <a:t>特殊急件出款須先取得主管同意，於預支單備註預支名目、緊急出款事由、實際支付日，送出表單後截圖預支畫面</a:t>
            </a:r>
            <a:r>
              <a:rPr lang="en-US" altLang="zh-TW" sz="2000" b="1" dirty="0">
                <a:solidFill>
                  <a:schemeClr val="tx2"/>
                </a:solidFill>
              </a:rPr>
              <a:t>mail</a:t>
            </a:r>
            <a:r>
              <a:rPr lang="zh-TW" altLang="en-US" sz="2000" b="1" dirty="0">
                <a:solidFill>
                  <a:schemeClr val="tx2"/>
                </a:solidFill>
              </a:rPr>
              <a:t>通知專案主管、行政副處長、處長、管理處處長、財務長、出納，以利後續協助處理。</a:t>
            </a:r>
            <a:endParaRPr lang="en-US" altLang="zh-TW" sz="2000" b="1" dirty="0">
              <a:solidFill>
                <a:schemeClr val="tx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b="1" dirty="0">
                <a:solidFill>
                  <a:schemeClr val="tx2"/>
                </a:solidFill>
              </a:rPr>
              <a:t>差旅費不可預支：除台澎金馬花東地區偏遠，出差天數長除外。</a:t>
            </a:r>
            <a:endParaRPr lang="en-US" altLang="zh-TW" sz="2000" b="1" dirty="0">
              <a:solidFill>
                <a:schemeClr val="tx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b="1" dirty="0">
                <a:solidFill>
                  <a:schemeClr val="tx2"/>
                </a:solidFill>
              </a:rPr>
              <a:t>換鈔需於備註說明清楚，例如：預支</a:t>
            </a:r>
            <a:r>
              <a:rPr lang="en-US" altLang="zh-TW" sz="2000" b="1" dirty="0">
                <a:solidFill>
                  <a:schemeClr val="tx2"/>
                </a:solidFill>
              </a:rPr>
              <a:t>4000</a:t>
            </a:r>
            <a:r>
              <a:rPr lang="zh-TW" altLang="en-US" sz="2000" b="1" dirty="0">
                <a:solidFill>
                  <a:schemeClr val="tx2"/>
                </a:solidFill>
              </a:rPr>
              <a:t>元要換鈔</a:t>
            </a:r>
            <a:r>
              <a:rPr lang="en-US" altLang="zh-TW" sz="2000" b="1" dirty="0">
                <a:solidFill>
                  <a:schemeClr val="tx2"/>
                </a:solidFill>
              </a:rPr>
              <a:t>-$1000*2</a:t>
            </a:r>
            <a:r>
              <a:rPr lang="zh-TW" altLang="en-US" sz="2000" b="1" dirty="0">
                <a:solidFill>
                  <a:schemeClr val="tx2"/>
                </a:solidFill>
              </a:rPr>
              <a:t>、</a:t>
            </a:r>
            <a:r>
              <a:rPr lang="en-US" altLang="zh-TW" sz="2000" b="1" dirty="0">
                <a:solidFill>
                  <a:schemeClr val="tx2"/>
                </a:solidFill>
              </a:rPr>
              <a:t>$500*3</a:t>
            </a:r>
            <a:r>
              <a:rPr lang="zh-TW" altLang="en-US" sz="2000" b="1" dirty="0">
                <a:solidFill>
                  <a:schemeClr val="tx2"/>
                </a:solidFill>
              </a:rPr>
              <a:t>、</a:t>
            </a:r>
            <a:endParaRPr lang="en-US" altLang="zh-TW" sz="2000" b="1" dirty="0">
              <a:solidFill>
                <a:schemeClr val="tx2"/>
              </a:solidFill>
            </a:endParaRPr>
          </a:p>
          <a:p>
            <a:pPr>
              <a:lnSpc>
                <a:spcPct val="150000"/>
              </a:lnSpc>
            </a:pPr>
            <a:r>
              <a:rPr lang="zh-TW" altLang="en-US" sz="2000" b="1" dirty="0">
                <a:solidFill>
                  <a:schemeClr val="tx2"/>
                </a:solidFill>
              </a:rPr>
              <a:t>      </a:t>
            </a:r>
            <a:r>
              <a:rPr lang="en-US" altLang="zh-TW" sz="2000" b="1" dirty="0">
                <a:solidFill>
                  <a:schemeClr val="tx2"/>
                </a:solidFill>
              </a:rPr>
              <a:t>$100*2</a:t>
            </a:r>
            <a:r>
              <a:rPr lang="zh-TW" altLang="en-US" sz="2000" b="1" dirty="0">
                <a:solidFill>
                  <a:schemeClr val="tx2"/>
                </a:solidFill>
              </a:rPr>
              <a:t>、</a:t>
            </a:r>
            <a:r>
              <a:rPr lang="en-US" altLang="zh-TW" sz="2000" b="1" dirty="0">
                <a:solidFill>
                  <a:schemeClr val="tx2"/>
                </a:solidFill>
              </a:rPr>
              <a:t>$50*5</a:t>
            </a:r>
            <a:r>
              <a:rPr lang="zh-TW" altLang="en-US" sz="2000" b="1" dirty="0">
                <a:solidFill>
                  <a:schemeClr val="tx2"/>
                </a:solidFill>
              </a:rPr>
              <a:t>、</a:t>
            </a:r>
            <a:r>
              <a:rPr lang="en-US" altLang="zh-TW" sz="2000" b="1" dirty="0">
                <a:solidFill>
                  <a:schemeClr val="tx2"/>
                </a:solidFill>
              </a:rPr>
              <a:t>$10*5</a:t>
            </a:r>
            <a:r>
              <a:rPr lang="zh-TW" altLang="en-US" sz="2000" b="1" dirty="0">
                <a:solidFill>
                  <a:schemeClr val="tx2"/>
                </a:solidFill>
              </a:rPr>
              <a:t>。</a:t>
            </a:r>
            <a:endParaRPr lang="en-US" altLang="zh-TW" sz="2000" b="1" dirty="0">
              <a:solidFill>
                <a:schemeClr val="tx2"/>
              </a:solidFill>
            </a:endParaRPr>
          </a:p>
        </p:txBody>
      </p:sp>
      <p:pic>
        <p:nvPicPr>
          <p:cNvPr id="7" name="圖形 6" descr="驚嘆號 以實心填滿">
            <a:extLst>
              <a:ext uri="{FF2B5EF4-FFF2-40B4-BE49-F238E27FC236}">
                <a16:creationId xmlns:a16="http://schemas.microsoft.com/office/drawing/2014/main" id="{6D545B80-11A8-109C-996D-12668B9DCB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1250" y="1192532"/>
            <a:ext cx="477478" cy="47747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3F1820E-77B4-66A9-5C86-B4B7E009F53B}"/>
              </a:ext>
            </a:extLst>
          </p:cNvPr>
          <p:cNvSpPr txBox="1"/>
          <p:nvPr/>
        </p:nvSpPr>
        <p:spPr>
          <a:xfrm>
            <a:off x="822221" y="1192532"/>
            <a:ext cx="1980029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solidFill>
                  <a:schemeClr val="tx2"/>
                </a:solidFill>
              </a:rPr>
              <a:t>注意事項：</a:t>
            </a:r>
            <a:endParaRPr lang="en-US" altLang="zh-TW" sz="2800" b="1" dirty="0">
              <a:solidFill>
                <a:schemeClr val="tx2"/>
              </a:solidFill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10522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40906EC-19F2-1A0A-D679-80CDAF13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CB982365-BE74-F9A5-4815-6E77D24607FD}"/>
              </a:ext>
            </a:extLst>
          </p:cNvPr>
          <p:cNvSpPr/>
          <p:nvPr/>
        </p:nvSpPr>
        <p:spPr>
          <a:xfrm>
            <a:off x="-1" y="1"/>
            <a:ext cx="3895107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R</a:t>
            </a:r>
            <a:r>
              <a:rPr lang="zh-TW" altLang="en-US" sz="2800" b="1" dirty="0"/>
              <a:t> 預 支 單</a:t>
            </a:r>
          </a:p>
        </p:txBody>
      </p:sp>
      <p:pic>
        <p:nvPicPr>
          <p:cNvPr id="5" name="圖片 4" descr="一張含有 文字, 螢幕擷取畫面, 數字, 字型 的圖片&#10;&#10;自動產生的描述">
            <a:extLst>
              <a:ext uri="{FF2B5EF4-FFF2-40B4-BE49-F238E27FC236}">
                <a16:creationId xmlns:a16="http://schemas.microsoft.com/office/drawing/2014/main" id="{460F44D9-31B6-1B8F-0724-D7032A660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74" y="1054673"/>
            <a:ext cx="6928723" cy="54723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圖形 6" descr="徽章 1 以實心填滿">
            <a:extLst>
              <a:ext uri="{FF2B5EF4-FFF2-40B4-BE49-F238E27FC236}">
                <a16:creationId xmlns:a16="http://schemas.microsoft.com/office/drawing/2014/main" id="{4727059D-7AC8-53DC-F51A-7C82347257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934" y="1249489"/>
            <a:ext cx="514784" cy="514784"/>
          </a:xfrm>
          <a:prstGeom prst="rect">
            <a:avLst/>
          </a:prstGeom>
        </p:spPr>
      </p:pic>
      <p:pic>
        <p:nvPicPr>
          <p:cNvPr id="8" name="圖形 7" descr="識別證 以實心填滿">
            <a:extLst>
              <a:ext uri="{FF2B5EF4-FFF2-40B4-BE49-F238E27FC236}">
                <a16:creationId xmlns:a16="http://schemas.microsoft.com/office/drawing/2014/main" id="{A7F67C2B-3FD7-CD77-85B0-313DA8030D9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43933" y="1959089"/>
            <a:ext cx="514785" cy="514785"/>
          </a:xfrm>
          <a:prstGeom prst="rect">
            <a:avLst/>
          </a:prstGeom>
        </p:spPr>
      </p:pic>
      <p:pic>
        <p:nvPicPr>
          <p:cNvPr id="9" name="圖形 8" descr="徽章 3 以實心填滿">
            <a:extLst>
              <a:ext uri="{FF2B5EF4-FFF2-40B4-BE49-F238E27FC236}">
                <a16:creationId xmlns:a16="http://schemas.microsoft.com/office/drawing/2014/main" id="{682D0930-ACD8-C806-3F22-FBE08E662FA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27037" y="2399428"/>
            <a:ext cx="514786" cy="514786"/>
          </a:xfrm>
          <a:prstGeom prst="rect">
            <a:avLst/>
          </a:prstGeom>
        </p:spPr>
      </p:pic>
      <p:pic>
        <p:nvPicPr>
          <p:cNvPr id="10" name="圖形 9" descr="徽章 4 以實心填滿">
            <a:extLst>
              <a:ext uri="{FF2B5EF4-FFF2-40B4-BE49-F238E27FC236}">
                <a16:creationId xmlns:a16="http://schemas.microsoft.com/office/drawing/2014/main" id="{7587E509-3952-2C92-AFEE-EEB4AF8A3EA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32766" y="2914214"/>
            <a:ext cx="514786" cy="514786"/>
          </a:xfrm>
          <a:prstGeom prst="rect">
            <a:avLst/>
          </a:prstGeom>
        </p:spPr>
      </p:pic>
      <p:pic>
        <p:nvPicPr>
          <p:cNvPr id="11" name="圖形 10" descr="徽章 5 以實心填滿">
            <a:extLst>
              <a:ext uri="{FF2B5EF4-FFF2-40B4-BE49-F238E27FC236}">
                <a16:creationId xmlns:a16="http://schemas.microsoft.com/office/drawing/2014/main" id="{D60FE8BA-FEC7-DA47-FBB4-8DB1433B063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18217" y="3285585"/>
            <a:ext cx="514785" cy="514785"/>
          </a:xfrm>
          <a:prstGeom prst="rect">
            <a:avLst/>
          </a:prstGeom>
        </p:spPr>
      </p:pic>
      <p:pic>
        <p:nvPicPr>
          <p:cNvPr id="12" name="圖形 11" descr="徽章 6 以實心填滿">
            <a:extLst>
              <a:ext uri="{FF2B5EF4-FFF2-40B4-BE49-F238E27FC236}">
                <a16:creationId xmlns:a16="http://schemas.microsoft.com/office/drawing/2014/main" id="{D523F5DB-0118-6E86-5873-1F1304EDF41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1372" y="4157648"/>
            <a:ext cx="514786" cy="514786"/>
          </a:xfrm>
          <a:prstGeom prst="rect">
            <a:avLst/>
          </a:prstGeom>
        </p:spPr>
      </p:pic>
      <p:pic>
        <p:nvPicPr>
          <p:cNvPr id="13" name="圖形 12" descr="徽章 7 以實心填滿">
            <a:extLst>
              <a:ext uri="{FF2B5EF4-FFF2-40B4-BE49-F238E27FC236}">
                <a16:creationId xmlns:a16="http://schemas.microsoft.com/office/drawing/2014/main" id="{446E193A-4DD5-DD1F-5418-D27913DECCE8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12194" y="4773757"/>
            <a:ext cx="514784" cy="514784"/>
          </a:xfrm>
          <a:prstGeom prst="rect">
            <a:avLst/>
          </a:prstGeom>
        </p:spPr>
      </p:pic>
      <p:pic>
        <p:nvPicPr>
          <p:cNvPr id="14" name="圖形 13" descr="徽章 1 以實心填滿">
            <a:extLst>
              <a:ext uri="{FF2B5EF4-FFF2-40B4-BE49-F238E27FC236}">
                <a16:creationId xmlns:a16="http://schemas.microsoft.com/office/drawing/2014/main" id="{A2528C5F-A419-E63B-FAA8-AF00E659CF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374" y="5351859"/>
            <a:ext cx="514784" cy="514784"/>
          </a:xfrm>
          <a:prstGeom prst="rect">
            <a:avLst/>
          </a:prstGeom>
        </p:spPr>
      </p:pic>
      <p:pic>
        <p:nvPicPr>
          <p:cNvPr id="15" name="圖形 14" descr="徽章 1 以實心填滿">
            <a:extLst>
              <a:ext uri="{FF2B5EF4-FFF2-40B4-BE49-F238E27FC236}">
                <a16:creationId xmlns:a16="http://schemas.microsoft.com/office/drawing/2014/main" id="{F0FEBD4A-8647-134C-3174-76BD42C7CE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5110" y="5364392"/>
            <a:ext cx="514784" cy="514784"/>
          </a:xfrm>
          <a:prstGeom prst="rect">
            <a:avLst/>
          </a:prstGeom>
        </p:spPr>
      </p:pic>
      <p:pic>
        <p:nvPicPr>
          <p:cNvPr id="16" name="圖形 15" descr="徽章 8 以實心填滿">
            <a:extLst>
              <a:ext uri="{FF2B5EF4-FFF2-40B4-BE49-F238E27FC236}">
                <a16:creationId xmlns:a16="http://schemas.microsoft.com/office/drawing/2014/main" id="{6808DC65-063E-E740-90BA-994841600D94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41372" y="6029068"/>
            <a:ext cx="514784" cy="514784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F912D0F7-653A-EA76-9A4B-8B8AC03D2B13}"/>
              </a:ext>
            </a:extLst>
          </p:cNvPr>
          <p:cNvSpPr txBox="1"/>
          <p:nvPr/>
        </p:nvSpPr>
        <p:spPr>
          <a:xfrm>
            <a:off x="1816531" y="5725100"/>
            <a:ext cx="1192141" cy="369332"/>
          </a:xfrm>
          <a:prstGeom prst="rect">
            <a:avLst/>
          </a:prstGeom>
          <a:solidFill>
            <a:srgbClr val="FFCC66"/>
          </a:solidFill>
        </p:spPr>
        <p:txBody>
          <a:bodyPr wrap="square" rtlCol="0">
            <a:spAutoFit/>
          </a:bodyPr>
          <a:lstStyle/>
          <a:p>
            <a:r>
              <a:rPr lang="zh-TW" altLang="en-US" b="1" dirty="0"/>
              <a:t>支票使用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81D63D38-0B10-C381-3B99-2F0804942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218597"/>
              </p:ext>
            </p:extLst>
          </p:nvPr>
        </p:nvGraphicFramePr>
        <p:xfrm>
          <a:off x="7344697" y="169183"/>
          <a:ext cx="4705929" cy="637466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15432">
                  <a:extLst>
                    <a:ext uri="{9D8B030D-6E8A-4147-A177-3AD203B41FA5}">
                      <a16:colId xmlns:a16="http://schemas.microsoft.com/office/drawing/2014/main" val="1670405423"/>
                    </a:ext>
                  </a:extLst>
                </a:gridCol>
                <a:gridCol w="4190497">
                  <a:extLst>
                    <a:ext uri="{9D8B030D-6E8A-4147-A177-3AD203B41FA5}">
                      <a16:colId xmlns:a16="http://schemas.microsoft.com/office/drawing/2014/main" val="796782782"/>
                    </a:ext>
                  </a:extLst>
                </a:gridCol>
              </a:tblGrid>
              <a:tr h="7064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NO.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說明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353115"/>
                  </a:ext>
                </a:extLst>
              </a:tr>
              <a:tr h="476154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1" dirty="0">
                          <a:solidFill>
                            <a:schemeClr val="tx2"/>
                          </a:solidFill>
                        </a:rPr>
                        <a:t>專案押標金</a:t>
                      </a:r>
                      <a:r>
                        <a:rPr lang="en-US" altLang="zh-TW" b="1" dirty="0">
                          <a:solidFill>
                            <a:schemeClr val="tx2"/>
                          </a:solidFill>
                        </a:rPr>
                        <a:t>/</a:t>
                      </a:r>
                      <a:r>
                        <a:rPr lang="zh-TW" altLang="en-US" b="1" dirty="0">
                          <a:solidFill>
                            <a:schemeClr val="tx2"/>
                          </a:solidFill>
                        </a:rPr>
                        <a:t>履保金</a:t>
                      </a:r>
                      <a:r>
                        <a:rPr lang="en-US" altLang="zh-TW" b="1" dirty="0">
                          <a:solidFill>
                            <a:schemeClr val="tx2"/>
                          </a:solidFill>
                        </a:rPr>
                        <a:t>/</a:t>
                      </a:r>
                      <a:r>
                        <a:rPr lang="zh-TW" altLang="en-US" b="1" dirty="0">
                          <a:solidFill>
                            <a:schemeClr val="tx2"/>
                          </a:solidFill>
                        </a:rPr>
                        <a:t>保固金使用。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85875"/>
                  </a:ext>
                </a:extLst>
              </a:tr>
              <a:tr h="45468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1" dirty="0">
                          <a:solidFill>
                            <a:schemeClr val="tx2"/>
                          </a:solidFill>
                        </a:rPr>
                        <a:t>系統綁定最早可選日期為</a:t>
                      </a:r>
                      <a:r>
                        <a:rPr lang="en-US" altLang="zh-TW" b="1" dirty="0">
                          <a:solidFill>
                            <a:schemeClr val="tx2"/>
                          </a:solidFill>
                        </a:rPr>
                        <a:t>3</a:t>
                      </a:r>
                      <a:r>
                        <a:rPr lang="zh-TW" altLang="en-US" b="1" dirty="0">
                          <a:solidFill>
                            <a:schemeClr val="tx2"/>
                          </a:solidFill>
                        </a:rPr>
                        <a:t>個工作天後。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586266"/>
                  </a:ext>
                </a:extLst>
              </a:tr>
              <a:tr h="1448867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b="1" dirty="0">
                          <a:solidFill>
                            <a:schemeClr val="tx2"/>
                          </a:solidFill>
                        </a:rPr>
                        <a:t>質押：</a:t>
                      </a:r>
                      <a:r>
                        <a:rPr lang="zh-TW" altLang="en-US" b="1" dirty="0">
                          <a:solidFill>
                            <a:srgbClr val="FF0000"/>
                          </a:solidFill>
                        </a:rPr>
                        <a:t>秘書限定</a:t>
                      </a:r>
                      <a:r>
                        <a:rPr lang="zh-TW" altLang="en-US" b="1" dirty="0">
                          <a:solidFill>
                            <a:schemeClr val="tx2"/>
                          </a:solidFill>
                        </a:rPr>
                        <a:t>，由出納至銀行開立定存單，交付與專案甲方雙方用印文件至銀行設質，作為履約保證的其中一種方式。</a:t>
                      </a:r>
                      <a:endParaRPr lang="en-US" altLang="zh-TW" b="1" dirty="0">
                        <a:solidFill>
                          <a:schemeClr val="tx2"/>
                        </a:solidFill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b="1" dirty="0">
                          <a:solidFill>
                            <a:schemeClr val="tx2"/>
                          </a:solidFill>
                        </a:rPr>
                        <a:t>支票：須提供</a:t>
                      </a:r>
                      <a:r>
                        <a:rPr lang="zh-TW" altLang="en-US" b="1" dirty="0">
                          <a:solidFill>
                            <a:srgbClr val="FF0000"/>
                          </a:solidFill>
                        </a:rPr>
                        <a:t>受款人抬頭</a:t>
                      </a:r>
                      <a:r>
                        <a:rPr lang="zh-TW" altLang="en-US" b="1" dirty="0">
                          <a:solidFill>
                            <a:schemeClr val="tx2"/>
                          </a:solidFill>
                        </a:rPr>
                        <a:t>資訊。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585652"/>
                  </a:ext>
                </a:extLst>
              </a:tr>
              <a:tr h="90554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solidFill>
                            <a:schemeClr val="tx2"/>
                          </a:solidFill>
                        </a:rPr>
                        <a:t>輸入關鍵字，點選系統帶出的分行名稱。</a:t>
                      </a:r>
                      <a:endParaRPr lang="en-US" altLang="zh-TW" b="1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zh-TW" altLang="en-US" b="1" dirty="0">
                          <a:solidFill>
                            <a:schemeClr val="tx2"/>
                          </a:solidFill>
                        </a:rPr>
                        <a:t>若查無關鍵字，可於備註註明銀行及分行名稱。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347686"/>
                  </a:ext>
                </a:extLst>
              </a:tr>
              <a:tr h="70643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zh-TW" altLang="en-US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1" dirty="0">
                          <a:solidFill>
                            <a:schemeClr val="tx2"/>
                          </a:solidFill>
                        </a:rPr>
                        <a:t>若匯款後須由網銀自動通知受款人，可於此欄位留下資訊。</a:t>
                      </a:r>
                      <a:endParaRPr lang="en-US" altLang="zh-TW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953000"/>
                  </a:ext>
                </a:extLst>
              </a:tr>
              <a:tr h="70643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2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1" dirty="0">
                          <a:solidFill>
                            <a:schemeClr val="tx2"/>
                          </a:solidFill>
                        </a:rPr>
                        <a:t>請簡易說明用途，以利出納網銀出款時備註於附言。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064232"/>
                  </a:ext>
                </a:extLst>
              </a:tr>
              <a:tr h="488293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1" dirty="0">
                          <a:solidFill>
                            <a:schemeClr val="tx2"/>
                          </a:solidFill>
                        </a:rPr>
                        <a:t>匯款金額</a:t>
                      </a:r>
                      <a:r>
                        <a:rPr lang="en-US" altLang="zh-TW" b="1" dirty="0">
                          <a:solidFill>
                            <a:schemeClr val="tx2"/>
                          </a:solidFill>
                        </a:rPr>
                        <a:t>=</a:t>
                      </a:r>
                      <a:r>
                        <a:rPr lang="zh-TW" altLang="en-US" b="1" dirty="0">
                          <a:solidFill>
                            <a:schemeClr val="tx2"/>
                          </a:solidFill>
                        </a:rPr>
                        <a:t>預支金額</a:t>
                      </a:r>
                      <a:r>
                        <a:rPr lang="en-US" altLang="zh-TW" b="1" dirty="0">
                          <a:solidFill>
                            <a:schemeClr val="tx2"/>
                          </a:solidFill>
                        </a:rPr>
                        <a:t>-</a:t>
                      </a:r>
                      <a:r>
                        <a:rPr lang="zh-TW" altLang="en-US" b="1" dirty="0">
                          <a:solidFill>
                            <a:schemeClr val="tx2"/>
                          </a:solidFill>
                        </a:rPr>
                        <a:t>匯款手續費。</a:t>
                      </a:r>
                      <a:endParaRPr lang="en-US" altLang="zh-TW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688494"/>
                  </a:ext>
                </a:extLst>
              </a:tr>
              <a:tr h="458807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2"/>
                          </a:solidFill>
                        </a:rPr>
                        <a:t>8</a:t>
                      </a:r>
                      <a:endParaRPr lang="zh-TW" altLang="en-US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1" dirty="0">
                          <a:solidFill>
                            <a:schemeClr val="tx2"/>
                          </a:solidFill>
                        </a:rPr>
                        <a:t>檢附：受款人存摺、報價單、合約等。</a:t>
                      </a:r>
                      <a:endParaRPr lang="en-US" altLang="zh-TW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149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5244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386440" y="1128324"/>
            <a:ext cx="5390607" cy="5417744"/>
          </a:xfrm>
        </p:spPr>
        <p:txBody>
          <a:bodyPr/>
          <a:lstStyle/>
          <a:p>
            <a:r>
              <a:rPr lang="zh-TW" altLang="en-US" dirty="0">
                <a:solidFill>
                  <a:schemeClr val="tx2"/>
                </a:solidFill>
              </a:rPr>
              <a:t>預支金額</a:t>
            </a:r>
            <a:r>
              <a:rPr lang="zh-TW" altLang="en-US" dirty="0">
                <a:solidFill>
                  <a:srgbClr val="FF0000"/>
                </a:solidFill>
              </a:rPr>
              <a:t>包含</a:t>
            </a:r>
            <a:r>
              <a:rPr lang="zh-TW" altLang="en-US" dirty="0">
                <a:solidFill>
                  <a:schemeClr val="tx2"/>
                </a:solidFill>
              </a:rPr>
              <a:t>匯費：</a:t>
            </a:r>
            <a:endParaRPr lang="en-US" altLang="zh-TW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zh-TW" altLang="en-US" sz="2000" dirty="0">
                <a:solidFill>
                  <a:schemeClr val="tx2"/>
                </a:solidFill>
              </a:rPr>
              <a:t>    核銷金額</a:t>
            </a:r>
            <a:r>
              <a:rPr lang="en-US" altLang="zh-TW" sz="2000" dirty="0">
                <a:solidFill>
                  <a:schemeClr val="tx2"/>
                </a:solidFill>
              </a:rPr>
              <a:t>=</a:t>
            </a:r>
            <a:r>
              <a:rPr lang="zh-TW" altLang="en-US" sz="2000" dirty="0">
                <a:solidFill>
                  <a:schemeClr val="tx2"/>
                </a:solidFill>
              </a:rPr>
              <a:t>預支金額。</a:t>
            </a:r>
            <a:endParaRPr lang="en-US" altLang="zh-TW" sz="2000" dirty="0"/>
          </a:p>
          <a:p>
            <a:pPr marL="0" indent="0">
              <a:buNone/>
            </a:pPr>
            <a:r>
              <a:rPr lang="zh-TW" altLang="en-US" sz="2000" dirty="0">
                <a:solidFill>
                  <a:schemeClr val="tx2"/>
                </a:solidFill>
              </a:rPr>
              <a:t>→</a:t>
            </a:r>
            <a:r>
              <a:rPr lang="zh-TW" altLang="en-US" sz="2000" dirty="0">
                <a:solidFill>
                  <a:srgbClr val="FF0000"/>
                </a:solidFill>
              </a:rPr>
              <a:t>多列一行手續費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half" idx="2"/>
          </p:nvPr>
        </p:nvSpPr>
        <p:spPr>
          <a:xfrm>
            <a:off x="5873840" y="1128324"/>
            <a:ext cx="5806439" cy="5417745"/>
          </a:xfrm>
        </p:spPr>
        <p:txBody>
          <a:bodyPr/>
          <a:lstStyle/>
          <a:p>
            <a:r>
              <a:rPr lang="zh-TW" altLang="en-US" dirty="0">
                <a:solidFill>
                  <a:schemeClr val="tx2"/>
                </a:solidFill>
              </a:rPr>
              <a:t>預支金額</a:t>
            </a:r>
            <a:r>
              <a:rPr lang="zh-TW" altLang="en-US" dirty="0">
                <a:solidFill>
                  <a:srgbClr val="FF0000"/>
                </a:solidFill>
              </a:rPr>
              <a:t>不包含</a:t>
            </a:r>
            <a:r>
              <a:rPr lang="zh-TW" altLang="en-US" dirty="0">
                <a:solidFill>
                  <a:schemeClr val="tx2"/>
                </a:solidFill>
              </a:rPr>
              <a:t>匯費：</a:t>
            </a:r>
            <a:endParaRPr lang="en-US" altLang="zh-TW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zh-TW" altLang="en-US" dirty="0">
                <a:solidFill>
                  <a:schemeClr val="tx2"/>
                </a:solidFill>
              </a:rPr>
              <a:t>   </a:t>
            </a:r>
            <a:r>
              <a:rPr lang="zh-TW" altLang="en-US" sz="2000" dirty="0">
                <a:solidFill>
                  <a:schemeClr val="tx2"/>
                </a:solidFill>
              </a:rPr>
              <a:t>核銷金額</a:t>
            </a:r>
            <a:r>
              <a:rPr lang="en-US" altLang="zh-TW" sz="2000" dirty="0">
                <a:solidFill>
                  <a:schemeClr val="tx2"/>
                </a:solidFill>
              </a:rPr>
              <a:t>=</a:t>
            </a:r>
            <a:r>
              <a:rPr lang="zh-TW" altLang="en-US" sz="2000" dirty="0">
                <a:solidFill>
                  <a:schemeClr val="tx2"/>
                </a:solidFill>
              </a:rPr>
              <a:t>預支金額。</a:t>
            </a:r>
            <a:endParaRPr lang="en-US" altLang="zh-TW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479665" y="4314305"/>
            <a:ext cx="4064924" cy="2163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760B827-0213-5E21-1444-1609DE2CD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74" y="2427396"/>
            <a:ext cx="5461474" cy="2557662"/>
          </a:xfrm>
          <a:prstGeom prst="rect">
            <a:avLst/>
          </a:prstGeom>
        </p:spPr>
      </p:pic>
      <p:sp>
        <p:nvSpPr>
          <p:cNvPr id="12" name="箭號: 五邊形 11">
            <a:extLst>
              <a:ext uri="{FF2B5EF4-FFF2-40B4-BE49-F238E27FC236}">
                <a16:creationId xmlns:a16="http://schemas.microsoft.com/office/drawing/2014/main" id="{AC55A85D-C0CA-5C1F-D242-3E4032F72D64}"/>
              </a:ext>
            </a:extLst>
          </p:cNvPr>
          <p:cNvSpPr/>
          <p:nvPr/>
        </p:nvSpPr>
        <p:spPr>
          <a:xfrm>
            <a:off x="-1" y="1"/>
            <a:ext cx="4279770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R</a:t>
            </a:r>
            <a:r>
              <a:rPr lang="zh-TW" altLang="en-US" sz="2800" b="1" dirty="0"/>
              <a:t> 預 支 單 核 銷 </a:t>
            </a:r>
            <a:r>
              <a:rPr lang="en-US" altLang="zh-TW" sz="2800" b="1" dirty="0"/>
              <a:t>-</a:t>
            </a:r>
            <a:r>
              <a:rPr lang="zh-TW" altLang="en-US" sz="2800" b="1" dirty="0"/>
              <a:t> 匯 款 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2030" y="2427396"/>
            <a:ext cx="604837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531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42C6449-90FC-4DE7-AF6B-E2B180C38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19</a:t>
            </a:fld>
            <a:endParaRPr lang="zh-TW" altLang="en-US"/>
          </a:p>
        </p:txBody>
      </p:sp>
      <p:graphicFrame>
        <p:nvGraphicFramePr>
          <p:cNvPr id="5" name="資料庫圖表 4">
            <a:extLst>
              <a:ext uri="{FF2B5EF4-FFF2-40B4-BE49-F238E27FC236}">
                <a16:creationId xmlns:a16="http://schemas.microsoft.com/office/drawing/2014/main" id="{57A050CA-111C-4887-2D5F-1A75D6710C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9454028"/>
              </p:ext>
            </p:extLst>
          </p:nvPr>
        </p:nvGraphicFramePr>
        <p:xfrm>
          <a:off x="516194" y="1106129"/>
          <a:ext cx="11397132" cy="5373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箭號: 五邊形 5">
            <a:extLst>
              <a:ext uri="{FF2B5EF4-FFF2-40B4-BE49-F238E27FC236}">
                <a16:creationId xmlns:a16="http://schemas.microsoft.com/office/drawing/2014/main" id="{CCA4C29B-7254-AF02-8763-553E75BA12C3}"/>
              </a:ext>
            </a:extLst>
          </p:cNvPr>
          <p:cNvSpPr/>
          <p:nvPr/>
        </p:nvSpPr>
        <p:spPr>
          <a:xfrm>
            <a:off x="0" y="1"/>
            <a:ext cx="5530646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R</a:t>
            </a:r>
            <a:r>
              <a:rPr lang="zh-TW" altLang="en-US" sz="2800" b="1" dirty="0"/>
              <a:t> 預 支 單 </a:t>
            </a:r>
            <a:r>
              <a:rPr lang="en-US" altLang="zh-TW" sz="2800" b="1" dirty="0"/>
              <a:t>–</a:t>
            </a:r>
            <a:r>
              <a:rPr lang="zh-TW" altLang="en-US" sz="2800" b="1" dirty="0"/>
              <a:t> 預 支 匯 款 流 程</a:t>
            </a: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8CD9FFEE-3855-0FAA-FDAA-5A30C7FAE0EC}"/>
              </a:ext>
            </a:extLst>
          </p:cNvPr>
          <p:cNvSpPr/>
          <p:nvPr/>
        </p:nvSpPr>
        <p:spPr>
          <a:xfrm>
            <a:off x="10200764" y="5272814"/>
            <a:ext cx="1208387" cy="1090692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8" name="圖形 16" descr="長波浪髮型的女子">
            <a:extLst>
              <a:ext uri="{FF2B5EF4-FFF2-40B4-BE49-F238E27FC236}">
                <a16:creationId xmlns:a16="http://schemas.microsoft.com/office/drawing/2014/main" id="{2CB7E9EC-EBD1-A3C1-E454-116E9778013E}"/>
              </a:ext>
            </a:extLst>
          </p:cNvPr>
          <p:cNvGrpSpPr/>
          <p:nvPr/>
        </p:nvGrpSpPr>
        <p:grpSpPr>
          <a:xfrm rot="400818" flipH="1">
            <a:off x="10433824" y="5389697"/>
            <a:ext cx="807743" cy="856927"/>
            <a:chOff x="10656614" y="1349483"/>
            <a:chExt cx="1099282" cy="1197076"/>
          </a:xfrm>
        </p:grpSpPr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079A0688-8E17-3AFC-CAD2-45A7490CB569}"/>
                </a:ext>
              </a:extLst>
            </p:cNvPr>
            <p:cNvSpPr/>
            <p:nvPr/>
          </p:nvSpPr>
          <p:spPr>
            <a:xfrm>
              <a:off x="10868733" y="1487001"/>
              <a:ext cx="839859" cy="877869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10" name="圖形 16" descr="長波浪髮型的女子">
              <a:extLst>
                <a:ext uri="{FF2B5EF4-FFF2-40B4-BE49-F238E27FC236}">
                  <a16:creationId xmlns:a16="http://schemas.microsoft.com/office/drawing/2014/main" id="{42625E8B-DB23-7292-0421-9A994078545C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11" name="手繪多邊形: 圖案 10">
                <a:extLst>
                  <a:ext uri="{FF2B5EF4-FFF2-40B4-BE49-F238E27FC236}">
                    <a16:creationId xmlns:a16="http://schemas.microsoft.com/office/drawing/2014/main" id="{2BB74456-97F3-FF58-3601-1FA65B4B1727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2" name="手繪多邊形: 圖案 11">
                <a:extLst>
                  <a:ext uri="{FF2B5EF4-FFF2-40B4-BE49-F238E27FC236}">
                    <a16:creationId xmlns:a16="http://schemas.microsoft.com/office/drawing/2014/main" id="{E9AB941B-F213-3736-E572-676F8E185E5B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13" name="圖形 12" descr="笑臉">
            <a:extLst>
              <a:ext uri="{FF2B5EF4-FFF2-40B4-BE49-F238E27FC236}">
                <a16:creationId xmlns:a16="http://schemas.microsoft.com/office/drawing/2014/main" id="{1968855A-BA0F-E580-25F0-39BD680ACF3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737482" flipH="1">
            <a:off x="10474214" y="5625091"/>
            <a:ext cx="433226" cy="448266"/>
          </a:xfrm>
          <a:prstGeom prst="rect">
            <a:avLst/>
          </a:prstGeom>
        </p:spPr>
      </p:pic>
      <p:sp>
        <p:nvSpPr>
          <p:cNvPr id="14" name="語音泡泡: 圓角矩形 13">
            <a:extLst>
              <a:ext uri="{FF2B5EF4-FFF2-40B4-BE49-F238E27FC236}">
                <a16:creationId xmlns:a16="http://schemas.microsoft.com/office/drawing/2014/main" id="{AD8A59B1-3732-BB7D-0326-4D17F06563BB}"/>
              </a:ext>
            </a:extLst>
          </p:cNvPr>
          <p:cNvSpPr/>
          <p:nvPr/>
        </p:nvSpPr>
        <p:spPr>
          <a:xfrm>
            <a:off x="4306530" y="5147187"/>
            <a:ext cx="5378916" cy="1291653"/>
          </a:xfrm>
          <a:prstGeom prst="wedgeRoundRectCallout">
            <a:avLst>
              <a:gd name="adj1" fmla="val 56162"/>
              <a:gd name="adj2" fmla="val 15055"/>
              <a:gd name="adj3" fmla="val 16667"/>
            </a:avLst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zh-TW" altLang="en-US" b="1" dirty="0">
                <a:solidFill>
                  <a:schemeClr val="tx2"/>
                </a:solidFill>
              </a:rPr>
              <a:t>現在同仁辦活動要支付的餐費等費用也可以選擇匯款方式，由公司匯款到個人帳戶，出納匯款後會通知剩餘款要匯回到哪個公司帳戶唷！</a:t>
            </a:r>
            <a:endParaRPr lang="en-US" altLang="zh-TW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135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8935645" y="2612340"/>
            <a:ext cx="2792468" cy="84212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不用再另外填申購單唷！</a:t>
            </a:r>
            <a:r>
              <a:rPr lang="zh-TW" altLang="en-US" dirty="0"/>
              <a:t>！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20</a:t>
            </a:fld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383178" y="990897"/>
            <a:ext cx="11530148" cy="536857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TW" altLang="en-US" dirty="0">
                <a:solidFill>
                  <a:schemeClr val="tx2"/>
                </a:solidFill>
              </a:rPr>
              <a:t>若同仁預支金額</a:t>
            </a:r>
            <a:r>
              <a:rPr lang="en-US" altLang="zh-TW" dirty="0">
                <a:solidFill>
                  <a:schemeClr val="tx2"/>
                </a:solidFill>
              </a:rPr>
              <a:t>&lt;</a:t>
            </a:r>
            <a:r>
              <a:rPr lang="zh-TW" altLang="en-US" dirty="0">
                <a:solidFill>
                  <a:schemeClr val="tx2"/>
                </a:solidFill>
              </a:rPr>
              <a:t>支出金額，實際核銷金額請填實際支出金額，系統會自動產生需撥款給同仁的差</a:t>
            </a:r>
            <a:endParaRPr lang="en-US" altLang="zh-TW" dirty="0">
              <a:solidFill>
                <a:schemeClr val="tx2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dirty="0">
                <a:solidFill>
                  <a:schemeClr val="tx2"/>
                </a:solidFill>
              </a:rPr>
              <a:t>    額，並於表單簽核完成後，配合中心撥款流程於周四撥款給同仁。</a:t>
            </a:r>
            <a:endParaRPr lang="en-US" altLang="zh-TW" dirty="0">
              <a:solidFill>
                <a:schemeClr val="tx2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74" y="1933950"/>
            <a:ext cx="8143875" cy="4476750"/>
          </a:xfrm>
          <a:prstGeom prst="rect">
            <a:avLst/>
          </a:prstGeom>
        </p:spPr>
      </p:pic>
      <p:sp>
        <p:nvSpPr>
          <p:cNvPr id="5" name="箭號: 五邊形 4">
            <a:extLst>
              <a:ext uri="{FF2B5EF4-FFF2-40B4-BE49-F238E27FC236}">
                <a16:creationId xmlns:a16="http://schemas.microsoft.com/office/drawing/2014/main" id="{39A6A9E8-ED91-7008-12B7-5BAF92DE8191}"/>
              </a:ext>
            </a:extLst>
          </p:cNvPr>
          <p:cNvSpPr/>
          <p:nvPr/>
        </p:nvSpPr>
        <p:spPr>
          <a:xfrm>
            <a:off x="0" y="1"/>
            <a:ext cx="5456904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R</a:t>
            </a:r>
            <a:r>
              <a:rPr lang="zh-TW" altLang="en-US" sz="2800" b="1" dirty="0"/>
              <a:t> 預 支 單 核 銷 </a:t>
            </a:r>
            <a:r>
              <a:rPr lang="en-US" altLang="zh-TW" sz="2800" b="1" dirty="0"/>
              <a:t>-</a:t>
            </a:r>
            <a:r>
              <a:rPr lang="zh-TW" altLang="en-US" sz="2800" b="1" dirty="0"/>
              <a:t> 預 支 不 足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709C1984-B31A-59A5-EE5C-154709C29A89}"/>
              </a:ext>
            </a:extLst>
          </p:cNvPr>
          <p:cNvSpPr/>
          <p:nvPr/>
        </p:nvSpPr>
        <p:spPr>
          <a:xfrm>
            <a:off x="10722514" y="1684275"/>
            <a:ext cx="1208387" cy="1090692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CC66"/>
              </a:solidFill>
            </a:endParaRPr>
          </a:p>
        </p:txBody>
      </p:sp>
      <p:grpSp>
        <p:nvGrpSpPr>
          <p:cNvPr id="10" name="圖形 16" descr="長波浪髮型的女子">
            <a:extLst>
              <a:ext uri="{FF2B5EF4-FFF2-40B4-BE49-F238E27FC236}">
                <a16:creationId xmlns:a16="http://schemas.microsoft.com/office/drawing/2014/main" id="{334FE2F3-6439-D9C0-97A2-22D65C61DCC9}"/>
              </a:ext>
            </a:extLst>
          </p:cNvPr>
          <p:cNvGrpSpPr/>
          <p:nvPr/>
        </p:nvGrpSpPr>
        <p:grpSpPr>
          <a:xfrm rot="400818" flipH="1">
            <a:off x="10953978" y="1756831"/>
            <a:ext cx="807743" cy="856927"/>
            <a:chOff x="10656614" y="1349483"/>
            <a:chExt cx="1099282" cy="1197076"/>
          </a:xfrm>
        </p:grpSpPr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F75F3F98-A2B1-B7A9-6739-A3596A9497F0}"/>
                </a:ext>
              </a:extLst>
            </p:cNvPr>
            <p:cNvSpPr/>
            <p:nvPr/>
          </p:nvSpPr>
          <p:spPr>
            <a:xfrm>
              <a:off x="10868735" y="1487002"/>
              <a:ext cx="839859" cy="877870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12" name="圖形 16" descr="長波浪髮型的女子">
              <a:extLst>
                <a:ext uri="{FF2B5EF4-FFF2-40B4-BE49-F238E27FC236}">
                  <a16:creationId xmlns:a16="http://schemas.microsoft.com/office/drawing/2014/main" id="{A86E1D55-2619-5FC6-C615-D1A23A8C340E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13" name="手繪多邊形: 圖案 12">
                <a:extLst>
                  <a:ext uri="{FF2B5EF4-FFF2-40B4-BE49-F238E27FC236}">
                    <a16:creationId xmlns:a16="http://schemas.microsoft.com/office/drawing/2014/main" id="{C7739085-CE9F-A9D7-5E44-B6706DF72010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 dirty="0"/>
              </a:p>
            </p:txBody>
          </p:sp>
          <p:sp>
            <p:nvSpPr>
              <p:cNvPr id="14" name="手繪多邊形: 圖案 13">
                <a:extLst>
                  <a:ext uri="{FF2B5EF4-FFF2-40B4-BE49-F238E27FC236}">
                    <a16:creationId xmlns:a16="http://schemas.microsoft.com/office/drawing/2014/main" id="{FF6ABE45-BD6C-4FB9-4F89-3C3275C53841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15" name="圖形 14" descr="笑臉">
            <a:extLst>
              <a:ext uri="{FF2B5EF4-FFF2-40B4-BE49-F238E27FC236}">
                <a16:creationId xmlns:a16="http://schemas.microsoft.com/office/drawing/2014/main" id="{916D1D92-7C74-91BB-3BFB-78B915F845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37482" flipH="1">
            <a:off x="10982367" y="1974926"/>
            <a:ext cx="433226" cy="44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320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29FAE65-C1A4-9E3F-3C59-71ADD3405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21</a:t>
            </a:fld>
            <a:endParaRPr lang="zh-TW" altLang="en-US"/>
          </a:p>
        </p:txBody>
      </p:sp>
      <p:graphicFrame>
        <p:nvGraphicFramePr>
          <p:cNvPr id="5" name="資料庫圖表 4">
            <a:extLst>
              <a:ext uri="{FF2B5EF4-FFF2-40B4-BE49-F238E27FC236}">
                <a16:creationId xmlns:a16="http://schemas.microsoft.com/office/drawing/2014/main" id="{3958F75C-A324-1406-F148-3F527A441D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6073775"/>
              </p:ext>
            </p:extLst>
          </p:nvPr>
        </p:nvGraphicFramePr>
        <p:xfrm>
          <a:off x="619433" y="1165123"/>
          <a:ext cx="11293894" cy="5380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箭號: 五邊形 5">
            <a:extLst>
              <a:ext uri="{FF2B5EF4-FFF2-40B4-BE49-F238E27FC236}">
                <a16:creationId xmlns:a16="http://schemas.microsoft.com/office/drawing/2014/main" id="{B9ABA433-6C23-7E47-10D1-7EE897C75194}"/>
              </a:ext>
            </a:extLst>
          </p:cNvPr>
          <p:cNvSpPr/>
          <p:nvPr/>
        </p:nvSpPr>
        <p:spPr>
          <a:xfrm>
            <a:off x="0" y="1"/>
            <a:ext cx="6754761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R</a:t>
            </a:r>
            <a:r>
              <a:rPr lang="zh-TW" altLang="en-US" sz="2800" b="1" dirty="0"/>
              <a:t> 預 支 單 </a:t>
            </a:r>
            <a:r>
              <a:rPr lang="en-US" altLang="zh-TW" sz="2800" b="1" dirty="0"/>
              <a:t>–</a:t>
            </a:r>
            <a:r>
              <a:rPr lang="zh-TW" altLang="en-US" sz="2800" b="1" dirty="0"/>
              <a:t> 預 支 現 金 </a:t>
            </a:r>
            <a:r>
              <a:rPr lang="en-US" altLang="zh-TW" sz="2800" b="1" dirty="0"/>
              <a:t>/</a:t>
            </a:r>
            <a:r>
              <a:rPr lang="zh-TW" altLang="en-US" sz="2800" b="1" dirty="0"/>
              <a:t> 支 票 流 程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3FAE3294-C2C8-61AE-8F16-CD88F4C1273C}"/>
              </a:ext>
            </a:extLst>
          </p:cNvPr>
          <p:cNvSpPr/>
          <p:nvPr/>
        </p:nvSpPr>
        <p:spPr>
          <a:xfrm>
            <a:off x="10200764" y="5272814"/>
            <a:ext cx="1208387" cy="1090692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0" name="圖形 16" descr="長波浪髮型的女子">
            <a:extLst>
              <a:ext uri="{FF2B5EF4-FFF2-40B4-BE49-F238E27FC236}">
                <a16:creationId xmlns:a16="http://schemas.microsoft.com/office/drawing/2014/main" id="{9315DA0C-2B5C-AFA1-2EEC-484382393025}"/>
              </a:ext>
            </a:extLst>
          </p:cNvPr>
          <p:cNvGrpSpPr/>
          <p:nvPr/>
        </p:nvGrpSpPr>
        <p:grpSpPr>
          <a:xfrm rot="400818" flipH="1">
            <a:off x="10433824" y="5389697"/>
            <a:ext cx="807743" cy="856927"/>
            <a:chOff x="10656614" y="1349483"/>
            <a:chExt cx="1099282" cy="1197076"/>
          </a:xfrm>
        </p:grpSpPr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C150FAD3-7E3E-E794-BF40-7DC1E8732B1C}"/>
                </a:ext>
              </a:extLst>
            </p:cNvPr>
            <p:cNvSpPr/>
            <p:nvPr/>
          </p:nvSpPr>
          <p:spPr>
            <a:xfrm>
              <a:off x="10868733" y="1487001"/>
              <a:ext cx="839859" cy="877869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12" name="圖形 16" descr="長波浪髮型的女子">
              <a:extLst>
                <a:ext uri="{FF2B5EF4-FFF2-40B4-BE49-F238E27FC236}">
                  <a16:creationId xmlns:a16="http://schemas.microsoft.com/office/drawing/2014/main" id="{22741510-D842-FB02-34F1-A21E35E431CE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13" name="手繪多邊形: 圖案 12">
                <a:extLst>
                  <a:ext uri="{FF2B5EF4-FFF2-40B4-BE49-F238E27FC236}">
                    <a16:creationId xmlns:a16="http://schemas.microsoft.com/office/drawing/2014/main" id="{EE664C48-D832-89D7-4F45-A167C47F081C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4" name="手繪多邊形: 圖案 13">
                <a:extLst>
                  <a:ext uri="{FF2B5EF4-FFF2-40B4-BE49-F238E27FC236}">
                    <a16:creationId xmlns:a16="http://schemas.microsoft.com/office/drawing/2014/main" id="{97CB0B3E-BD44-4DB4-07DD-F39A6339C837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15" name="圖形 14" descr="笑臉">
            <a:extLst>
              <a:ext uri="{FF2B5EF4-FFF2-40B4-BE49-F238E27FC236}">
                <a16:creationId xmlns:a16="http://schemas.microsoft.com/office/drawing/2014/main" id="{DCA4CEE5-8E90-F543-4B34-5D0CC912A95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737482" flipH="1">
            <a:off x="10474214" y="5625091"/>
            <a:ext cx="433226" cy="448266"/>
          </a:xfrm>
          <a:prstGeom prst="rect">
            <a:avLst/>
          </a:prstGeom>
        </p:spPr>
      </p:pic>
      <p:sp>
        <p:nvSpPr>
          <p:cNvPr id="16" name="語音泡泡: 圓角矩形 15">
            <a:extLst>
              <a:ext uri="{FF2B5EF4-FFF2-40B4-BE49-F238E27FC236}">
                <a16:creationId xmlns:a16="http://schemas.microsoft.com/office/drawing/2014/main" id="{C8D137B9-8254-95D7-2896-D543E526C1B3}"/>
              </a:ext>
            </a:extLst>
          </p:cNvPr>
          <p:cNvSpPr/>
          <p:nvPr/>
        </p:nvSpPr>
        <p:spPr>
          <a:xfrm>
            <a:off x="4317672" y="5149587"/>
            <a:ext cx="5378916" cy="1291653"/>
          </a:xfrm>
          <a:prstGeom prst="wedgeRoundRectCallout">
            <a:avLst>
              <a:gd name="adj1" fmla="val 56162"/>
              <a:gd name="adj2" fmla="val 15055"/>
              <a:gd name="adj3" fmla="val 16667"/>
            </a:avLst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zh-TW" altLang="en-US" b="1" dirty="0">
                <a:solidFill>
                  <a:schemeClr val="tx2"/>
                </a:solidFill>
              </a:rPr>
              <a:t>預支現金也可以採用匯款方式繳回，可向出納索取要匯回剩餘款的帳號，並於匯款後通知出納，以利出納即時對帳唷！</a:t>
            </a:r>
            <a:endParaRPr lang="en-US" altLang="zh-TW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923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>
            <a:extLst>
              <a:ext uri="{FF2B5EF4-FFF2-40B4-BE49-F238E27FC236}">
                <a16:creationId xmlns:a16="http://schemas.microsoft.com/office/drawing/2014/main" id="{2CB1BA64-463F-89E3-AF0A-8C5A7EF91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752" y="4829297"/>
            <a:ext cx="6010818" cy="1835639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                  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    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4"/>
          <a:srcRect l="19806" t="7209"/>
          <a:stretch/>
        </p:blipFill>
        <p:spPr>
          <a:xfrm>
            <a:off x="383177" y="3321236"/>
            <a:ext cx="5435732" cy="3343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0405" y="3321236"/>
            <a:ext cx="5952921" cy="12828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文字方塊 9"/>
          <p:cNvSpPr txBox="1"/>
          <p:nvPr/>
        </p:nvSpPr>
        <p:spPr>
          <a:xfrm>
            <a:off x="7938654" y="4994339"/>
            <a:ext cx="2954655" cy="369332"/>
          </a:xfrm>
          <a:prstGeom prst="rect">
            <a:avLst/>
          </a:prstGeom>
          <a:solidFill>
            <a:srgbClr val="FFCC66"/>
          </a:solidFill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tx2"/>
                </a:solidFill>
              </a:rPr>
              <a:t>信件標題需註記</a:t>
            </a:r>
            <a:r>
              <a:rPr lang="zh-TW" altLang="en-US" b="1" dirty="0">
                <a:solidFill>
                  <a:srgbClr val="FF0000"/>
                </a:solidFill>
              </a:rPr>
              <a:t>預支單單號</a:t>
            </a:r>
          </a:p>
        </p:txBody>
      </p:sp>
      <p:sp>
        <p:nvSpPr>
          <p:cNvPr id="14" name="矩形 13"/>
          <p:cNvSpPr/>
          <p:nvPr/>
        </p:nvSpPr>
        <p:spPr>
          <a:xfrm>
            <a:off x="6918637" y="5317952"/>
            <a:ext cx="507077" cy="4571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2"/>
              </a:solidFill>
            </a:endParaRPr>
          </a:p>
        </p:txBody>
      </p:sp>
      <p:graphicFrame>
        <p:nvGraphicFramePr>
          <p:cNvPr id="12" name="資料庫圖表 11"/>
          <p:cNvGraphicFramePr/>
          <p:nvPr>
            <p:extLst>
              <p:ext uri="{D42A27DB-BD31-4B8C-83A1-F6EECF244321}">
                <p14:modId xmlns:p14="http://schemas.microsoft.com/office/powerpoint/2010/main" val="3914830456"/>
              </p:ext>
            </p:extLst>
          </p:nvPr>
        </p:nvGraphicFramePr>
        <p:xfrm>
          <a:off x="294363" y="853803"/>
          <a:ext cx="11332371" cy="24159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13" name="圖片 1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66" y="1836604"/>
            <a:ext cx="496058" cy="496058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60" y="1136904"/>
            <a:ext cx="417474" cy="417474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04" y="2515840"/>
            <a:ext cx="496058" cy="496058"/>
          </a:xfrm>
          <a:prstGeom prst="rect">
            <a:avLst/>
          </a:prstGeom>
        </p:spPr>
      </p:pic>
      <p:sp>
        <p:nvSpPr>
          <p:cNvPr id="5" name="箭號: 五邊形 4">
            <a:extLst>
              <a:ext uri="{FF2B5EF4-FFF2-40B4-BE49-F238E27FC236}">
                <a16:creationId xmlns:a16="http://schemas.microsoft.com/office/drawing/2014/main" id="{19774B79-6D0B-3496-BA94-9E920D371FAF}"/>
              </a:ext>
            </a:extLst>
          </p:cNvPr>
          <p:cNvSpPr/>
          <p:nvPr/>
        </p:nvSpPr>
        <p:spPr>
          <a:xfrm>
            <a:off x="-1" y="1"/>
            <a:ext cx="7300453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R</a:t>
            </a:r>
            <a:r>
              <a:rPr lang="zh-TW" altLang="en-US" sz="2800" b="1" dirty="0"/>
              <a:t> 預 支 單 </a:t>
            </a:r>
            <a:r>
              <a:rPr lang="en-US" altLang="zh-TW" sz="2800" b="1" dirty="0"/>
              <a:t>-</a:t>
            </a:r>
            <a:r>
              <a:rPr lang="zh-TW" altLang="en-US" sz="2800" b="1" dirty="0"/>
              <a:t> 範 例 ：預 支 多 人 匯 款 清 單</a:t>
            </a:r>
          </a:p>
        </p:txBody>
      </p:sp>
    </p:spTree>
    <p:extLst>
      <p:ext uri="{BB962C8B-B14F-4D97-AF65-F5344CB8AC3E}">
        <p14:creationId xmlns:p14="http://schemas.microsoft.com/office/powerpoint/2010/main" val="160571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887" y="928953"/>
            <a:ext cx="7361823" cy="5434553"/>
          </a:xfrm>
          <a:prstGeom prst="rect">
            <a:avLst/>
          </a:prstGeom>
        </p:spPr>
      </p:pic>
      <p:sp>
        <p:nvSpPr>
          <p:cNvPr id="4" name="箭號: 五邊形 4">
            <a:extLst>
              <a:ext uri="{FF2B5EF4-FFF2-40B4-BE49-F238E27FC236}">
                <a16:creationId xmlns:a16="http://schemas.microsoft.com/office/drawing/2014/main" id="{19774B79-6D0B-3496-BA94-9E920D371FAF}"/>
              </a:ext>
            </a:extLst>
          </p:cNvPr>
          <p:cNvSpPr/>
          <p:nvPr/>
        </p:nvSpPr>
        <p:spPr>
          <a:xfrm>
            <a:off x="-1" y="1"/>
            <a:ext cx="7300453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R</a:t>
            </a:r>
            <a:r>
              <a:rPr lang="zh-TW" altLang="en-US" sz="2800" b="1" dirty="0"/>
              <a:t> 預 支 單 核 銷 </a:t>
            </a:r>
            <a:r>
              <a:rPr lang="en-US" altLang="zh-TW" sz="2800" b="1" dirty="0"/>
              <a:t>- </a:t>
            </a:r>
            <a:r>
              <a:rPr lang="zh-TW" altLang="en-US" sz="2800" b="1" dirty="0"/>
              <a:t>預 支 多 人 匯 款 清 單</a:t>
            </a:r>
          </a:p>
        </p:txBody>
      </p:sp>
    </p:spTree>
    <p:extLst>
      <p:ext uri="{BB962C8B-B14F-4D97-AF65-F5344CB8AC3E}">
        <p14:creationId xmlns:p14="http://schemas.microsoft.com/office/powerpoint/2010/main" val="3792680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申 購 單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13697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圖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167" y="3157628"/>
            <a:ext cx="4942159" cy="32058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887" y="3924444"/>
            <a:ext cx="3477132" cy="10575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977" y="5511415"/>
            <a:ext cx="6332960" cy="8520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8" name="箭號: 五邊形 2">
            <a:extLst>
              <a:ext uri="{FF2B5EF4-FFF2-40B4-BE49-F238E27FC236}">
                <a16:creationId xmlns:a16="http://schemas.microsoft.com/office/drawing/2014/main" id="{3A455C29-3F16-0D7E-E990-8768625A9939}"/>
              </a:ext>
            </a:extLst>
          </p:cNvPr>
          <p:cNvSpPr/>
          <p:nvPr/>
        </p:nvSpPr>
        <p:spPr>
          <a:xfrm>
            <a:off x="0" y="0"/>
            <a:ext cx="5646657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B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Y</a:t>
            </a:r>
            <a:r>
              <a:rPr lang="zh-TW" altLang="en-US" sz="2800" b="1" dirty="0"/>
              <a:t> 申 購 單 </a:t>
            </a:r>
            <a:r>
              <a:rPr lang="en-US" altLang="zh-TW" sz="2800" b="1" dirty="0"/>
              <a:t>–</a:t>
            </a:r>
            <a:r>
              <a:rPr lang="zh-TW" altLang="en-US" sz="2800" b="1" dirty="0"/>
              <a:t> 範 例 ： 草 稿 夾</a:t>
            </a: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661" y="1179962"/>
            <a:ext cx="5269584" cy="18674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矩形 16"/>
          <p:cNvSpPr/>
          <p:nvPr/>
        </p:nvSpPr>
        <p:spPr>
          <a:xfrm>
            <a:off x="6971167" y="2249024"/>
            <a:ext cx="4942159" cy="900084"/>
          </a:xfrm>
          <a:prstGeom prst="rec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若確認要申購，可點選「送出」，即送出核銷。</a:t>
            </a:r>
            <a:endParaRPr lang="en-US" altLang="zh-TW" b="1" dirty="0">
              <a:solidFill>
                <a:schemeClr val="tx2"/>
              </a:solidFill>
            </a:endParaRPr>
          </a:p>
          <a:p>
            <a:r>
              <a:rPr lang="zh-TW" altLang="en-US" b="1" dirty="0">
                <a:solidFill>
                  <a:schemeClr val="tx2"/>
                </a:solidFill>
              </a:rPr>
              <a:t>若要取消該草稿，點選「註銷」，該單即取消。</a:t>
            </a:r>
          </a:p>
        </p:txBody>
      </p:sp>
      <p:sp>
        <p:nvSpPr>
          <p:cNvPr id="20" name="向下箭號 19"/>
          <p:cNvSpPr/>
          <p:nvPr/>
        </p:nvSpPr>
        <p:spPr>
          <a:xfrm>
            <a:off x="2802137" y="5128185"/>
            <a:ext cx="484632" cy="383230"/>
          </a:xfrm>
          <a:prstGeom prst="downArrow">
            <a:avLst>
              <a:gd name="adj1" fmla="val 39115"/>
              <a:gd name="adj2" fmla="val 50000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向下箭號 28"/>
          <p:cNvSpPr/>
          <p:nvPr/>
        </p:nvSpPr>
        <p:spPr>
          <a:xfrm rot="16200000">
            <a:off x="6537236" y="5745845"/>
            <a:ext cx="484632" cy="383230"/>
          </a:xfrm>
          <a:prstGeom prst="downArrow">
            <a:avLst>
              <a:gd name="adj1" fmla="val 39115"/>
              <a:gd name="adj2" fmla="val 50000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向下箭號圖說文字 31"/>
          <p:cNvSpPr/>
          <p:nvPr/>
        </p:nvSpPr>
        <p:spPr>
          <a:xfrm>
            <a:off x="425955" y="3084625"/>
            <a:ext cx="5236996" cy="729730"/>
          </a:xfrm>
          <a:prstGeom prst="down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若申購單還沒要送出，可按「暫存」存為草稿。</a:t>
            </a:r>
          </a:p>
        </p:txBody>
      </p:sp>
    </p:spTree>
    <p:extLst>
      <p:ext uri="{BB962C8B-B14F-4D97-AF65-F5344CB8AC3E}">
        <p14:creationId xmlns:p14="http://schemas.microsoft.com/office/powerpoint/2010/main" val="3584592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圓角矩形 19"/>
          <p:cNvSpPr/>
          <p:nvPr/>
        </p:nvSpPr>
        <p:spPr>
          <a:xfrm>
            <a:off x="6196337" y="350149"/>
            <a:ext cx="4768761" cy="56588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若非固定支出，則直接填列支出資訊即可。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3A455C29-3F16-0D7E-E990-8768625A9939}"/>
              </a:ext>
            </a:extLst>
          </p:cNvPr>
          <p:cNvSpPr/>
          <p:nvPr/>
        </p:nvSpPr>
        <p:spPr>
          <a:xfrm>
            <a:off x="-2" y="1"/>
            <a:ext cx="5646657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B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Y</a:t>
            </a:r>
            <a:r>
              <a:rPr lang="zh-TW" altLang="en-US" sz="2800" b="1" dirty="0"/>
              <a:t> 申 購 單 </a:t>
            </a:r>
            <a:r>
              <a:rPr lang="en-US" altLang="zh-TW" sz="2800" b="1" dirty="0"/>
              <a:t>–</a:t>
            </a:r>
            <a:r>
              <a:rPr lang="zh-TW" altLang="en-US" sz="2800" b="1" dirty="0"/>
              <a:t> 範 例 ： 固 定 支 出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45" y="3874710"/>
            <a:ext cx="4958401" cy="277066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45" y="1105631"/>
            <a:ext cx="5002098" cy="1791093"/>
          </a:xfrm>
          <a:prstGeom prst="rect">
            <a:avLst/>
          </a:prstGeom>
        </p:spPr>
      </p:pic>
      <p:sp>
        <p:nvSpPr>
          <p:cNvPr id="8" name="向下箭號圖說文字 7"/>
          <p:cNvSpPr/>
          <p:nvPr/>
        </p:nvSpPr>
        <p:spPr>
          <a:xfrm>
            <a:off x="158445" y="2896724"/>
            <a:ext cx="4969068" cy="1093508"/>
          </a:xfrm>
          <a:prstGeom prst="downArrowCallout">
            <a:avLst>
              <a:gd name="adj1" fmla="val 12604"/>
              <a:gd name="adj2" fmla="val 25000"/>
              <a:gd name="adj3" fmla="val 36340"/>
              <a:gd name="adj4" fmla="val 54698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申購項目若為固定支出，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須點選固定支出項目由系統帶出資料</a:t>
            </a: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6084" y="4522233"/>
            <a:ext cx="6024703" cy="1841273"/>
          </a:xfrm>
          <a:prstGeom prst="rect">
            <a:avLst/>
          </a:prstGeom>
        </p:spPr>
      </p:pic>
      <p:sp>
        <p:nvSpPr>
          <p:cNvPr id="10" name="向右箭號 9"/>
          <p:cNvSpPr/>
          <p:nvPr/>
        </p:nvSpPr>
        <p:spPr>
          <a:xfrm>
            <a:off x="5330065" y="5307174"/>
            <a:ext cx="412800" cy="484632"/>
          </a:xfrm>
          <a:prstGeom prst="rightArrow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向上箭號圖說文字 10"/>
          <p:cNvSpPr/>
          <p:nvPr/>
        </p:nvSpPr>
        <p:spPr>
          <a:xfrm>
            <a:off x="5956085" y="3528929"/>
            <a:ext cx="6022112" cy="993304"/>
          </a:xfrm>
          <a:prstGeom prst="up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單價依照實際金額更改，確認內容無誤後點選送出申請，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並送出憑證核銷</a:t>
            </a: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3983" y="1063314"/>
            <a:ext cx="5246383" cy="2465615"/>
          </a:xfrm>
          <a:prstGeom prst="rect">
            <a:avLst/>
          </a:prstGeom>
        </p:spPr>
      </p:pic>
      <p:sp>
        <p:nvSpPr>
          <p:cNvPr id="13" name="橢圓 12">
            <a:extLst>
              <a:ext uri="{FF2B5EF4-FFF2-40B4-BE49-F238E27FC236}">
                <a16:creationId xmlns:a16="http://schemas.microsoft.com/office/drawing/2014/main" id="{8BBE5B18-A1A2-C78C-449F-5E24177030BF}"/>
              </a:ext>
            </a:extLst>
          </p:cNvPr>
          <p:cNvSpPr/>
          <p:nvPr/>
        </p:nvSpPr>
        <p:spPr>
          <a:xfrm>
            <a:off x="10826172" y="70010"/>
            <a:ext cx="1208387" cy="1090692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4" name="圖形 16" descr="長波浪髮型的女子">
            <a:extLst>
              <a:ext uri="{FF2B5EF4-FFF2-40B4-BE49-F238E27FC236}">
                <a16:creationId xmlns:a16="http://schemas.microsoft.com/office/drawing/2014/main" id="{AC9F717B-5B39-5381-EFAC-67FB1E70DDF8}"/>
              </a:ext>
            </a:extLst>
          </p:cNvPr>
          <p:cNvGrpSpPr/>
          <p:nvPr/>
        </p:nvGrpSpPr>
        <p:grpSpPr>
          <a:xfrm rot="400818" flipH="1">
            <a:off x="11058482" y="204630"/>
            <a:ext cx="807743" cy="856927"/>
            <a:chOff x="10656614" y="1349483"/>
            <a:chExt cx="1099282" cy="1197076"/>
          </a:xfrm>
        </p:grpSpPr>
        <p:sp>
          <p:nvSpPr>
            <p:cNvPr id="15" name="手繪多邊形: 圖案 15">
              <a:extLst>
                <a:ext uri="{FF2B5EF4-FFF2-40B4-BE49-F238E27FC236}">
                  <a16:creationId xmlns:a16="http://schemas.microsoft.com/office/drawing/2014/main" id="{3A3456B2-C6DC-3CB8-1531-77EDEF90B32D}"/>
                </a:ext>
              </a:extLst>
            </p:cNvPr>
            <p:cNvSpPr/>
            <p:nvPr/>
          </p:nvSpPr>
          <p:spPr>
            <a:xfrm>
              <a:off x="10868735" y="1487002"/>
              <a:ext cx="839859" cy="877870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16" name="圖形 16" descr="長波浪髮型的女子">
              <a:extLst>
                <a:ext uri="{FF2B5EF4-FFF2-40B4-BE49-F238E27FC236}">
                  <a16:creationId xmlns:a16="http://schemas.microsoft.com/office/drawing/2014/main" id="{6E211EB6-B48D-826E-7C9B-1A12A39D9415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17" name="手繪多邊形: 圖案 17">
                <a:extLst>
                  <a:ext uri="{FF2B5EF4-FFF2-40B4-BE49-F238E27FC236}">
                    <a16:creationId xmlns:a16="http://schemas.microsoft.com/office/drawing/2014/main" id="{A6177360-0E12-5815-9DD7-562457343B4F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 dirty="0"/>
              </a:p>
            </p:txBody>
          </p:sp>
          <p:sp>
            <p:nvSpPr>
              <p:cNvPr id="18" name="手繪多邊形: 圖案 18">
                <a:extLst>
                  <a:ext uri="{FF2B5EF4-FFF2-40B4-BE49-F238E27FC236}">
                    <a16:creationId xmlns:a16="http://schemas.microsoft.com/office/drawing/2014/main" id="{F567FCB2-4664-DA18-3F2D-0195A167CCF5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19" name="圖形 21" descr="笑臉">
            <a:extLst>
              <a:ext uri="{FF2B5EF4-FFF2-40B4-BE49-F238E27FC236}">
                <a16:creationId xmlns:a16="http://schemas.microsoft.com/office/drawing/2014/main" id="{B11429A0-FD83-28EA-24CC-F7BB72CFD56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737482" flipH="1">
            <a:off x="11133293" y="429307"/>
            <a:ext cx="433226" cy="44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873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3A455C29-3F16-0D7E-E990-8768625A9939}"/>
              </a:ext>
            </a:extLst>
          </p:cNvPr>
          <p:cNvSpPr/>
          <p:nvPr/>
        </p:nvSpPr>
        <p:spPr>
          <a:xfrm>
            <a:off x="0" y="0"/>
            <a:ext cx="5646657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B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Y</a:t>
            </a:r>
            <a:r>
              <a:rPr lang="zh-TW" altLang="en-US" sz="2800" b="1" dirty="0"/>
              <a:t> 申 購 單 </a:t>
            </a:r>
            <a:r>
              <a:rPr lang="en-US" altLang="zh-TW" sz="2800" b="1" dirty="0"/>
              <a:t>–</a:t>
            </a:r>
            <a:r>
              <a:rPr lang="zh-TW" altLang="en-US" sz="2800" b="1" dirty="0"/>
              <a:t> 範 例 ： 兼 職 所 得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744" y="1319496"/>
            <a:ext cx="7767478" cy="3451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向下箭號圖說文字 4"/>
          <p:cNvSpPr/>
          <p:nvPr/>
        </p:nvSpPr>
        <p:spPr>
          <a:xfrm>
            <a:off x="4049266" y="2744453"/>
            <a:ext cx="3318236" cy="1047842"/>
          </a:xfrm>
          <a:prstGeom prst="downArrowCallout">
            <a:avLst>
              <a:gd name="adj1" fmla="val 25000"/>
              <a:gd name="adj2" fmla="val 25000"/>
              <a:gd name="adj3" fmla="val 21401"/>
              <a:gd name="adj4" fmla="val 69938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若有代墊出席費，須將</a:t>
            </a:r>
            <a:endParaRPr lang="en-US" altLang="zh-TW" b="1" dirty="0">
              <a:solidFill>
                <a:schemeClr val="tx2"/>
              </a:solidFill>
            </a:endParaRPr>
          </a:p>
          <a:p>
            <a:r>
              <a:rPr lang="zh-TW" altLang="en-US" b="1" dirty="0">
                <a:solidFill>
                  <a:srgbClr val="FF0000"/>
                </a:solidFill>
              </a:rPr>
              <a:t>申報所得</a:t>
            </a:r>
            <a:r>
              <a:rPr lang="zh-TW" altLang="en-US" b="1" dirty="0">
                <a:solidFill>
                  <a:schemeClr val="tx2"/>
                </a:solidFill>
              </a:rPr>
              <a:t>及</a:t>
            </a:r>
            <a:r>
              <a:rPr lang="zh-TW" altLang="en-US" b="1" dirty="0">
                <a:solidFill>
                  <a:srgbClr val="FF0000"/>
                </a:solidFill>
              </a:rPr>
              <a:t>非所得</a:t>
            </a:r>
            <a:r>
              <a:rPr lang="zh-TW" altLang="en-US" b="1" dirty="0">
                <a:solidFill>
                  <a:schemeClr val="tx2"/>
                </a:solidFill>
              </a:rPr>
              <a:t>分項次填寫。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2988297" y="5137608"/>
            <a:ext cx="7509482" cy="83898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b="1" dirty="0">
                <a:solidFill>
                  <a:schemeClr val="tx2"/>
                </a:solidFill>
              </a:rPr>
              <a:t>1.</a:t>
            </a:r>
            <a:r>
              <a:rPr lang="zh-TW" altLang="en-US" b="1" dirty="0">
                <a:solidFill>
                  <a:schemeClr val="tx2"/>
                </a:solidFill>
              </a:rPr>
              <a:t> 填單若遇到</a:t>
            </a:r>
            <a:r>
              <a:rPr lang="zh-TW" altLang="en-US" b="1" dirty="0">
                <a:solidFill>
                  <a:srgbClr val="FF0000"/>
                </a:solidFill>
              </a:rPr>
              <a:t>非系統</a:t>
            </a:r>
            <a:r>
              <a:rPr lang="zh-TW" altLang="en-US" b="1" dirty="0">
                <a:solidFill>
                  <a:schemeClr val="tx2"/>
                </a:solidFill>
              </a:rPr>
              <a:t>問題，可詢問專案</a:t>
            </a:r>
            <a:r>
              <a:rPr lang="en-US" altLang="zh-TW" b="1" dirty="0">
                <a:solidFill>
                  <a:schemeClr val="tx2"/>
                </a:solidFill>
              </a:rPr>
              <a:t>AC</a:t>
            </a:r>
            <a:r>
              <a:rPr lang="zh-TW" altLang="en-US" b="1" dirty="0">
                <a:solidFill>
                  <a:schemeClr val="tx2"/>
                </a:solidFill>
              </a:rPr>
              <a:t>唷！例如：內容填寫、選項等。</a:t>
            </a:r>
            <a:endParaRPr lang="en-US" altLang="zh-TW" b="1" dirty="0">
              <a:solidFill>
                <a:schemeClr val="tx2"/>
              </a:solidFill>
            </a:endParaRPr>
          </a:p>
          <a:p>
            <a:r>
              <a:rPr lang="en-US" altLang="zh-TW" b="1" dirty="0">
                <a:solidFill>
                  <a:schemeClr val="tx2"/>
                </a:solidFill>
              </a:rPr>
              <a:t>2.</a:t>
            </a:r>
            <a:r>
              <a:rPr lang="zh-TW" altLang="en-US" b="1" dirty="0">
                <a:solidFill>
                  <a:schemeClr val="tx2"/>
                </a:solidFill>
              </a:rPr>
              <a:t> </a:t>
            </a:r>
            <a:r>
              <a:rPr lang="zh-TW" altLang="en-US" b="1" dirty="0">
                <a:solidFill>
                  <a:srgbClr val="FF0000"/>
                </a:solidFill>
              </a:rPr>
              <a:t>罰單</a:t>
            </a:r>
            <a:r>
              <a:rPr lang="zh-TW" altLang="en-US" b="1" dirty="0">
                <a:solidFill>
                  <a:schemeClr val="tx2"/>
                </a:solidFill>
              </a:rPr>
              <a:t>不能申請費用。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8BBE5B18-A1A2-C78C-449F-5E24177030BF}"/>
              </a:ext>
            </a:extLst>
          </p:cNvPr>
          <p:cNvSpPr/>
          <p:nvPr/>
        </p:nvSpPr>
        <p:spPr>
          <a:xfrm>
            <a:off x="10240144" y="4384741"/>
            <a:ext cx="1208387" cy="1090692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8" name="圖形 16" descr="長波浪髮型的女子">
            <a:extLst>
              <a:ext uri="{FF2B5EF4-FFF2-40B4-BE49-F238E27FC236}">
                <a16:creationId xmlns:a16="http://schemas.microsoft.com/office/drawing/2014/main" id="{AC9F717B-5B39-5381-EFAC-67FB1E70DDF8}"/>
              </a:ext>
            </a:extLst>
          </p:cNvPr>
          <p:cNvGrpSpPr/>
          <p:nvPr/>
        </p:nvGrpSpPr>
        <p:grpSpPr>
          <a:xfrm rot="400818" flipH="1">
            <a:off x="10473860" y="4483003"/>
            <a:ext cx="807743" cy="856927"/>
            <a:chOff x="10656614" y="1349483"/>
            <a:chExt cx="1099282" cy="1197076"/>
          </a:xfrm>
        </p:grpSpPr>
        <p:sp>
          <p:nvSpPr>
            <p:cNvPr id="9" name="手繪多邊形: 圖案 15">
              <a:extLst>
                <a:ext uri="{FF2B5EF4-FFF2-40B4-BE49-F238E27FC236}">
                  <a16:creationId xmlns:a16="http://schemas.microsoft.com/office/drawing/2014/main" id="{3A3456B2-C6DC-3CB8-1531-77EDEF90B32D}"/>
                </a:ext>
              </a:extLst>
            </p:cNvPr>
            <p:cNvSpPr/>
            <p:nvPr/>
          </p:nvSpPr>
          <p:spPr>
            <a:xfrm>
              <a:off x="10868735" y="1487002"/>
              <a:ext cx="839859" cy="877870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10" name="圖形 16" descr="長波浪髮型的女子">
              <a:extLst>
                <a:ext uri="{FF2B5EF4-FFF2-40B4-BE49-F238E27FC236}">
                  <a16:creationId xmlns:a16="http://schemas.microsoft.com/office/drawing/2014/main" id="{6E211EB6-B48D-826E-7C9B-1A12A39D9415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11" name="手繪多邊形: 圖案 17">
                <a:extLst>
                  <a:ext uri="{FF2B5EF4-FFF2-40B4-BE49-F238E27FC236}">
                    <a16:creationId xmlns:a16="http://schemas.microsoft.com/office/drawing/2014/main" id="{A6177360-0E12-5815-9DD7-562457343B4F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 dirty="0"/>
              </a:p>
            </p:txBody>
          </p:sp>
          <p:sp>
            <p:nvSpPr>
              <p:cNvPr id="12" name="手繪多邊形: 圖案 18">
                <a:extLst>
                  <a:ext uri="{FF2B5EF4-FFF2-40B4-BE49-F238E27FC236}">
                    <a16:creationId xmlns:a16="http://schemas.microsoft.com/office/drawing/2014/main" id="{F567FCB2-4664-DA18-3F2D-0195A167CCF5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13" name="圖形 21" descr="笑臉">
            <a:extLst>
              <a:ext uri="{FF2B5EF4-FFF2-40B4-BE49-F238E27FC236}">
                <a16:creationId xmlns:a16="http://schemas.microsoft.com/office/drawing/2014/main" id="{B11429A0-FD83-28EA-24CC-F7BB72CFD5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37482" flipH="1">
            <a:off x="10501916" y="4730019"/>
            <a:ext cx="433226" cy="44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7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28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F1E1FF3-456F-CC56-4DD1-5F4D0B0FF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350439"/>
              </p:ext>
            </p:extLst>
          </p:nvPr>
        </p:nvGraphicFramePr>
        <p:xfrm>
          <a:off x="723187" y="1326390"/>
          <a:ext cx="10495798" cy="4916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0546">
                  <a:extLst>
                    <a:ext uri="{9D8B030D-6E8A-4147-A177-3AD203B41FA5}">
                      <a16:colId xmlns:a16="http://schemas.microsoft.com/office/drawing/2014/main" val="804832022"/>
                    </a:ext>
                  </a:extLst>
                </a:gridCol>
                <a:gridCol w="6735252">
                  <a:extLst>
                    <a:ext uri="{9D8B030D-6E8A-4147-A177-3AD203B41FA5}">
                      <a16:colId xmlns:a16="http://schemas.microsoft.com/office/drawing/2014/main" val="714413452"/>
                    </a:ext>
                  </a:extLst>
                </a:gridCol>
              </a:tblGrid>
              <a:tr h="53502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/>
                        <a:t>支出項目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/>
                        <a:t>檢附文件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40233"/>
                  </a:ext>
                </a:extLst>
              </a:tr>
              <a:tr h="542746"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會議及教育訓練便當</a:t>
                      </a:r>
                      <a:r>
                        <a:rPr lang="en-US" altLang="zh-TW" sz="1800" dirty="0"/>
                        <a:t>/</a:t>
                      </a:r>
                      <a:r>
                        <a:rPr lang="zh-TW" altLang="en-US" sz="1800" dirty="0"/>
                        <a:t>飲料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提供憑證</a:t>
                      </a:r>
                      <a:r>
                        <a:rPr lang="en-US" altLang="zh-TW" sz="1800" dirty="0"/>
                        <a:t>+</a:t>
                      </a:r>
                      <a:r>
                        <a:rPr lang="zh-TW" altLang="en-US" sz="1800" dirty="0"/>
                        <a:t>簽到表</a:t>
                      </a:r>
                      <a:r>
                        <a:rPr lang="en-US" altLang="zh-TW" sz="1800" dirty="0"/>
                        <a:t>(</a:t>
                      </a:r>
                      <a:r>
                        <a:rPr lang="zh-TW" altLang="en-US" sz="1800" dirty="0"/>
                        <a:t>簽到人數</a:t>
                      </a:r>
                      <a:r>
                        <a:rPr lang="en-US" altLang="zh-TW" sz="1800" dirty="0"/>
                        <a:t>=</a:t>
                      </a:r>
                      <a:r>
                        <a:rPr lang="zh-TW" altLang="en-US" sz="1800" dirty="0"/>
                        <a:t>收據金額</a:t>
                      </a:r>
                      <a:r>
                        <a:rPr lang="en-US" altLang="zh-TW" sz="1800" dirty="0"/>
                        <a:t>/</a:t>
                      </a:r>
                      <a:r>
                        <a:rPr lang="zh-TW" altLang="en-US" sz="1800" dirty="0"/>
                        <a:t>每人餐費上限</a:t>
                      </a:r>
                      <a:r>
                        <a:rPr lang="en-US" altLang="zh-TW" sz="1800" dirty="0"/>
                        <a:t>)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023506"/>
                  </a:ext>
                </a:extLst>
              </a:tr>
              <a:tr h="535023"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講師費</a:t>
                      </a:r>
                      <a:r>
                        <a:rPr lang="en-US" altLang="zh-TW" sz="1800" dirty="0"/>
                        <a:t>(</a:t>
                      </a:r>
                      <a:r>
                        <a:rPr lang="zh-TW" altLang="en-US" sz="1800" dirty="0"/>
                        <a:t>給付標準請參考下頁</a:t>
                      </a:r>
                      <a:r>
                        <a:rPr lang="en-US" altLang="zh-TW" sz="1800" dirty="0"/>
                        <a:t>)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提供個人收據</a:t>
                      </a:r>
                      <a:r>
                        <a:rPr lang="en-US" altLang="zh-TW" sz="1800" dirty="0"/>
                        <a:t>+</a:t>
                      </a:r>
                      <a:r>
                        <a:rPr lang="zh-TW" altLang="en-US" sz="1800" dirty="0"/>
                        <a:t>授課時間表</a:t>
                      </a:r>
                      <a:r>
                        <a:rPr lang="en-US" altLang="zh-TW" sz="1800" dirty="0"/>
                        <a:t>+</a:t>
                      </a:r>
                      <a:r>
                        <a:rPr lang="zh-TW" altLang="en-US" sz="1800" dirty="0"/>
                        <a:t>簽到表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039919"/>
                  </a:ext>
                </a:extLst>
              </a:tr>
              <a:tr h="7613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/>
                        <a:t>出席費</a:t>
                      </a:r>
                      <a:r>
                        <a:rPr lang="en-US" altLang="zh-TW" sz="1800" dirty="0"/>
                        <a:t>(2,500</a:t>
                      </a:r>
                      <a:r>
                        <a:rPr lang="zh-TW" altLang="en-US" sz="1800" dirty="0"/>
                        <a:t>元為上限</a:t>
                      </a:r>
                      <a:r>
                        <a:rPr lang="en-US" altLang="zh-TW" sz="1800" dirty="0"/>
                        <a:t>)</a:t>
                      </a:r>
                      <a:br>
                        <a:rPr lang="en-US" altLang="zh-TW" sz="1800" dirty="0"/>
                      </a:br>
                      <a:r>
                        <a:rPr lang="zh-TW" altLang="en-US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資料來源：</a:t>
                      </a:r>
                      <a:r>
                        <a:rPr lang="zh-TW" altLang="en-US" sz="1200" b="0" i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行政院主計總處</a:t>
                      </a:r>
                      <a:endParaRPr lang="zh-TW" altLang="en-US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提供個人收據</a:t>
                      </a:r>
                      <a:r>
                        <a:rPr lang="en-US" altLang="zh-TW" sz="1800" dirty="0"/>
                        <a:t>+</a:t>
                      </a:r>
                      <a:r>
                        <a:rPr lang="zh-TW" altLang="en-US" sz="1800" dirty="0"/>
                        <a:t>簽到表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1541811"/>
                  </a:ext>
                </a:extLst>
              </a:tr>
              <a:tr h="535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/>
                        <a:t>審查費</a:t>
                      </a:r>
                      <a:r>
                        <a:rPr lang="en-US" altLang="zh-TW" sz="1800" dirty="0"/>
                        <a:t>(</a:t>
                      </a:r>
                      <a:r>
                        <a:rPr lang="zh-TW" altLang="en-US" sz="1800" dirty="0"/>
                        <a:t>給付標準請參考下頁</a:t>
                      </a:r>
                      <a:r>
                        <a:rPr lang="en-US" altLang="zh-TW" sz="1800" dirty="0"/>
                        <a:t>)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提供個人收據</a:t>
                      </a:r>
                      <a:r>
                        <a:rPr lang="en-US" altLang="zh-TW" sz="1800" dirty="0"/>
                        <a:t>+</a:t>
                      </a:r>
                      <a:r>
                        <a:rPr lang="zh-TW" altLang="en-US" sz="1800" dirty="0"/>
                        <a:t>審核文件</a:t>
                      </a:r>
                      <a:r>
                        <a:rPr lang="en-US" altLang="zh-TW" sz="1800" dirty="0"/>
                        <a:t>+</a:t>
                      </a:r>
                      <a:r>
                        <a:rPr lang="zh-TW" altLang="en-US" sz="1800" dirty="0"/>
                        <a:t>回覆意見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7433506"/>
                  </a:ext>
                </a:extLst>
              </a:tr>
              <a:tr h="535023"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活動主持人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/>
                        <a:t>提供個人收據</a:t>
                      </a:r>
                      <a:r>
                        <a:rPr lang="en-US" altLang="zh-TW" sz="1800" dirty="0"/>
                        <a:t>+</a:t>
                      </a:r>
                      <a:r>
                        <a:rPr lang="zh-TW" altLang="en-US" sz="1800" dirty="0"/>
                        <a:t>簽到表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325437"/>
                  </a:ext>
                </a:extLst>
              </a:tr>
              <a:tr h="587149"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機會中獎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提供個人收據</a:t>
                      </a:r>
                      <a:r>
                        <a:rPr lang="en-US" altLang="zh-TW" sz="1800" dirty="0"/>
                        <a:t>+</a:t>
                      </a:r>
                      <a:r>
                        <a:rPr lang="zh-TW" altLang="en-US" sz="1800" dirty="0"/>
                        <a:t>機會中獎名單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0038099"/>
                  </a:ext>
                </a:extLst>
              </a:tr>
              <a:tr h="884783"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憑證金額</a:t>
                      </a:r>
                      <a:r>
                        <a:rPr lang="en-US" altLang="zh-TW" sz="1800" dirty="0"/>
                        <a:t>&gt;1</a:t>
                      </a:r>
                      <a:r>
                        <a:rPr lang="zh-TW" altLang="en-US" sz="1800" dirty="0"/>
                        <a:t>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提供憑證</a:t>
                      </a:r>
                      <a:r>
                        <a:rPr lang="en-US" altLang="zh-TW" sz="1800" dirty="0"/>
                        <a:t>+</a:t>
                      </a:r>
                      <a:r>
                        <a:rPr lang="zh-TW" altLang="en-US" sz="1800" dirty="0"/>
                        <a:t>報價單正本</a:t>
                      </a:r>
                      <a:r>
                        <a:rPr lang="en-US" altLang="zh-TW" sz="1800" dirty="0"/>
                        <a:t>(</a:t>
                      </a:r>
                      <a:r>
                        <a:rPr lang="zh-TW" altLang="en-US" sz="1800" dirty="0"/>
                        <a:t>報價單日期須在憑證日期之前</a:t>
                      </a:r>
                      <a:r>
                        <a:rPr lang="en-US" altLang="zh-TW" sz="1800" dirty="0"/>
                        <a:t>)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810983"/>
                  </a:ext>
                </a:extLst>
              </a:tr>
            </a:tbl>
          </a:graphicData>
        </a:graphic>
      </p:graphicFrame>
      <p:sp>
        <p:nvSpPr>
          <p:cNvPr id="6" name="箭號: 五邊形 2">
            <a:extLst>
              <a:ext uri="{FF2B5EF4-FFF2-40B4-BE49-F238E27FC236}">
                <a16:creationId xmlns:a16="http://schemas.microsoft.com/office/drawing/2014/main" id="{3A455C29-3F16-0D7E-E990-8768625A9939}"/>
              </a:ext>
            </a:extLst>
          </p:cNvPr>
          <p:cNvSpPr/>
          <p:nvPr/>
        </p:nvSpPr>
        <p:spPr>
          <a:xfrm>
            <a:off x="0" y="0"/>
            <a:ext cx="7148146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R</a:t>
            </a:r>
            <a:r>
              <a:rPr lang="zh-TW" altLang="en-US" sz="2800" b="1" dirty="0"/>
              <a:t> 預 支 單 </a:t>
            </a:r>
            <a:r>
              <a:rPr lang="en-US" altLang="zh-TW" sz="2800" b="1" dirty="0"/>
              <a:t>/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B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Y</a:t>
            </a:r>
            <a:r>
              <a:rPr lang="zh-TW" altLang="en-US" sz="2800" b="1" dirty="0"/>
              <a:t> 申 購 單 核 銷 檢 附 資 料</a:t>
            </a:r>
          </a:p>
        </p:txBody>
      </p:sp>
    </p:spTree>
    <p:extLst>
      <p:ext uri="{BB962C8B-B14F-4D97-AF65-F5344CB8AC3E}">
        <p14:creationId xmlns:p14="http://schemas.microsoft.com/office/powerpoint/2010/main" val="41973844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29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383176" y="872158"/>
            <a:ext cx="5390607" cy="5417744"/>
          </a:xfrm>
        </p:spPr>
        <p:txBody>
          <a:bodyPr/>
          <a:lstStyle/>
          <a:p>
            <a:r>
              <a:rPr lang="zh-TW" altLang="en-US" sz="1800" dirty="0">
                <a:solidFill>
                  <a:schemeClr val="tx2"/>
                </a:solidFill>
              </a:rPr>
              <a:t>講座鐘點費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half" idx="2"/>
          </p:nvPr>
        </p:nvSpPr>
        <p:spPr>
          <a:xfrm>
            <a:off x="5886993" y="863542"/>
            <a:ext cx="5806439" cy="5417745"/>
          </a:xfrm>
        </p:spPr>
        <p:txBody>
          <a:bodyPr/>
          <a:lstStyle/>
          <a:p>
            <a:r>
              <a:rPr lang="zh-TW" altLang="en-US" sz="1800" dirty="0">
                <a:solidFill>
                  <a:schemeClr val="tx2"/>
                </a:solidFill>
              </a:rPr>
              <a:t>審查費</a:t>
            </a:r>
            <a:endParaRPr lang="en-US" altLang="zh-TW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893" y="1205350"/>
            <a:ext cx="3380132" cy="5249278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1209383" y="6495911"/>
            <a:ext cx="50130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/>
              <a:t>(</a:t>
            </a:r>
            <a:r>
              <a:rPr lang="zh-TW" altLang="en-US" sz="1050" dirty="0"/>
              <a:t>資料來源：行政院人事行政總處</a:t>
            </a:r>
            <a:r>
              <a:rPr lang="en-US" altLang="zh-TW" sz="1050" dirty="0"/>
              <a:t>)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6344865" y="6495911"/>
            <a:ext cx="50130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50" dirty="0"/>
              <a:t>          </a:t>
            </a:r>
            <a:r>
              <a:rPr lang="en-US" altLang="zh-TW" sz="1050" dirty="0"/>
              <a:t>(</a:t>
            </a:r>
            <a:r>
              <a:rPr lang="zh-TW" altLang="en-US" sz="1050" dirty="0"/>
              <a:t>資料來源：中央政府各機關學校出席費及稿費支給要點</a:t>
            </a:r>
            <a:r>
              <a:rPr lang="en-US" altLang="zh-TW" sz="1050" dirty="0"/>
              <a:t>111.12.20)</a:t>
            </a: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489" y="1159630"/>
            <a:ext cx="4171448" cy="5340718"/>
          </a:xfrm>
          <a:prstGeom prst="rect">
            <a:avLst/>
          </a:prstGeom>
        </p:spPr>
      </p:pic>
      <p:sp>
        <p:nvSpPr>
          <p:cNvPr id="10" name="箭號: 五邊形 2">
            <a:extLst>
              <a:ext uri="{FF2B5EF4-FFF2-40B4-BE49-F238E27FC236}">
                <a16:creationId xmlns:a16="http://schemas.microsoft.com/office/drawing/2014/main" id="{3A455C29-3F16-0D7E-E990-8768625A9939}"/>
              </a:ext>
            </a:extLst>
          </p:cNvPr>
          <p:cNvSpPr/>
          <p:nvPr/>
        </p:nvSpPr>
        <p:spPr>
          <a:xfrm>
            <a:off x="0" y="0"/>
            <a:ext cx="7148146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R</a:t>
            </a:r>
            <a:r>
              <a:rPr lang="zh-TW" altLang="en-US" sz="2800" b="1" dirty="0"/>
              <a:t> 預 支 單 </a:t>
            </a:r>
            <a:r>
              <a:rPr lang="en-US" altLang="zh-TW" sz="2800" b="1" dirty="0"/>
              <a:t>/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B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Y</a:t>
            </a:r>
            <a:r>
              <a:rPr lang="zh-TW" altLang="en-US" sz="2800" b="1" dirty="0"/>
              <a:t> 申 購 單 核 銷 給 付 標 準</a:t>
            </a:r>
          </a:p>
        </p:txBody>
      </p:sp>
    </p:spTree>
    <p:extLst>
      <p:ext uri="{BB962C8B-B14F-4D97-AF65-F5344CB8AC3E}">
        <p14:creationId xmlns:p14="http://schemas.microsoft.com/office/powerpoint/2010/main" val="401395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圓角矩形 14"/>
          <p:cNvSpPr/>
          <p:nvPr/>
        </p:nvSpPr>
        <p:spPr>
          <a:xfrm>
            <a:off x="5899638" y="417069"/>
            <a:ext cx="4332138" cy="78491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付款對象必須要有建檔才能選的到資料。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30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481533"/>
              </p:ext>
            </p:extLst>
          </p:nvPr>
        </p:nvGraphicFramePr>
        <p:xfrm>
          <a:off x="626334" y="1400928"/>
          <a:ext cx="11043836" cy="4979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466">
                  <a:extLst>
                    <a:ext uri="{9D8B030D-6E8A-4147-A177-3AD203B41FA5}">
                      <a16:colId xmlns:a16="http://schemas.microsoft.com/office/drawing/2014/main" val="3257943913"/>
                    </a:ext>
                  </a:extLst>
                </a:gridCol>
                <a:gridCol w="2044700">
                  <a:extLst>
                    <a:ext uri="{9D8B030D-6E8A-4147-A177-3AD203B41FA5}">
                      <a16:colId xmlns:a16="http://schemas.microsoft.com/office/drawing/2014/main" val="3905306196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3265084782"/>
                    </a:ext>
                  </a:extLst>
                </a:gridCol>
                <a:gridCol w="3631070">
                  <a:extLst>
                    <a:ext uri="{9D8B030D-6E8A-4147-A177-3AD203B41FA5}">
                      <a16:colId xmlns:a16="http://schemas.microsoft.com/office/drawing/2014/main" val="979558054"/>
                    </a:ext>
                  </a:extLst>
                </a:gridCol>
              </a:tblGrid>
              <a:tr h="49790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文件名稱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使用時機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文件路徑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流程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264212"/>
                  </a:ext>
                </a:extLst>
              </a:tr>
              <a:tr h="149371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廠商基本</a:t>
                      </a:r>
                      <a:endParaRPr lang="en-US" altLang="zh-TW" sz="1800" b="0" i="0" u="none" strike="noStrike" kern="1200" dirty="0">
                        <a:solidFill>
                          <a:schemeClr val="tx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資料調查表</a:t>
                      </a:r>
                      <a:endParaRPr lang="zh-TW" altLang="en-US" sz="1800" b="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dirty="0">
                          <a:solidFill>
                            <a:schemeClr val="tx2"/>
                          </a:solidFill>
                        </a:rPr>
                        <a:t>從未在中心</a:t>
                      </a:r>
                      <a:endParaRPr lang="en-US" altLang="zh-TW" sz="1800" b="0" dirty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r>
                        <a:rPr lang="zh-TW" altLang="en-US" sz="1800" b="0" dirty="0">
                          <a:solidFill>
                            <a:schemeClr val="tx2"/>
                          </a:solidFill>
                        </a:rPr>
                        <a:t>建檔的廠商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tx2"/>
                          </a:solidFill>
                        </a:rPr>
                        <a:t>文件中心→通用文件→行政綜合→個人</a:t>
                      </a:r>
                      <a:r>
                        <a:rPr lang="en-US" altLang="zh-TW" sz="1800" b="0" dirty="0">
                          <a:solidFill>
                            <a:schemeClr val="tx2"/>
                          </a:solidFill>
                        </a:rPr>
                        <a:t>-</a:t>
                      </a:r>
                      <a:r>
                        <a:rPr lang="zh-TW" altLang="en-US" sz="1800" b="0" dirty="0">
                          <a:solidFill>
                            <a:schemeClr val="tx2"/>
                          </a:solidFill>
                        </a:rPr>
                        <a:t>廠商</a:t>
                      </a:r>
                      <a:r>
                        <a:rPr lang="en-US" altLang="zh-TW" sz="1800" b="0" dirty="0">
                          <a:solidFill>
                            <a:schemeClr val="tx2"/>
                          </a:solidFill>
                        </a:rPr>
                        <a:t>-</a:t>
                      </a:r>
                      <a:r>
                        <a:rPr lang="zh-TW" altLang="en-US" sz="1800" b="0" dirty="0">
                          <a:solidFill>
                            <a:schemeClr val="tx2"/>
                          </a:solidFill>
                        </a:rPr>
                        <a:t>客戶基本資料表</a:t>
                      </a:r>
                      <a:r>
                        <a:rPr lang="en-US" altLang="zh-TW" sz="1800" b="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zh-TW" altLang="en-US" sz="1800" b="0" dirty="0">
                          <a:solidFill>
                            <a:schemeClr val="tx2"/>
                          </a:solidFill>
                        </a:rPr>
                        <a:t>中心、公司</a:t>
                      </a:r>
                      <a:r>
                        <a:rPr lang="en-US" altLang="zh-TW" sz="1800" b="0" dirty="0">
                          <a:solidFill>
                            <a:schemeClr val="tx2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b="0" dirty="0">
                          <a:solidFill>
                            <a:schemeClr val="tx2"/>
                          </a:solidFill>
                        </a:rPr>
                        <a:t>給廠商填廠商基本資料調查表→提供文件及相關資料</a:t>
                      </a:r>
                      <a:r>
                        <a:rPr lang="en-US" altLang="zh-TW" sz="1800" b="0" dirty="0">
                          <a:solidFill>
                            <a:schemeClr val="tx2"/>
                          </a:solidFill>
                        </a:rPr>
                        <a:t>mail</a:t>
                      </a:r>
                      <a:r>
                        <a:rPr lang="zh-TW" altLang="en-US" sz="1800" b="0" dirty="0">
                          <a:solidFill>
                            <a:schemeClr val="tx2"/>
                          </a:solidFill>
                        </a:rPr>
                        <a:t>給</a:t>
                      </a:r>
                      <a:r>
                        <a:rPr lang="zh-TW" altLang="zh-TW" sz="1800" b="0" u="sng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總務副理王伊夌</a:t>
                      </a:r>
                      <a:r>
                        <a:rPr lang="zh-TW" altLang="en-US" sz="1800" b="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建</a:t>
                      </a:r>
                      <a:r>
                        <a:rPr lang="zh-TW" altLang="en-US" sz="1800" b="0" dirty="0">
                          <a:solidFill>
                            <a:schemeClr val="tx2"/>
                          </a:solidFill>
                        </a:rPr>
                        <a:t>檔→完成→</a:t>
                      </a:r>
                      <a:r>
                        <a:rPr lang="zh-TW" altLang="en-US" sz="1800" b="1" dirty="0">
                          <a:solidFill>
                            <a:schemeClr val="tx2"/>
                          </a:solidFill>
                        </a:rPr>
                        <a:t>可於申購單選到付款對象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7478482"/>
                  </a:ext>
                </a:extLst>
              </a:tr>
              <a:tr h="149371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solidFill>
                            <a:schemeClr val="tx2"/>
                          </a:solidFill>
                        </a:rPr>
                        <a:t>個人資料表</a:t>
                      </a:r>
                      <a:r>
                        <a:rPr lang="en-US" altLang="zh-TW" sz="1800" dirty="0">
                          <a:solidFill>
                            <a:schemeClr val="tx2"/>
                          </a:solidFill>
                        </a:rPr>
                        <a:t>-</a:t>
                      </a:r>
                    </a:p>
                    <a:p>
                      <a:pPr algn="ctr"/>
                      <a:r>
                        <a:rPr lang="zh-TW" altLang="en-US" sz="1800" dirty="0">
                          <a:solidFill>
                            <a:schemeClr val="tx2"/>
                          </a:solidFill>
                        </a:rPr>
                        <a:t>委外人事費專用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tx2"/>
                          </a:solidFill>
                        </a:rPr>
                        <a:t>從未在中心建檔的外部人士匯款資料</a:t>
                      </a:r>
                      <a:endParaRPr lang="zh-TW" altLang="en-US" sz="18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tx2"/>
                          </a:solidFill>
                        </a:rPr>
                        <a:t>文件中心→通用文件→行政綜合→</a:t>
                      </a:r>
                      <a:r>
                        <a:rPr lang="zh-TW" altLang="en-US" sz="1800" dirty="0">
                          <a:solidFill>
                            <a:schemeClr val="tx2"/>
                          </a:solidFill>
                        </a:rPr>
                        <a:t>個人資料表</a:t>
                      </a:r>
                      <a:r>
                        <a:rPr lang="en-US" altLang="zh-TW" sz="1800" dirty="0">
                          <a:solidFill>
                            <a:schemeClr val="tx2"/>
                          </a:solidFill>
                        </a:rPr>
                        <a:t>-</a:t>
                      </a:r>
                      <a:r>
                        <a:rPr lang="zh-TW" altLang="en-US" sz="1800" dirty="0">
                          <a:solidFill>
                            <a:schemeClr val="tx2"/>
                          </a:solidFill>
                        </a:rPr>
                        <a:t>委外人事費專用</a:t>
                      </a:r>
                      <a:r>
                        <a:rPr lang="en-US" altLang="zh-TW" sz="1800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zh-TW" altLang="en-US" sz="1800" dirty="0">
                          <a:solidFill>
                            <a:schemeClr val="tx2"/>
                          </a:solidFill>
                        </a:rPr>
                        <a:t>公司、中心</a:t>
                      </a:r>
                      <a:r>
                        <a:rPr lang="en-US" altLang="zh-TW" sz="1800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zh-TW" altLang="en-US" sz="18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tx2"/>
                          </a:solidFill>
                        </a:rPr>
                        <a:t>給外部人士填</a:t>
                      </a:r>
                      <a:r>
                        <a:rPr lang="zh-TW" altLang="en-US" sz="1800" dirty="0">
                          <a:solidFill>
                            <a:schemeClr val="tx2"/>
                          </a:solidFill>
                        </a:rPr>
                        <a:t>個人資料表</a:t>
                      </a:r>
                      <a:r>
                        <a:rPr lang="en-US" altLang="zh-TW" sz="1800" dirty="0">
                          <a:solidFill>
                            <a:schemeClr val="tx2"/>
                          </a:solidFill>
                        </a:rPr>
                        <a:t>-</a:t>
                      </a:r>
                      <a:r>
                        <a:rPr lang="zh-TW" altLang="en-US" sz="1800" dirty="0">
                          <a:solidFill>
                            <a:schemeClr val="tx2"/>
                          </a:solidFill>
                        </a:rPr>
                        <a:t>委外人事費專用表</a:t>
                      </a:r>
                      <a:r>
                        <a:rPr lang="zh-TW" altLang="en-US" sz="1800" b="0" dirty="0">
                          <a:solidFill>
                            <a:schemeClr val="tx2"/>
                          </a:solidFill>
                        </a:rPr>
                        <a:t>→提供文件及相關資料</a:t>
                      </a:r>
                      <a:r>
                        <a:rPr lang="en-US" altLang="zh-TW" sz="1800" b="0" dirty="0">
                          <a:solidFill>
                            <a:schemeClr val="tx2"/>
                          </a:solidFill>
                        </a:rPr>
                        <a:t>mail</a:t>
                      </a:r>
                      <a:r>
                        <a:rPr lang="zh-TW" altLang="en-US" sz="1800" b="0" dirty="0">
                          <a:solidFill>
                            <a:schemeClr val="tx2"/>
                          </a:solidFill>
                        </a:rPr>
                        <a:t>給</a:t>
                      </a:r>
                      <a:r>
                        <a:rPr lang="zh-TW" altLang="zh-TW" sz="1800" b="0" u="sng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總務副理王伊夌</a:t>
                      </a:r>
                      <a:r>
                        <a:rPr lang="zh-TW" altLang="en-US" sz="1800" b="0" dirty="0">
                          <a:solidFill>
                            <a:schemeClr val="tx2"/>
                          </a:solidFill>
                        </a:rPr>
                        <a:t>建檔→完成→</a:t>
                      </a:r>
                      <a:r>
                        <a:rPr lang="zh-TW" altLang="en-US" sz="1800" b="1" i="0" dirty="0">
                          <a:solidFill>
                            <a:schemeClr val="tx2"/>
                          </a:solidFill>
                        </a:rPr>
                        <a:t>可於申購單選到付款對象</a:t>
                      </a:r>
                      <a:endParaRPr lang="en-US" altLang="zh-TW" sz="1800" b="1" i="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041328"/>
                  </a:ext>
                </a:extLst>
              </a:tr>
              <a:tr h="149371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solidFill>
                            <a:schemeClr val="tx2"/>
                          </a:solidFill>
                        </a:rPr>
                        <a:t>個人收據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>
                          <a:solidFill>
                            <a:schemeClr val="tx2"/>
                          </a:solidFill>
                        </a:rPr>
                        <a:t>個人無法提供發票或收據，只能報所得核銷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tx2"/>
                          </a:solidFill>
                        </a:rPr>
                        <a:t>文件中心→通用文件→行政綜合→</a:t>
                      </a:r>
                      <a:r>
                        <a:rPr lang="zh-TW" altLang="en-US" sz="1800" dirty="0">
                          <a:solidFill>
                            <a:schemeClr val="tx2"/>
                          </a:solidFill>
                        </a:rPr>
                        <a:t>個人收據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tx2"/>
                          </a:solidFill>
                        </a:rPr>
                        <a:t>先告知專案ＡＣ支付對方金額，判斷是否需代扣稅額等→確認收據內容後→提供給對方簽名→取得</a:t>
                      </a:r>
                      <a:r>
                        <a:rPr lang="zh-TW" altLang="en-US" sz="1800" b="1" dirty="0">
                          <a:solidFill>
                            <a:srgbClr val="FF0000"/>
                          </a:solidFill>
                        </a:rPr>
                        <a:t>正本</a:t>
                      </a:r>
                      <a:r>
                        <a:rPr lang="zh-TW" altLang="en-US" sz="1800" dirty="0">
                          <a:solidFill>
                            <a:schemeClr val="tx2"/>
                          </a:solidFill>
                        </a:rPr>
                        <a:t>核銷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6049461"/>
                  </a:ext>
                </a:extLst>
              </a:tr>
            </a:tbl>
          </a:graphicData>
        </a:graphic>
      </p:graphicFrame>
      <p:sp>
        <p:nvSpPr>
          <p:cNvPr id="6" name="箭號: 五邊形 2">
            <a:extLst>
              <a:ext uri="{FF2B5EF4-FFF2-40B4-BE49-F238E27FC236}">
                <a16:creationId xmlns:a16="http://schemas.microsoft.com/office/drawing/2014/main" id="{3A455C29-3F16-0D7E-E990-8768625A9939}"/>
              </a:ext>
            </a:extLst>
          </p:cNvPr>
          <p:cNvSpPr/>
          <p:nvPr/>
        </p:nvSpPr>
        <p:spPr>
          <a:xfrm>
            <a:off x="0" y="0"/>
            <a:ext cx="4123592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/>
              <a:t>申 購 相 關 文 件 路 徑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BBE5B18-A1A2-C78C-449F-5E24177030BF}"/>
              </a:ext>
            </a:extLst>
          </p:cNvPr>
          <p:cNvSpPr/>
          <p:nvPr/>
        </p:nvSpPr>
        <p:spPr>
          <a:xfrm>
            <a:off x="10110814" y="188928"/>
            <a:ext cx="1208387" cy="1090692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圖形 16" descr="長波浪髮型的女子">
            <a:extLst>
              <a:ext uri="{FF2B5EF4-FFF2-40B4-BE49-F238E27FC236}">
                <a16:creationId xmlns:a16="http://schemas.microsoft.com/office/drawing/2014/main" id="{AC9F717B-5B39-5381-EFAC-67FB1E70DDF8}"/>
              </a:ext>
            </a:extLst>
          </p:cNvPr>
          <p:cNvGrpSpPr/>
          <p:nvPr/>
        </p:nvGrpSpPr>
        <p:grpSpPr>
          <a:xfrm rot="400818" flipH="1">
            <a:off x="10337514" y="272459"/>
            <a:ext cx="807743" cy="856927"/>
            <a:chOff x="10656614" y="1349483"/>
            <a:chExt cx="1099282" cy="1197076"/>
          </a:xfrm>
        </p:grpSpPr>
        <p:sp>
          <p:nvSpPr>
            <p:cNvPr id="10" name="手繪多邊形: 圖案 15">
              <a:extLst>
                <a:ext uri="{FF2B5EF4-FFF2-40B4-BE49-F238E27FC236}">
                  <a16:creationId xmlns:a16="http://schemas.microsoft.com/office/drawing/2014/main" id="{3A3456B2-C6DC-3CB8-1531-77EDEF90B32D}"/>
                </a:ext>
              </a:extLst>
            </p:cNvPr>
            <p:cNvSpPr/>
            <p:nvPr/>
          </p:nvSpPr>
          <p:spPr>
            <a:xfrm>
              <a:off x="10868735" y="1487002"/>
              <a:ext cx="839859" cy="877870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11" name="圖形 16" descr="長波浪髮型的女子">
              <a:extLst>
                <a:ext uri="{FF2B5EF4-FFF2-40B4-BE49-F238E27FC236}">
                  <a16:creationId xmlns:a16="http://schemas.microsoft.com/office/drawing/2014/main" id="{6E211EB6-B48D-826E-7C9B-1A12A39D9415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12" name="手繪多邊形: 圖案 17">
                <a:extLst>
                  <a:ext uri="{FF2B5EF4-FFF2-40B4-BE49-F238E27FC236}">
                    <a16:creationId xmlns:a16="http://schemas.microsoft.com/office/drawing/2014/main" id="{A6177360-0E12-5815-9DD7-562457343B4F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 dirty="0"/>
              </a:p>
            </p:txBody>
          </p:sp>
          <p:sp>
            <p:nvSpPr>
              <p:cNvPr id="13" name="手繪多邊形: 圖案 18">
                <a:extLst>
                  <a:ext uri="{FF2B5EF4-FFF2-40B4-BE49-F238E27FC236}">
                    <a16:creationId xmlns:a16="http://schemas.microsoft.com/office/drawing/2014/main" id="{F567FCB2-4664-DA18-3F2D-0195A167CCF5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14" name="圖形 21" descr="笑臉">
            <a:extLst>
              <a:ext uri="{FF2B5EF4-FFF2-40B4-BE49-F238E27FC236}">
                <a16:creationId xmlns:a16="http://schemas.microsoft.com/office/drawing/2014/main" id="{B11429A0-FD83-28EA-24CC-F7BB72CFD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737482" flipH="1">
            <a:off x="10412325" y="497136"/>
            <a:ext cx="433226" cy="44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32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差 旅 單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31146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32</a:t>
            </a:fld>
            <a:endParaRPr lang="zh-TW" altLang="en-US"/>
          </a:p>
        </p:txBody>
      </p:sp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3A455C29-3F16-0D7E-E990-8768625A9939}"/>
              </a:ext>
            </a:extLst>
          </p:cNvPr>
          <p:cNvSpPr/>
          <p:nvPr/>
        </p:nvSpPr>
        <p:spPr>
          <a:xfrm>
            <a:off x="-1" y="0"/>
            <a:ext cx="4932486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T R </a:t>
            </a:r>
            <a:r>
              <a:rPr lang="zh-TW" altLang="en-US" sz="2800" b="1" dirty="0"/>
              <a:t>差 旅 單 </a:t>
            </a:r>
            <a:r>
              <a:rPr lang="en-US" altLang="zh-TW" sz="2800" b="1" dirty="0"/>
              <a:t>– </a:t>
            </a:r>
            <a:r>
              <a:rPr lang="zh-TW" altLang="en-US" sz="2800" b="1" dirty="0"/>
              <a:t>出 差 公 假 單 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97" y="970816"/>
            <a:ext cx="6402528" cy="2493352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00" r="26806" b="46047"/>
          <a:stretch/>
        </p:blipFill>
        <p:spPr>
          <a:xfrm>
            <a:off x="7710854" y="1348360"/>
            <a:ext cx="3485944" cy="2040018"/>
          </a:xfrm>
          <a:prstGeom prst="rect">
            <a:avLst/>
          </a:prstGeom>
        </p:spPr>
      </p:pic>
      <p:sp>
        <p:nvSpPr>
          <p:cNvPr id="7" name="向右箭號圖說文字 6"/>
          <p:cNvSpPr/>
          <p:nvPr/>
        </p:nvSpPr>
        <p:spPr>
          <a:xfrm>
            <a:off x="6639625" y="970816"/>
            <a:ext cx="914400" cy="2493352"/>
          </a:xfrm>
          <a:prstGeom prst="right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出差前要先請公假</a:t>
            </a: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18" y="3614023"/>
            <a:ext cx="5107410" cy="3109079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958" y="3619551"/>
            <a:ext cx="5106335" cy="310907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086069" y="3942399"/>
            <a:ext cx="474784" cy="1934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8433636" y="3974123"/>
            <a:ext cx="398584" cy="15826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向右箭號圖說文字 11"/>
          <p:cNvSpPr/>
          <p:nvPr/>
        </p:nvSpPr>
        <p:spPr>
          <a:xfrm>
            <a:off x="256114" y="3619551"/>
            <a:ext cx="914400" cy="3109079"/>
          </a:xfrm>
          <a:prstGeom prst="right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請完公假才能申請差旅單</a:t>
            </a:r>
          </a:p>
        </p:txBody>
      </p:sp>
      <p:sp>
        <p:nvSpPr>
          <p:cNvPr id="13" name="圓角矩形 12"/>
          <p:cNvSpPr/>
          <p:nvPr/>
        </p:nvSpPr>
        <p:spPr>
          <a:xfrm>
            <a:off x="4102760" y="4053254"/>
            <a:ext cx="1682363" cy="395654"/>
          </a:xfrm>
          <a:prstGeom prst="roundRec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依照公假單</a:t>
            </a:r>
          </a:p>
        </p:txBody>
      </p:sp>
      <p:sp>
        <p:nvSpPr>
          <p:cNvPr id="14" name="圓角矩形 13"/>
          <p:cNvSpPr/>
          <p:nvPr/>
        </p:nvSpPr>
        <p:spPr>
          <a:xfrm>
            <a:off x="10142261" y="4053254"/>
            <a:ext cx="1428054" cy="395654"/>
          </a:xfrm>
          <a:prstGeom prst="roundRec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依照專案</a:t>
            </a:r>
          </a:p>
        </p:txBody>
      </p:sp>
      <p:sp>
        <p:nvSpPr>
          <p:cNvPr id="15" name="圓角矩形 14"/>
          <p:cNvSpPr/>
          <p:nvPr/>
        </p:nvSpPr>
        <p:spPr>
          <a:xfrm>
            <a:off x="5059136" y="324270"/>
            <a:ext cx="5893520" cy="53254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若有共同出差人，須等共同出差人假單簽完才能選的到。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8BBE5B18-A1A2-C78C-449F-5E24177030BF}"/>
              </a:ext>
            </a:extLst>
          </p:cNvPr>
          <p:cNvSpPr/>
          <p:nvPr/>
        </p:nvSpPr>
        <p:spPr>
          <a:xfrm>
            <a:off x="10828134" y="43515"/>
            <a:ext cx="1208387" cy="1044475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7" name="圖形 16" descr="長波浪髮型的女子">
            <a:extLst>
              <a:ext uri="{FF2B5EF4-FFF2-40B4-BE49-F238E27FC236}">
                <a16:creationId xmlns:a16="http://schemas.microsoft.com/office/drawing/2014/main" id="{AC9F717B-5B39-5381-EFAC-67FB1E70DDF8}"/>
              </a:ext>
            </a:extLst>
          </p:cNvPr>
          <p:cNvGrpSpPr/>
          <p:nvPr/>
        </p:nvGrpSpPr>
        <p:grpSpPr>
          <a:xfrm rot="400818" flipH="1">
            <a:off x="11056945" y="127169"/>
            <a:ext cx="807743" cy="820615"/>
            <a:chOff x="10656614" y="1349483"/>
            <a:chExt cx="1099282" cy="1197076"/>
          </a:xfrm>
        </p:grpSpPr>
        <p:sp>
          <p:nvSpPr>
            <p:cNvPr id="18" name="手繪多邊形: 圖案 15">
              <a:extLst>
                <a:ext uri="{FF2B5EF4-FFF2-40B4-BE49-F238E27FC236}">
                  <a16:creationId xmlns:a16="http://schemas.microsoft.com/office/drawing/2014/main" id="{3A3456B2-C6DC-3CB8-1531-77EDEF90B32D}"/>
                </a:ext>
              </a:extLst>
            </p:cNvPr>
            <p:cNvSpPr/>
            <p:nvPr/>
          </p:nvSpPr>
          <p:spPr>
            <a:xfrm>
              <a:off x="10868735" y="1487002"/>
              <a:ext cx="839859" cy="877870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19" name="圖形 16" descr="長波浪髮型的女子">
              <a:extLst>
                <a:ext uri="{FF2B5EF4-FFF2-40B4-BE49-F238E27FC236}">
                  <a16:creationId xmlns:a16="http://schemas.microsoft.com/office/drawing/2014/main" id="{6E211EB6-B48D-826E-7C9B-1A12A39D9415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20" name="手繪多邊形: 圖案 17">
                <a:extLst>
                  <a:ext uri="{FF2B5EF4-FFF2-40B4-BE49-F238E27FC236}">
                    <a16:creationId xmlns:a16="http://schemas.microsoft.com/office/drawing/2014/main" id="{A6177360-0E12-5815-9DD7-562457343B4F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 dirty="0"/>
              </a:p>
            </p:txBody>
          </p:sp>
          <p:sp>
            <p:nvSpPr>
              <p:cNvPr id="21" name="手繪多邊形: 圖案 18">
                <a:extLst>
                  <a:ext uri="{FF2B5EF4-FFF2-40B4-BE49-F238E27FC236}">
                    <a16:creationId xmlns:a16="http://schemas.microsoft.com/office/drawing/2014/main" id="{F567FCB2-4664-DA18-3F2D-0195A167CCF5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22" name="圖形 21" descr="笑臉">
            <a:extLst>
              <a:ext uri="{FF2B5EF4-FFF2-40B4-BE49-F238E27FC236}">
                <a16:creationId xmlns:a16="http://schemas.microsoft.com/office/drawing/2014/main" id="{B11429A0-FD83-28EA-24CC-F7BB72CFD56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737482" flipH="1">
            <a:off x="11131667" y="351940"/>
            <a:ext cx="433226" cy="42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63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76" y="956481"/>
            <a:ext cx="7800975" cy="5772150"/>
          </a:xfrm>
          <a:prstGeom prst="rect">
            <a:avLst/>
          </a:prstGeom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33</a:t>
            </a:fld>
            <a:endParaRPr lang="zh-TW" altLang="en-US"/>
          </a:p>
        </p:txBody>
      </p:sp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3A455C29-3F16-0D7E-E990-8768625A9939}"/>
              </a:ext>
            </a:extLst>
          </p:cNvPr>
          <p:cNvSpPr/>
          <p:nvPr/>
        </p:nvSpPr>
        <p:spPr>
          <a:xfrm>
            <a:off x="-2" y="0"/>
            <a:ext cx="7418897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T R </a:t>
            </a:r>
            <a:r>
              <a:rPr lang="zh-TW" altLang="en-US" sz="2800" b="1" dirty="0"/>
              <a:t>差 旅 單 </a:t>
            </a:r>
            <a:r>
              <a:rPr lang="en-US" altLang="zh-TW" sz="2800" b="1" dirty="0"/>
              <a:t>– </a:t>
            </a:r>
            <a:r>
              <a:rPr lang="zh-TW" altLang="en-US" sz="2800" b="1" dirty="0"/>
              <a:t>表 單 介 紹 及 核 銷 檢 附 資 料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622628" y="5362165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配合限額規定「實報實銷」</a:t>
            </a:r>
          </a:p>
        </p:txBody>
      </p:sp>
      <p:sp>
        <p:nvSpPr>
          <p:cNvPr id="13" name="矩形 12"/>
          <p:cNvSpPr/>
          <p:nvPr/>
        </p:nvSpPr>
        <p:spPr>
          <a:xfrm>
            <a:off x="546755" y="5731497"/>
            <a:ext cx="7432396" cy="9971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向下箭號圖說文字 11"/>
          <p:cNvSpPr/>
          <p:nvPr/>
        </p:nvSpPr>
        <p:spPr>
          <a:xfrm>
            <a:off x="890654" y="4298624"/>
            <a:ext cx="6820471" cy="1432873"/>
          </a:xfrm>
          <a:prstGeom prst="downArrowCallout">
            <a:avLst>
              <a:gd name="adj1" fmla="val 6642"/>
              <a:gd name="adj2" fmla="val 12952"/>
              <a:gd name="adj3" fmla="val 14157"/>
              <a:gd name="adj4" fmla="val 6136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1875933" y="3981773"/>
            <a:ext cx="5948314" cy="264371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餐費超過限額、票根有「補發」字樣、其他費用說明等。</a:t>
            </a:r>
            <a:endParaRPr lang="zh-TW" altLang="en-US" dirty="0">
              <a:solidFill>
                <a:schemeClr val="tx2"/>
              </a:solidFill>
            </a:endParaRPr>
          </a:p>
        </p:txBody>
      </p:sp>
      <p:sp>
        <p:nvSpPr>
          <p:cNvPr id="16" name="圓角矩形 15"/>
          <p:cNvSpPr/>
          <p:nvPr/>
        </p:nvSpPr>
        <p:spPr>
          <a:xfrm>
            <a:off x="8212585" y="1854652"/>
            <a:ext cx="2729403" cy="74174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出差的公假單起單</a:t>
            </a:r>
            <a:r>
              <a:rPr lang="en-US" altLang="zh-TW" b="1" dirty="0">
                <a:solidFill>
                  <a:schemeClr val="tx2"/>
                </a:solidFill>
              </a:rPr>
              <a:t>30</a:t>
            </a:r>
            <a:r>
              <a:rPr lang="zh-TW" altLang="en-US" b="1" dirty="0">
                <a:solidFill>
                  <a:schemeClr val="tx2"/>
                </a:solidFill>
              </a:rPr>
              <a:t>天內必須申請完畢。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8BBE5B18-A1A2-C78C-449F-5E24177030BF}"/>
              </a:ext>
            </a:extLst>
          </p:cNvPr>
          <p:cNvSpPr/>
          <p:nvPr/>
        </p:nvSpPr>
        <p:spPr>
          <a:xfrm>
            <a:off x="10683504" y="1285195"/>
            <a:ext cx="1208387" cy="1044475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8" name="圖形 16" descr="長波浪髮型的女子">
            <a:extLst>
              <a:ext uri="{FF2B5EF4-FFF2-40B4-BE49-F238E27FC236}">
                <a16:creationId xmlns:a16="http://schemas.microsoft.com/office/drawing/2014/main" id="{AC9F717B-5B39-5381-EFAC-67FB1E70DDF8}"/>
              </a:ext>
            </a:extLst>
          </p:cNvPr>
          <p:cNvGrpSpPr/>
          <p:nvPr/>
        </p:nvGrpSpPr>
        <p:grpSpPr>
          <a:xfrm rot="400818" flipH="1">
            <a:off x="10906917" y="1332291"/>
            <a:ext cx="807743" cy="820615"/>
            <a:chOff x="10656614" y="1349483"/>
            <a:chExt cx="1099282" cy="1197076"/>
          </a:xfrm>
        </p:grpSpPr>
        <p:sp>
          <p:nvSpPr>
            <p:cNvPr id="19" name="手繪多邊形: 圖案 15">
              <a:extLst>
                <a:ext uri="{FF2B5EF4-FFF2-40B4-BE49-F238E27FC236}">
                  <a16:creationId xmlns:a16="http://schemas.microsoft.com/office/drawing/2014/main" id="{3A3456B2-C6DC-3CB8-1531-77EDEF90B32D}"/>
                </a:ext>
              </a:extLst>
            </p:cNvPr>
            <p:cNvSpPr/>
            <p:nvPr/>
          </p:nvSpPr>
          <p:spPr>
            <a:xfrm>
              <a:off x="10868735" y="1487002"/>
              <a:ext cx="839859" cy="877870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20" name="圖形 16" descr="長波浪髮型的女子">
              <a:extLst>
                <a:ext uri="{FF2B5EF4-FFF2-40B4-BE49-F238E27FC236}">
                  <a16:creationId xmlns:a16="http://schemas.microsoft.com/office/drawing/2014/main" id="{6E211EB6-B48D-826E-7C9B-1A12A39D9415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21" name="手繪多邊形: 圖案 17">
                <a:extLst>
                  <a:ext uri="{FF2B5EF4-FFF2-40B4-BE49-F238E27FC236}">
                    <a16:creationId xmlns:a16="http://schemas.microsoft.com/office/drawing/2014/main" id="{A6177360-0E12-5815-9DD7-562457343B4F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 dirty="0"/>
              </a:p>
            </p:txBody>
          </p:sp>
          <p:sp>
            <p:nvSpPr>
              <p:cNvPr id="22" name="手繪多邊形: 圖案 18">
                <a:extLst>
                  <a:ext uri="{FF2B5EF4-FFF2-40B4-BE49-F238E27FC236}">
                    <a16:creationId xmlns:a16="http://schemas.microsoft.com/office/drawing/2014/main" id="{F567FCB2-4664-DA18-3F2D-0195A167CCF5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23" name="圖形 21" descr="笑臉">
            <a:extLst>
              <a:ext uri="{FF2B5EF4-FFF2-40B4-BE49-F238E27FC236}">
                <a16:creationId xmlns:a16="http://schemas.microsoft.com/office/drawing/2014/main" id="{B11429A0-FD83-28EA-24CC-F7BB72CFD5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37482" flipH="1">
            <a:off x="10962414" y="1527961"/>
            <a:ext cx="433226" cy="429271"/>
          </a:xfrm>
          <a:prstGeom prst="rect">
            <a:avLst/>
          </a:prstGeom>
        </p:spPr>
      </p:pic>
      <p:sp>
        <p:nvSpPr>
          <p:cNvPr id="24" name="向左箭號圖說文字 23"/>
          <p:cNvSpPr/>
          <p:nvPr/>
        </p:nvSpPr>
        <p:spPr>
          <a:xfrm>
            <a:off x="7418895" y="3106987"/>
            <a:ext cx="4706430" cy="3256520"/>
          </a:xfrm>
          <a:prstGeom prst="leftArrowCallout">
            <a:avLst>
              <a:gd name="adj1" fmla="val 9210"/>
              <a:gd name="adj2" fmla="val 10729"/>
              <a:gd name="adj3" fmla="val 12855"/>
              <a:gd name="adj4" fmla="val 85405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b="1" dirty="0">
                <a:solidFill>
                  <a:schemeClr val="tx2"/>
                </a:solidFill>
              </a:rPr>
              <a:t>自行開車：汽車補助</a:t>
            </a:r>
            <a:r>
              <a:rPr lang="en-US" altLang="zh-TW" b="1" dirty="0">
                <a:solidFill>
                  <a:schemeClr val="tx2"/>
                </a:solidFill>
              </a:rPr>
              <a:t>6</a:t>
            </a:r>
            <a:r>
              <a:rPr lang="zh-TW" altLang="en-US" b="1" dirty="0">
                <a:solidFill>
                  <a:schemeClr val="tx2"/>
                </a:solidFill>
              </a:rPr>
              <a:t>元</a:t>
            </a:r>
            <a:r>
              <a:rPr lang="en-US" altLang="zh-TW" b="1" dirty="0">
                <a:solidFill>
                  <a:schemeClr val="tx2"/>
                </a:solidFill>
              </a:rPr>
              <a:t>/</a:t>
            </a:r>
            <a:r>
              <a:rPr lang="zh-TW" altLang="en-US" b="1" dirty="0">
                <a:solidFill>
                  <a:schemeClr val="tx2"/>
                </a:solidFill>
              </a:rPr>
              <a:t>公里、機車補助</a:t>
            </a:r>
            <a:r>
              <a:rPr lang="en-US" altLang="zh-TW" b="1" dirty="0">
                <a:solidFill>
                  <a:schemeClr val="tx2"/>
                </a:solidFill>
              </a:rPr>
              <a:t>2</a:t>
            </a:r>
            <a:r>
              <a:rPr lang="zh-TW" altLang="en-US" b="1" dirty="0">
                <a:solidFill>
                  <a:schemeClr val="tx2"/>
                </a:solidFill>
              </a:rPr>
              <a:t>元</a:t>
            </a:r>
            <a:r>
              <a:rPr lang="en-US" altLang="zh-TW" b="1" dirty="0">
                <a:solidFill>
                  <a:schemeClr val="tx2"/>
                </a:solidFill>
              </a:rPr>
              <a:t>/</a:t>
            </a:r>
            <a:r>
              <a:rPr lang="zh-TW" altLang="en-US" b="1" dirty="0">
                <a:solidFill>
                  <a:schemeClr val="tx2"/>
                </a:solidFill>
              </a:rPr>
              <a:t>公里→須憑</a:t>
            </a:r>
            <a:r>
              <a:rPr lang="zh-TW" altLang="en-US" b="1" u="sng" dirty="0">
                <a:solidFill>
                  <a:schemeClr val="tx2"/>
                </a:solidFill>
              </a:rPr>
              <a:t>加油單</a:t>
            </a:r>
            <a:r>
              <a:rPr lang="zh-TW" altLang="en-US" b="1" dirty="0">
                <a:solidFill>
                  <a:schemeClr val="tx2"/>
                </a:solidFill>
              </a:rPr>
              <a:t>核銷，統編依承接單位開立。</a:t>
            </a:r>
            <a:endParaRPr lang="en-US" altLang="zh-TW" b="1" dirty="0">
              <a:solidFill>
                <a:schemeClr val="tx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b="1" dirty="0">
                <a:solidFill>
                  <a:schemeClr val="tx2"/>
                </a:solidFill>
              </a:rPr>
              <a:t>ETC</a:t>
            </a:r>
            <a:r>
              <a:rPr lang="zh-TW" altLang="en-US" b="1" dirty="0">
                <a:solidFill>
                  <a:schemeClr val="tx2"/>
                </a:solidFill>
              </a:rPr>
              <a:t>費用：至</a:t>
            </a:r>
            <a:r>
              <a:rPr lang="en-US" altLang="zh-TW" b="1" dirty="0" err="1">
                <a:solidFill>
                  <a:schemeClr val="tx2"/>
                </a:solidFill>
              </a:rPr>
              <a:t>Etag</a:t>
            </a:r>
            <a:r>
              <a:rPr lang="zh-TW" altLang="en-US" b="1" dirty="0">
                <a:solidFill>
                  <a:schemeClr val="tx2"/>
                </a:solidFill>
              </a:rPr>
              <a:t>官網下載</a:t>
            </a:r>
            <a:r>
              <a:rPr lang="en-US" altLang="zh-TW" b="1" dirty="0">
                <a:solidFill>
                  <a:schemeClr val="tx2"/>
                </a:solidFill>
              </a:rPr>
              <a:t>ETC</a:t>
            </a:r>
            <a:r>
              <a:rPr lang="zh-TW" altLang="en-US" b="1" dirty="0">
                <a:solidFill>
                  <a:schemeClr val="tx2"/>
                </a:solidFill>
              </a:rPr>
              <a:t>證明作為核銷憑證。</a:t>
            </a:r>
            <a:r>
              <a:rPr lang="en-US" altLang="zh-TW" b="1" dirty="0">
                <a:solidFill>
                  <a:schemeClr val="tx2"/>
                </a:solidFill>
              </a:rPr>
              <a:t>(</a:t>
            </a:r>
            <a:r>
              <a:rPr lang="zh-TW" altLang="en-US" b="1" dirty="0">
                <a:solidFill>
                  <a:schemeClr val="tx2"/>
                </a:solidFill>
              </a:rPr>
              <a:t>詳下頁</a:t>
            </a:r>
            <a:r>
              <a:rPr lang="en-US" altLang="zh-TW" b="1" dirty="0">
                <a:solidFill>
                  <a:schemeClr val="tx2"/>
                </a:solidFill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b="1" dirty="0">
                <a:solidFill>
                  <a:schemeClr val="tx2"/>
                </a:solidFill>
              </a:rPr>
              <a:t>具實體憑證或電子憑證請檢附紙本核銷，如：鐵路</a:t>
            </a:r>
            <a:r>
              <a:rPr lang="en-US" altLang="zh-TW" b="1" dirty="0">
                <a:solidFill>
                  <a:schemeClr val="tx2"/>
                </a:solidFill>
              </a:rPr>
              <a:t>(</a:t>
            </a:r>
            <a:r>
              <a:rPr lang="zh-TW" altLang="en-US" b="1" dirty="0">
                <a:solidFill>
                  <a:schemeClr val="tx2"/>
                </a:solidFill>
              </a:rPr>
              <a:t>台鐵</a:t>
            </a:r>
            <a:r>
              <a:rPr lang="en-US" altLang="zh-TW" b="1" dirty="0">
                <a:solidFill>
                  <a:schemeClr val="tx2"/>
                </a:solidFill>
              </a:rPr>
              <a:t>/</a:t>
            </a:r>
            <a:r>
              <a:rPr lang="zh-TW" altLang="en-US" b="1" dirty="0">
                <a:solidFill>
                  <a:schemeClr val="tx2"/>
                </a:solidFill>
              </a:rPr>
              <a:t>高鐵</a:t>
            </a:r>
            <a:r>
              <a:rPr lang="en-US" altLang="zh-TW" b="1" dirty="0">
                <a:solidFill>
                  <a:schemeClr val="tx2"/>
                </a:solidFill>
              </a:rPr>
              <a:t>)</a:t>
            </a:r>
            <a:r>
              <a:rPr lang="zh-TW" altLang="en-US" b="1" dirty="0">
                <a:solidFill>
                  <a:schemeClr val="tx2"/>
                </a:solidFill>
              </a:rPr>
              <a:t>、機票、公車、計程車、停車費</a:t>
            </a:r>
            <a:r>
              <a:rPr lang="en-US" altLang="zh-TW" b="1" dirty="0">
                <a:solidFill>
                  <a:schemeClr val="tx2"/>
                </a:solidFill>
              </a:rPr>
              <a:t>(</a:t>
            </a:r>
            <a:r>
              <a:rPr lang="zh-TW" altLang="en-US" b="1" dirty="0">
                <a:solidFill>
                  <a:schemeClr val="tx2"/>
                </a:solidFill>
              </a:rPr>
              <a:t>非繳費單</a:t>
            </a:r>
            <a:r>
              <a:rPr lang="en-US" altLang="zh-TW" b="1" dirty="0">
                <a:solidFill>
                  <a:schemeClr val="tx2"/>
                </a:solidFill>
              </a:rPr>
              <a:t>)</a:t>
            </a:r>
            <a:r>
              <a:rPr lang="zh-TW" altLang="en-US" b="1" dirty="0">
                <a:solidFill>
                  <a:schemeClr val="tx2"/>
                </a:solidFill>
              </a:rPr>
              <a:t>、      捷運</a:t>
            </a:r>
            <a:r>
              <a:rPr lang="en-US" altLang="zh-TW" b="1" dirty="0">
                <a:solidFill>
                  <a:schemeClr val="tx2"/>
                </a:solidFill>
              </a:rPr>
              <a:t>(</a:t>
            </a:r>
            <a:r>
              <a:rPr lang="zh-TW" altLang="en-US" b="1" dirty="0">
                <a:solidFill>
                  <a:schemeClr val="tx2"/>
                </a:solidFill>
              </a:rPr>
              <a:t>列印悠遊卡證明</a:t>
            </a:r>
            <a:r>
              <a:rPr lang="en-US" altLang="zh-TW" b="1" dirty="0">
                <a:solidFill>
                  <a:schemeClr val="tx2"/>
                </a:solidFill>
              </a:rPr>
              <a:t>)</a:t>
            </a:r>
            <a:r>
              <a:rPr lang="zh-TW" altLang="en-US" b="1" dirty="0">
                <a:solidFill>
                  <a:schemeClr val="tx2"/>
                </a:solidFill>
              </a:rPr>
              <a:t>、早餐、午    餐、晚餐、住宿費用等。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8824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2B075D7-4292-ABE8-D7F7-FA299174C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34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0D6BDB8-80C3-926E-B749-01F80C04A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8" y="994933"/>
            <a:ext cx="11530148" cy="5368573"/>
          </a:xfrm>
        </p:spPr>
        <p:txBody>
          <a:bodyPr/>
          <a:lstStyle/>
          <a:p>
            <a:r>
              <a:rPr lang="zh-TW" altLang="en-US" sz="1800" dirty="0">
                <a:solidFill>
                  <a:schemeClr val="tx2"/>
                </a:solidFill>
              </a:rPr>
              <a:t>操作流程：</a:t>
            </a:r>
            <a:endParaRPr lang="en-US" altLang="zh-TW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zh-TW" altLang="en-US" sz="1800" dirty="0">
                <a:solidFill>
                  <a:schemeClr val="tx2"/>
                </a:solidFill>
              </a:rPr>
              <a:t>    專案資訊網→幫助中心→</a:t>
            </a:r>
            <a:r>
              <a:rPr lang="en-US" altLang="zh-TW" sz="1800" dirty="0">
                <a:solidFill>
                  <a:schemeClr val="tx2"/>
                </a:solidFill>
              </a:rPr>
              <a:t>PM&amp;AC</a:t>
            </a:r>
            <a:r>
              <a:rPr lang="zh-TW" altLang="en-US" sz="1800" dirty="0">
                <a:solidFill>
                  <a:schemeClr val="tx2"/>
                </a:solidFill>
              </a:rPr>
              <a:t>互相配合注意事項。</a:t>
            </a:r>
            <a:endParaRPr lang="en-US" altLang="zh-TW" sz="1800" dirty="0">
              <a:solidFill>
                <a:schemeClr val="tx2"/>
              </a:solidFill>
            </a:endParaRPr>
          </a:p>
          <a:p>
            <a:r>
              <a:rPr lang="zh-TW" altLang="en-US" sz="1800" dirty="0">
                <a:solidFill>
                  <a:schemeClr val="tx2"/>
                </a:solidFill>
              </a:rPr>
              <a:t>僅需要車號即可查詢，會員身分非必要。</a:t>
            </a:r>
            <a:endParaRPr lang="en-US" altLang="zh-TW" sz="1800" dirty="0">
              <a:solidFill>
                <a:schemeClr val="tx2"/>
              </a:solidFill>
            </a:endParaRPr>
          </a:p>
          <a:p>
            <a:endParaRPr lang="en-US" altLang="zh-TW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26" y="2367221"/>
            <a:ext cx="11547473" cy="329085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9170126" y="2367221"/>
            <a:ext cx="2629073" cy="31607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9075376" y="199788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檢附此證明作為核銷憑證</a:t>
            </a:r>
          </a:p>
        </p:txBody>
      </p:sp>
      <p:sp>
        <p:nvSpPr>
          <p:cNvPr id="9" name="箭號: 五邊形 2">
            <a:extLst>
              <a:ext uri="{FF2B5EF4-FFF2-40B4-BE49-F238E27FC236}">
                <a16:creationId xmlns:a16="http://schemas.microsoft.com/office/drawing/2014/main" id="{3A455C29-3F16-0D7E-E990-8768625A9939}"/>
              </a:ext>
            </a:extLst>
          </p:cNvPr>
          <p:cNvSpPr/>
          <p:nvPr/>
        </p:nvSpPr>
        <p:spPr>
          <a:xfrm>
            <a:off x="0" y="0"/>
            <a:ext cx="6321669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T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R</a:t>
            </a:r>
            <a:r>
              <a:rPr lang="zh-TW" altLang="en-US" sz="2800" b="1" dirty="0"/>
              <a:t> 差 旅 單 </a:t>
            </a:r>
            <a:r>
              <a:rPr lang="en-US" altLang="zh-TW" sz="2800" b="1" dirty="0"/>
              <a:t>–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E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t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a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g</a:t>
            </a:r>
            <a:r>
              <a:rPr lang="zh-TW" altLang="en-US" sz="2800" b="1" dirty="0"/>
              <a:t> 官 網 下 載 證 明</a:t>
            </a:r>
          </a:p>
        </p:txBody>
      </p:sp>
    </p:spTree>
    <p:extLst>
      <p:ext uri="{BB962C8B-B14F-4D97-AF65-F5344CB8AC3E}">
        <p14:creationId xmlns:p14="http://schemas.microsoft.com/office/powerpoint/2010/main" val="17361858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35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383178" y="888219"/>
            <a:ext cx="11530148" cy="5368573"/>
          </a:xfrm>
        </p:spPr>
        <p:txBody>
          <a:bodyPr/>
          <a:lstStyle/>
          <a:p>
            <a:r>
              <a:rPr lang="zh-TW" altLang="en-US" sz="1800" dirty="0">
                <a:solidFill>
                  <a:schemeClr val="tx2"/>
                </a:solidFill>
              </a:rPr>
              <a:t>網址：</a:t>
            </a:r>
            <a:r>
              <a:rPr lang="en-US" altLang="zh-TW" sz="1800" dirty="0"/>
              <a:t> </a:t>
            </a:r>
            <a:r>
              <a:rPr lang="en-US" altLang="zh-TW" sz="1800" dirty="0">
                <a:hlinkClick r:id="rId3"/>
              </a:rPr>
              <a:t>https://ezweb.easycard.com.tw/search/CardSearch.php</a:t>
            </a:r>
            <a:endParaRPr lang="en-US" altLang="zh-TW" sz="1800" dirty="0"/>
          </a:p>
          <a:p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64" y="5164126"/>
            <a:ext cx="5318344" cy="1457791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64" y="1253344"/>
            <a:ext cx="3688935" cy="3842086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286" y="1253344"/>
            <a:ext cx="5099817" cy="5368573"/>
          </a:xfrm>
          <a:prstGeom prst="rect">
            <a:avLst/>
          </a:prstGeom>
        </p:spPr>
      </p:pic>
      <p:sp>
        <p:nvSpPr>
          <p:cNvPr id="12" name="圓角矩形 11"/>
          <p:cNvSpPr/>
          <p:nvPr/>
        </p:nvSpPr>
        <p:spPr>
          <a:xfrm>
            <a:off x="4076937" y="2851747"/>
            <a:ext cx="2445699" cy="847898"/>
          </a:xfrm>
          <a:prstGeom prst="roundRec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輸入卡號、查詢區間→送出</a:t>
            </a:r>
          </a:p>
        </p:txBody>
      </p:sp>
      <p:sp>
        <p:nvSpPr>
          <p:cNvPr id="13" name="圓角矩形 12"/>
          <p:cNvSpPr/>
          <p:nvPr/>
        </p:nvSpPr>
        <p:spPr>
          <a:xfrm>
            <a:off x="4170277" y="6174558"/>
            <a:ext cx="2351870" cy="510482"/>
          </a:xfrm>
          <a:prstGeom prst="roundRec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點選列印</a:t>
            </a:r>
          </a:p>
        </p:txBody>
      </p:sp>
      <p:sp>
        <p:nvSpPr>
          <p:cNvPr id="14" name="圓角矩形 13"/>
          <p:cNvSpPr/>
          <p:nvPr/>
        </p:nvSpPr>
        <p:spPr>
          <a:xfrm>
            <a:off x="9318876" y="3937630"/>
            <a:ext cx="2445699" cy="847898"/>
          </a:xfrm>
          <a:prstGeom prst="roundRec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印出後作為核銷憑證</a:t>
            </a:r>
          </a:p>
        </p:txBody>
      </p:sp>
      <p:sp>
        <p:nvSpPr>
          <p:cNvPr id="11" name="箭號: 五邊形 2">
            <a:extLst>
              <a:ext uri="{FF2B5EF4-FFF2-40B4-BE49-F238E27FC236}">
                <a16:creationId xmlns:a16="http://schemas.microsoft.com/office/drawing/2014/main" id="{3A455C29-3F16-0D7E-E990-8768625A9939}"/>
              </a:ext>
            </a:extLst>
          </p:cNvPr>
          <p:cNvSpPr/>
          <p:nvPr/>
        </p:nvSpPr>
        <p:spPr>
          <a:xfrm>
            <a:off x="1" y="0"/>
            <a:ext cx="5002822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T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R</a:t>
            </a:r>
            <a:r>
              <a:rPr lang="zh-TW" altLang="en-US" sz="2800" b="1" dirty="0"/>
              <a:t> 差 旅 單 </a:t>
            </a:r>
            <a:r>
              <a:rPr lang="en-US" altLang="zh-TW" sz="2800" b="1" dirty="0"/>
              <a:t>–</a:t>
            </a:r>
            <a:r>
              <a:rPr lang="zh-TW" altLang="en-US" sz="2800" b="1" dirty="0"/>
              <a:t> 悠 遊 卡 證 明</a:t>
            </a:r>
          </a:p>
        </p:txBody>
      </p:sp>
    </p:spTree>
    <p:extLst>
      <p:ext uri="{BB962C8B-B14F-4D97-AF65-F5344CB8AC3E}">
        <p14:creationId xmlns:p14="http://schemas.microsoft.com/office/powerpoint/2010/main" val="8849342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509B31-A1BD-CC20-FAC5-FD4D8FEB9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電信單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43107A0-8D72-A18F-880B-37247C2CE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pPr/>
              <a:t>36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56389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575" y="966331"/>
            <a:ext cx="4679942" cy="2058945"/>
          </a:xfrm>
          <a:prstGeom prst="rect">
            <a:avLst/>
          </a:prstGeom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37</a:t>
            </a:fld>
            <a:endParaRPr lang="zh-TW" altLang="en-US"/>
          </a:p>
        </p:txBody>
      </p:sp>
      <p:sp>
        <p:nvSpPr>
          <p:cNvPr id="3" name="箭號: 五邊形 3">
            <a:extLst>
              <a:ext uri="{FF2B5EF4-FFF2-40B4-BE49-F238E27FC236}">
                <a16:creationId xmlns:a16="http://schemas.microsoft.com/office/drawing/2014/main" id="{CB982365-BE74-F9A5-4815-6E77D24607FD}"/>
              </a:ext>
            </a:extLst>
          </p:cNvPr>
          <p:cNvSpPr/>
          <p:nvPr/>
        </p:nvSpPr>
        <p:spPr>
          <a:xfrm>
            <a:off x="0" y="0"/>
            <a:ext cx="3019425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T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E</a:t>
            </a:r>
            <a:r>
              <a:rPr lang="zh-TW" altLang="en-US" sz="2800" b="1" dirty="0"/>
              <a:t> 電 信 單 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575" y="3045335"/>
            <a:ext cx="4679942" cy="1993415"/>
          </a:xfrm>
          <a:prstGeom prst="rect">
            <a:avLst/>
          </a:prstGeom>
        </p:spPr>
      </p:pic>
      <p:cxnSp>
        <p:nvCxnSpPr>
          <p:cNvPr id="6" name="直線單箭頭接點 5"/>
          <p:cNvCxnSpPr/>
          <p:nvPr/>
        </p:nvCxnSpPr>
        <p:spPr>
          <a:xfrm flipH="1">
            <a:off x="4457195" y="2215869"/>
            <a:ext cx="762097" cy="23802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圓角矩形 8"/>
          <p:cNvSpPr/>
          <p:nvPr/>
        </p:nvSpPr>
        <p:spPr>
          <a:xfrm>
            <a:off x="2181224" y="4596156"/>
            <a:ext cx="3303085" cy="19491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5"/>
          <a:srcRect l="1425"/>
          <a:stretch/>
        </p:blipFill>
        <p:spPr>
          <a:xfrm>
            <a:off x="1036430" y="5078868"/>
            <a:ext cx="4736087" cy="1666799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97" y="946272"/>
            <a:ext cx="825778" cy="2045678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C6AF346E-2B9A-7044-BC72-7511819ECE38}"/>
              </a:ext>
            </a:extLst>
          </p:cNvPr>
          <p:cNvSpPr txBox="1"/>
          <p:nvPr/>
        </p:nvSpPr>
        <p:spPr>
          <a:xfrm>
            <a:off x="6629103" y="1355925"/>
            <a:ext cx="6408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chemeClr val="tx2"/>
                </a:solidFill>
              </a:rPr>
              <a:t>使用時機：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BEF7CD95-DE9E-6AD3-9CBD-E8B954DFE67A}"/>
              </a:ext>
            </a:extLst>
          </p:cNvPr>
          <p:cNvSpPr txBox="1"/>
          <p:nvPr/>
        </p:nvSpPr>
        <p:spPr>
          <a:xfrm>
            <a:off x="6629103" y="1637831"/>
            <a:ext cx="47151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tx2"/>
                </a:solidFill>
              </a:rPr>
              <a:t>專案有中華電信</a:t>
            </a:r>
            <a:r>
              <a:rPr lang="en-US" altLang="zh-TW" b="1" dirty="0">
                <a:solidFill>
                  <a:schemeClr val="tx2"/>
                </a:solidFill>
              </a:rPr>
              <a:t>/</a:t>
            </a:r>
            <a:r>
              <a:rPr lang="zh-TW" altLang="en-US" b="1" dirty="0">
                <a:solidFill>
                  <a:schemeClr val="tx2"/>
                </a:solidFill>
              </a:rPr>
              <a:t>遠傳電信</a:t>
            </a:r>
            <a:r>
              <a:rPr lang="en-US" altLang="zh-TW" b="1" dirty="0">
                <a:solidFill>
                  <a:schemeClr val="tx2"/>
                </a:solidFill>
              </a:rPr>
              <a:t>/</a:t>
            </a:r>
            <a:r>
              <a:rPr lang="zh-TW" altLang="en-US" b="1" dirty="0">
                <a:solidFill>
                  <a:schemeClr val="tx2"/>
                </a:solidFill>
              </a:rPr>
              <a:t>台灣大哥大</a:t>
            </a:r>
            <a:r>
              <a:rPr lang="en-US" altLang="zh-TW" b="1" dirty="0">
                <a:solidFill>
                  <a:schemeClr val="tx2"/>
                </a:solidFill>
              </a:rPr>
              <a:t>/</a:t>
            </a:r>
            <a:r>
              <a:rPr lang="zh-TW" altLang="en-US" b="1" dirty="0">
                <a:solidFill>
                  <a:schemeClr val="tx2"/>
                </a:solidFill>
              </a:rPr>
              <a:t>台灣之星</a:t>
            </a:r>
            <a:r>
              <a:rPr lang="en-US" altLang="zh-TW" b="1" dirty="0">
                <a:solidFill>
                  <a:schemeClr val="tx2"/>
                </a:solidFill>
              </a:rPr>
              <a:t>/</a:t>
            </a:r>
            <a:r>
              <a:rPr lang="zh-TW" altLang="en-US" b="1" dirty="0">
                <a:solidFill>
                  <a:schemeClr val="tx2"/>
                </a:solidFill>
              </a:rPr>
              <a:t>台灣電力帳單支出。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6AF346E-2B9A-7044-BC72-7511819ECE38}"/>
              </a:ext>
            </a:extLst>
          </p:cNvPr>
          <p:cNvSpPr txBox="1"/>
          <p:nvPr/>
        </p:nvSpPr>
        <p:spPr>
          <a:xfrm>
            <a:off x="6629103" y="2475056"/>
            <a:ext cx="6408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chemeClr val="tx2"/>
                </a:solidFill>
              </a:rPr>
              <a:t>注意事項：</a:t>
            </a:r>
          </a:p>
        </p:txBody>
      </p:sp>
      <p:sp>
        <p:nvSpPr>
          <p:cNvPr id="22" name="矩形 21"/>
          <p:cNvSpPr/>
          <p:nvPr/>
        </p:nvSpPr>
        <p:spPr>
          <a:xfrm>
            <a:off x="6629103" y="2847975"/>
            <a:ext cx="4848225" cy="3686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TW" altLang="en-US" b="1" dirty="0">
                <a:solidFill>
                  <a:schemeClr val="tx2"/>
                </a:solidFill>
              </a:rPr>
              <a:t>新的用戶號碼須至</a:t>
            </a:r>
            <a:r>
              <a:rPr lang="en-US" altLang="zh-TW" b="1" dirty="0">
                <a:solidFill>
                  <a:schemeClr val="tx2"/>
                </a:solidFill>
              </a:rPr>
              <a:t>【</a:t>
            </a:r>
            <a:r>
              <a:rPr lang="zh-TW" altLang="en-US" b="1" dirty="0">
                <a:solidFill>
                  <a:schemeClr val="tx2"/>
                </a:solidFill>
              </a:rPr>
              <a:t>電信帳單登錄</a:t>
            </a:r>
            <a:r>
              <a:rPr lang="en-US" altLang="zh-TW" b="1" dirty="0">
                <a:solidFill>
                  <a:schemeClr val="tx2"/>
                </a:solidFill>
              </a:rPr>
              <a:t>】</a:t>
            </a:r>
            <a:r>
              <a:rPr lang="zh-TW" altLang="en-US" b="1" dirty="0">
                <a:solidFill>
                  <a:schemeClr val="tx2"/>
                </a:solidFill>
              </a:rPr>
              <a:t>維護資訊，以利日後櫃台分發帳單給管理人。</a:t>
            </a:r>
            <a:endParaRPr lang="en-US" altLang="zh-TW" b="1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TW" altLang="en-US" b="1" dirty="0">
                <a:solidFill>
                  <a:schemeClr val="tx2"/>
                </a:solidFill>
              </a:rPr>
              <a:t> </a:t>
            </a:r>
            <a:r>
              <a:rPr lang="zh-TW" altLang="zh-TW" b="1" dirty="0">
                <a:solidFill>
                  <a:schemeClr val="tx2"/>
                </a:solidFill>
              </a:rPr>
              <a:t>專案結案前，應先確認不再使用</a:t>
            </a:r>
            <a:r>
              <a:rPr lang="zh-TW" altLang="en-US" b="1" dirty="0">
                <a:solidFill>
                  <a:schemeClr val="tx2"/>
                </a:solidFill>
              </a:rPr>
              <a:t>該用戶號碼</a:t>
            </a:r>
            <a:r>
              <a:rPr lang="en-US" altLang="zh-TW" b="1" dirty="0">
                <a:solidFill>
                  <a:schemeClr val="tx2"/>
                </a:solidFill>
              </a:rPr>
              <a:t>/</a:t>
            </a:r>
            <a:r>
              <a:rPr lang="zh-TW" altLang="en-US" b="1" dirty="0">
                <a:solidFill>
                  <a:schemeClr val="tx2"/>
                </a:solidFill>
              </a:rPr>
              <a:t>電號，</a:t>
            </a:r>
            <a:r>
              <a:rPr lang="zh-TW" altLang="zh-TW" b="1" dirty="0">
                <a:solidFill>
                  <a:schemeClr val="tx2"/>
                </a:solidFill>
              </a:rPr>
              <a:t>並通知申請人</a:t>
            </a:r>
            <a:r>
              <a:rPr lang="en-US" altLang="zh-TW" b="1" dirty="0">
                <a:solidFill>
                  <a:schemeClr val="tx2"/>
                </a:solidFill>
              </a:rPr>
              <a:t>/</a:t>
            </a:r>
            <a:r>
              <a:rPr lang="zh-TW" altLang="zh-TW" b="1" dirty="0">
                <a:solidFill>
                  <a:schemeClr val="tx2"/>
                </a:solidFill>
              </a:rPr>
              <a:t>部門秘書，聯繫電信服務窗口進行服務中止，避免結案後持續繳納費用</a:t>
            </a:r>
            <a:r>
              <a:rPr lang="zh-TW" altLang="en-US" b="1" dirty="0">
                <a:solidFill>
                  <a:schemeClr val="tx2"/>
                </a:solidFill>
              </a:rPr>
              <a:t>。</a:t>
            </a:r>
            <a:endParaRPr lang="en-US" altLang="zh-TW" b="1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TW" altLang="en-US" b="1" dirty="0">
                <a:solidFill>
                  <a:schemeClr val="tx2"/>
                </a:solidFill>
              </a:rPr>
              <a:t>帳單為自行繳費須於</a:t>
            </a:r>
            <a:r>
              <a:rPr lang="zh-TW" altLang="en-US" b="1" dirty="0">
                <a:solidFill>
                  <a:srgbClr val="FF0000"/>
                </a:solidFill>
              </a:rPr>
              <a:t>繳費截止日前</a:t>
            </a:r>
            <a:r>
              <a:rPr lang="en-US" altLang="zh-TW" b="1" dirty="0">
                <a:solidFill>
                  <a:srgbClr val="FF0000"/>
                </a:solidFill>
              </a:rPr>
              <a:t>3</a:t>
            </a:r>
            <a:r>
              <a:rPr lang="zh-TW" altLang="en-US" b="1" dirty="0">
                <a:solidFill>
                  <a:srgbClr val="FF0000"/>
                </a:solidFill>
              </a:rPr>
              <a:t>天</a:t>
            </a:r>
            <a:r>
              <a:rPr lang="zh-TW" altLang="en-US" b="1" dirty="0">
                <a:solidFill>
                  <a:schemeClr val="tx2"/>
                </a:solidFill>
              </a:rPr>
              <a:t>將帳單提供給</a:t>
            </a:r>
            <a:r>
              <a:rPr lang="zh-TW" altLang="en-US" b="1" dirty="0">
                <a:solidFill>
                  <a:srgbClr val="FF0000"/>
                </a:solidFill>
              </a:rPr>
              <a:t>出納</a:t>
            </a:r>
            <a:r>
              <a:rPr lang="zh-TW" altLang="en-US" b="1" dirty="0"/>
              <a:t>。</a:t>
            </a:r>
            <a:endParaRPr lang="en-US" altLang="zh-TW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zh-TW" altLang="zh-TW" b="1" dirty="0">
                <a:solidFill>
                  <a:schemeClr val="tx2"/>
                </a:solidFill>
              </a:rPr>
              <a:t>專案中如有同業務性質，可申請合併帳單、辦理轉帳代繳。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TW" altLang="zh-TW" b="1" dirty="0">
                <a:solidFill>
                  <a:schemeClr val="tx2"/>
                </a:solidFill>
              </a:rPr>
              <a:t>如有以「逢甲」名義新申請電信</a:t>
            </a:r>
            <a:r>
              <a:rPr lang="en-US" altLang="zh-TW" b="1" dirty="0">
                <a:solidFill>
                  <a:schemeClr val="tx2"/>
                </a:solidFill>
              </a:rPr>
              <a:t>/</a:t>
            </a:r>
            <a:r>
              <a:rPr lang="zh-TW" altLang="zh-TW" b="1" dirty="0">
                <a:solidFill>
                  <a:schemeClr val="tx2"/>
                </a:solidFill>
              </a:rPr>
              <a:t>電力帳單，須通知櫃台，並於申辦時地址加註「逢甲大學</a:t>
            </a:r>
            <a:r>
              <a:rPr lang="en-US" altLang="zh-TW" b="1" dirty="0">
                <a:solidFill>
                  <a:schemeClr val="tx2"/>
                </a:solidFill>
              </a:rPr>
              <a:t>GIS</a:t>
            </a:r>
            <a:r>
              <a:rPr lang="zh-TW" altLang="zh-TW" b="1" dirty="0">
                <a:solidFill>
                  <a:schemeClr val="tx2"/>
                </a:solidFill>
              </a:rPr>
              <a:t>中心」，以利櫃台分發。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23" name="圓角矩形 22"/>
          <p:cNvSpPr/>
          <p:nvPr/>
        </p:nvSpPr>
        <p:spPr>
          <a:xfrm>
            <a:off x="6144701" y="940043"/>
            <a:ext cx="5683975" cy="5782360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5868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CA1A1A4-B76A-203C-F109-32AE41163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38</a:t>
            </a:fld>
            <a:endParaRPr lang="zh-TW" altLang="en-US"/>
          </a:p>
        </p:txBody>
      </p:sp>
      <p:graphicFrame>
        <p:nvGraphicFramePr>
          <p:cNvPr id="5" name="資料庫圖表 4">
            <a:extLst>
              <a:ext uri="{FF2B5EF4-FFF2-40B4-BE49-F238E27FC236}">
                <a16:creationId xmlns:a16="http://schemas.microsoft.com/office/drawing/2014/main" id="{4B15F23D-5546-EF88-409D-D77BA64754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08276"/>
              </p:ext>
            </p:extLst>
          </p:nvPr>
        </p:nvGraphicFramePr>
        <p:xfrm>
          <a:off x="7352181" y="277612"/>
          <a:ext cx="4561145" cy="6451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8"/>
          <a:srcRect b="30954"/>
          <a:stretch/>
        </p:blipFill>
        <p:spPr>
          <a:xfrm>
            <a:off x="4212183" y="4572489"/>
            <a:ext cx="2933334" cy="1052119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2" y="1315673"/>
            <a:ext cx="6962635" cy="2958179"/>
          </a:xfrm>
          <a:prstGeom prst="rect">
            <a:avLst/>
          </a:prstGeom>
        </p:spPr>
      </p:pic>
      <p:sp>
        <p:nvSpPr>
          <p:cNvPr id="10" name="箭號: 五邊形 3">
            <a:extLst>
              <a:ext uri="{FF2B5EF4-FFF2-40B4-BE49-F238E27FC236}">
                <a16:creationId xmlns:a16="http://schemas.microsoft.com/office/drawing/2014/main" id="{CB982365-BE74-F9A5-4815-6E77D24607FD}"/>
              </a:ext>
            </a:extLst>
          </p:cNvPr>
          <p:cNvSpPr/>
          <p:nvPr/>
        </p:nvSpPr>
        <p:spPr>
          <a:xfrm>
            <a:off x="-1" y="1"/>
            <a:ext cx="5561815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T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E</a:t>
            </a:r>
            <a:r>
              <a:rPr lang="zh-TW" altLang="en-US" sz="2800" b="1" dirty="0"/>
              <a:t> 電 信 單 </a:t>
            </a:r>
            <a:r>
              <a:rPr lang="en-US" altLang="zh-TW" sz="2800" b="1" dirty="0"/>
              <a:t>–</a:t>
            </a:r>
            <a:r>
              <a:rPr lang="zh-TW" altLang="en-US" sz="2800" b="1" dirty="0"/>
              <a:t> 申 請 作 業 及 流 程 </a:t>
            </a:r>
          </a:p>
        </p:txBody>
      </p:sp>
    </p:spTree>
    <p:extLst>
      <p:ext uri="{BB962C8B-B14F-4D97-AF65-F5344CB8AC3E}">
        <p14:creationId xmlns:p14="http://schemas.microsoft.com/office/powerpoint/2010/main" val="13870810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郵 寄 單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22346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D0912AC6-B8D1-ADA2-76C2-BCFD7AFA49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56"/>
          <a:stretch/>
        </p:blipFill>
        <p:spPr>
          <a:xfrm>
            <a:off x="2493555" y="2526922"/>
            <a:ext cx="6764746" cy="3004033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24DC29F-1F58-EC96-D832-85CC1C0FD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40</a:t>
            </a:fld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24A5427-8963-E199-6552-1B2A73BD5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7" y="886994"/>
            <a:ext cx="11530148" cy="5659074"/>
          </a:xfrm>
        </p:spPr>
        <p:txBody>
          <a:bodyPr>
            <a:normAutofit/>
          </a:bodyPr>
          <a:lstStyle/>
          <a:p>
            <a:r>
              <a:rPr lang="zh-TW" altLang="en-US" sz="1800" dirty="0">
                <a:solidFill>
                  <a:schemeClr val="tx2"/>
                </a:solidFill>
              </a:rPr>
              <a:t>使用時機：有寄件需求，請</a:t>
            </a:r>
            <a:r>
              <a:rPr lang="zh-TW" altLang="zh-TW" dirty="0"/>
              <a:t>總管理處櫃檯</a:t>
            </a:r>
            <a:r>
              <a:rPr lang="zh-TW" altLang="en-US" sz="1800" dirty="0">
                <a:solidFill>
                  <a:schemeClr val="tx2"/>
                </a:solidFill>
              </a:rPr>
              <a:t>協助郵寄或宅配。</a:t>
            </a:r>
            <a:endParaRPr lang="en-US" altLang="zh-TW" sz="1800" dirty="0">
              <a:solidFill>
                <a:schemeClr val="tx2"/>
              </a:solidFill>
            </a:endParaRPr>
          </a:p>
          <a:p>
            <a:r>
              <a:rPr lang="zh-TW" altLang="en-US" sz="1800" dirty="0">
                <a:solidFill>
                  <a:schemeClr val="tx2"/>
                </a:solidFill>
              </a:rPr>
              <a:t>注意事項：</a:t>
            </a:r>
            <a:endParaRPr lang="en-US" altLang="zh-TW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zh-TW" altLang="en-US" sz="1800" dirty="0">
                <a:solidFill>
                  <a:schemeClr val="tx2"/>
                </a:solidFill>
              </a:rPr>
              <a:t>                     </a:t>
            </a:r>
            <a:r>
              <a:rPr lang="en-US" altLang="zh-TW" sz="1800" dirty="0">
                <a:solidFill>
                  <a:schemeClr val="tx2"/>
                </a:solidFill>
              </a:rPr>
              <a:t>1.</a:t>
            </a:r>
            <a:r>
              <a:rPr lang="zh-TW" altLang="en-US" sz="1800" dirty="0">
                <a:solidFill>
                  <a:schemeClr val="tx2"/>
                </a:solidFill>
              </a:rPr>
              <a:t>轉交給</a:t>
            </a:r>
            <a:r>
              <a:rPr lang="zh-TW" altLang="zh-TW" dirty="0"/>
              <a:t>總管理處櫃檯</a:t>
            </a:r>
            <a:r>
              <a:rPr lang="zh-TW" altLang="en-US" sz="1800" dirty="0">
                <a:solidFill>
                  <a:schemeClr val="tx2"/>
                </a:solidFill>
              </a:rPr>
              <a:t>前須填郵寄申請單，記得選擇函件內容。</a:t>
            </a:r>
            <a:endParaRPr lang="en-US" altLang="zh-TW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zh-TW" altLang="en-US" sz="1800" dirty="0">
                <a:solidFill>
                  <a:schemeClr val="tx2"/>
                </a:solidFill>
              </a:rPr>
              <a:t>                     </a:t>
            </a:r>
            <a:r>
              <a:rPr lang="en-US" altLang="zh-TW" sz="1800" dirty="0">
                <a:solidFill>
                  <a:schemeClr val="tx2"/>
                </a:solidFill>
              </a:rPr>
              <a:t>2.</a:t>
            </a:r>
            <a:r>
              <a:rPr lang="zh-TW" altLang="en-US" sz="1800" dirty="0">
                <a:solidFill>
                  <a:schemeClr val="tx2"/>
                </a:solidFill>
              </a:rPr>
              <a:t>提供要寄送的文件給櫃檯：宅配→每日下午</a:t>
            </a:r>
            <a:r>
              <a:rPr lang="en-US" altLang="zh-TW" sz="1800" dirty="0">
                <a:solidFill>
                  <a:srgbClr val="FF0000"/>
                </a:solidFill>
              </a:rPr>
              <a:t>2</a:t>
            </a:r>
            <a:r>
              <a:rPr lang="zh-TW" altLang="en-US" sz="1800" dirty="0">
                <a:solidFill>
                  <a:srgbClr val="FF0000"/>
                </a:solidFill>
              </a:rPr>
              <a:t>點</a:t>
            </a:r>
            <a:r>
              <a:rPr lang="zh-TW" altLang="en-US" sz="1800" dirty="0">
                <a:solidFill>
                  <a:schemeClr val="tx2"/>
                </a:solidFill>
              </a:rPr>
              <a:t>前。郵局→每日下午</a:t>
            </a:r>
            <a:r>
              <a:rPr lang="en-US" altLang="zh-TW" sz="1800" dirty="0">
                <a:solidFill>
                  <a:srgbClr val="FF0000"/>
                </a:solidFill>
              </a:rPr>
              <a:t>2</a:t>
            </a:r>
            <a:r>
              <a:rPr lang="zh-TW" altLang="en-US" sz="1800" dirty="0">
                <a:solidFill>
                  <a:srgbClr val="FF0000"/>
                </a:solidFill>
              </a:rPr>
              <a:t>點半</a:t>
            </a:r>
            <a:r>
              <a:rPr lang="zh-TW" altLang="en-US" sz="1800" dirty="0">
                <a:solidFill>
                  <a:schemeClr val="tx2"/>
                </a:solidFill>
              </a:rPr>
              <a:t>前。</a:t>
            </a:r>
            <a:endParaRPr lang="en-US" altLang="zh-TW" sz="1800" dirty="0">
              <a:solidFill>
                <a:schemeClr val="tx2"/>
              </a:solidFill>
            </a:endParaRPr>
          </a:p>
          <a:p>
            <a:r>
              <a:rPr lang="zh-TW" altLang="en-US" sz="1800" dirty="0">
                <a:solidFill>
                  <a:schemeClr val="tx2"/>
                </a:solidFill>
              </a:rPr>
              <a:t>表單內容說明：</a:t>
            </a:r>
            <a:endParaRPr lang="en-US" altLang="zh-TW" sz="1800" dirty="0">
              <a:solidFill>
                <a:schemeClr val="tx2"/>
              </a:solidFill>
            </a:endParaRPr>
          </a:p>
          <a:p>
            <a:endParaRPr lang="en-US" altLang="zh-TW" sz="1800" dirty="0">
              <a:solidFill>
                <a:schemeClr val="tx2"/>
              </a:solidFill>
            </a:endParaRPr>
          </a:p>
          <a:p>
            <a:endParaRPr lang="en-US" altLang="zh-TW" sz="1800" dirty="0">
              <a:solidFill>
                <a:schemeClr val="tx2"/>
              </a:solidFill>
            </a:endParaRPr>
          </a:p>
          <a:p>
            <a:endParaRPr lang="en-US" altLang="zh-TW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altLang="zh-TW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altLang="zh-TW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altLang="zh-TW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altLang="zh-TW" sz="1800" dirty="0">
              <a:solidFill>
                <a:schemeClr val="tx2"/>
              </a:solidFill>
            </a:endParaRPr>
          </a:p>
          <a:p>
            <a:r>
              <a:rPr lang="zh-TW" altLang="en-US" sz="1800" dirty="0">
                <a:solidFill>
                  <a:schemeClr val="tx2"/>
                </a:solidFill>
              </a:rPr>
              <a:t>流程：</a:t>
            </a:r>
            <a:endParaRPr lang="en-US" altLang="zh-TW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zh-TW" altLang="en-US" sz="1800" dirty="0">
                <a:solidFill>
                  <a:schemeClr val="tx2"/>
                </a:solidFill>
              </a:rPr>
              <a:t>  </a:t>
            </a:r>
            <a:endParaRPr lang="en-US" altLang="zh-TW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zh-TW" altLang="en-US" dirty="0"/>
              <a:t>                   </a:t>
            </a:r>
            <a:endParaRPr lang="en-US" altLang="zh-TW" dirty="0"/>
          </a:p>
        </p:txBody>
      </p:sp>
      <p:graphicFrame>
        <p:nvGraphicFramePr>
          <p:cNvPr id="5" name="資料庫圖表 4"/>
          <p:cNvGraphicFramePr/>
          <p:nvPr>
            <p:extLst>
              <p:ext uri="{D42A27DB-BD31-4B8C-83A1-F6EECF244321}">
                <p14:modId xmlns:p14="http://schemas.microsoft.com/office/powerpoint/2010/main" val="3926176541"/>
              </p:ext>
            </p:extLst>
          </p:nvPr>
        </p:nvGraphicFramePr>
        <p:xfrm>
          <a:off x="1480655" y="5170674"/>
          <a:ext cx="9800704" cy="1791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箭號: 五邊形 3">
            <a:extLst>
              <a:ext uri="{FF2B5EF4-FFF2-40B4-BE49-F238E27FC236}">
                <a16:creationId xmlns:a16="http://schemas.microsoft.com/office/drawing/2014/main" id="{CB982365-BE74-F9A5-4815-6E77D24607FD}"/>
              </a:ext>
            </a:extLst>
          </p:cNvPr>
          <p:cNvSpPr/>
          <p:nvPr/>
        </p:nvSpPr>
        <p:spPr>
          <a:xfrm>
            <a:off x="1" y="0"/>
            <a:ext cx="2714920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S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H</a:t>
            </a:r>
            <a:r>
              <a:rPr lang="zh-TW" altLang="en-US" sz="2800" b="1" dirty="0"/>
              <a:t> 郵 寄 單</a:t>
            </a:r>
          </a:p>
        </p:txBody>
      </p:sp>
      <p:sp>
        <p:nvSpPr>
          <p:cNvPr id="11" name="圓角矩形 10"/>
          <p:cNvSpPr/>
          <p:nvPr/>
        </p:nvSpPr>
        <p:spPr>
          <a:xfrm>
            <a:off x="6826629" y="800554"/>
            <a:ext cx="4332138" cy="78491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若郵寄單須修改或者取消寄件，可自行於郵寄單查詢頁面進行撤回重新申請。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8BBE5B18-A1A2-C78C-449F-5E24177030BF}"/>
              </a:ext>
            </a:extLst>
          </p:cNvPr>
          <p:cNvSpPr/>
          <p:nvPr/>
        </p:nvSpPr>
        <p:spPr>
          <a:xfrm>
            <a:off x="10791901" y="965501"/>
            <a:ext cx="1208387" cy="1090692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3" name="圖形 16" descr="長波浪髮型的女子">
            <a:extLst>
              <a:ext uri="{FF2B5EF4-FFF2-40B4-BE49-F238E27FC236}">
                <a16:creationId xmlns:a16="http://schemas.microsoft.com/office/drawing/2014/main" id="{AC9F717B-5B39-5381-EFAC-67FB1E70DDF8}"/>
              </a:ext>
            </a:extLst>
          </p:cNvPr>
          <p:cNvGrpSpPr/>
          <p:nvPr/>
        </p:nvGrpSpPr>
        <p:grpSpPr>
          <a:xfrm rot="400818" flipH="1">
            <a:off x="11018601" y="1049032"/>
            <a:ext cx="807743" cy="856927"/>
            <a:chOff x="10656614" y="1349483"/>
            <a:chExt cx="1099282" cy="1197076"/>
          </a:xfrm>
        </p:grpSpPr>
        <p:sp>
          <p:nvSpPr>
            <p:cNvPr id="14" name="手繪多邊形: 圖案 15">
              <a:extLst>
                <a:ext uri="{FF2B5EF4-FFF2-40B4-BE49-F238E27FC236}">
                  <a16:creationId xmlns:a16="http://schemas.microsoft.com/office/drawing/2014/main" id="{3A3456B2-C6DC-3CB8-1531-77EDEF90B32D}"/>
                </a:ext>
              </a:extLst>
            </p:cNvPr>
            <p:cNvSpPr/>
            <p:nvPr/>
          </p:nvSpPr>
          <p:spPr>
            <a:xfrm>
              <a:off x="10868735" y="1487002"/>
              <a:ext cx="839859" cy="877870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15" name="圖形 16" descr="長波浪髮型的女子">
              <a:extLst>
                <a:ext uri="{FF2B5EF4-FFF2-40B4-BE49-F238E27FC236}">
                  <a16:creationId xmlns:a16="http://schemas.microsoft.com/office/drawing/2014/main" id="{6E211EB6-B48D-826E-7C9B-1A12A39D9415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16" name="手繪多邊形: 圖案 17">
                <a:extLst>
                  <a:ext uri="{FF2B5EF4-FFF2-40B4-BE49-F238E27FC236}">
                    <a16:creationId xmlns:a16="http://schemas.microsoft.com/office/drawing/2014/main" id="{A6177360-0E12-5815-9DD7-562457343B4F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 dirty="0"/>
              </a:p>
            </p:txBody>
          </p:sp>
          <p:sp>
            <p:nvSpPr>
              <p:cNvPr id="17" name="手繪多邊形: 圖案 18">
                <a:extLst>
                  <a:ext uri="{FF2B5EF4-FFF2-40B4-BE49-F238E27FC236}">
                    <a16:creationId xmlns:a16="http://schemas.microsoft.com/office/drawing/2014/main" id="{F567FCB2-4664-DA18-3F2D-0195A167CCF5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18" name="圖形 21" descr="笑臉">
            <a:extLst>
              <a:ext uri="{FF2B5EF4-FFF2-40B4-BE49-F238E27FC236}">
                <a16:creationId xmlns:a16="http://schemas.microsoft.com/office/drawing/2014/main" id="{B11429A0-FD83-28EA-24CC-F7BB72CFD56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737482" flipH="1">
            <a:off x="11093412" y="1273709"/>
            <a:ext cx="433226" cy="44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9351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41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383178" y="926567"/>
            <a:ext cx="11530148" cy="5368573"/>
          </a:xfrm>
        </p:spPr>
        <p:txBody>
          <a:bodyPr>
            <a:normAutofit/>
          </a:bodyPr>
          <a:lstStyle/>
          <a:p>
            <a:r>
              <a:rPr lang="zh-TW" altLang="en-US" sz="1800" dirty="0">
                <a:solidFill>
                  <a:schemeClr val="tx2"/>
                </a:solidFill>
              </a:rPr>
              <a:t>若</a:t>
            </a:r>
            <a:r>
              <a:rPr lang="en-US" altLang="zh-TW" sz="1800" dirty="0">
                <a:solidFill>
                  <a:schemeClr val="tx2"/>
                </a:solidFill>
              </a:rPr>
              <a:t>N</a:t>
            </a:r>
            <a:r>
              <a:rPr lang="zh-TW" altLang="en-US" sz="1800" dirty="0">
                <a:solidFill>
                  <a:schemeClr val="tx2"/>
                </a:solidFill>
              </a:rPr>
              <a:t>筆預支單、申購單共用同張憑證，請於憑證上註記</a:t>
            </a:r>
            <a:r>
              <a:rPr lang="en-US" altLang="zh-TW" sz="1800" dirty="0">
                <a:solidFill>
                  <a:schemeClr val="tx2"/>
                </a:solidFill>
              </a:rPr>
              <a:t>N</a:t>
            </a:r>
            <a:r>
              <a:rPr lang="zh-TW" altLang="en-US" sz="1800" dirty="0">
                <a:solidFill>
                  <a:schemeClr val="tx2"/>
                </a:solidFill>
              </a:rPr>
              <a:t>筆單號，範例如下：</a:t>
            </a:r>
          </a:p>
        </p:txBody>
      </p:sp>
      <p:sp>
        <p:nvSpPr>
          <p:cNvPr id="11" name="箭號: 五邊形 3">
            <a:extLst>
              <a:ext uri="{FF2B5EF4-FFF2-40B4-BE49-F238E27FC236}">
                <a16:creationId xmlns:a16="http://schemas.microsoft.com/office/drawing/2014/main" id="{CB982365-BE74-F9A5-4815-6E77D24607FD}"/>
              </a:ext>
            </a:extLst>
          </p:cNvPr>
          <p:cNvSpPr/>
          <p:nvPr/>
        </p:nvSpPr>
        <p:spPr>
          <a:xfrm>
            <a:off x="1" y="0"/>
            <a:ext cx="3261674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/>
              <a:t>特 殊 範 例 </a:t>
            </a:r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37" y="3901816"/>
            <a:ext cx="4914637" cy="2710950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737" y="1244193"/>
            <a:ext cx="4914637" cy="2598927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8933" y="1272858"/>
            <a:ext cx="5011780" cy="3310610"/>
          </a:xfrm>
          <a:prstGeom prst="rect">
            <a:avLst/>
          </a:prstGeom>
        </p:spPr>
      </p:pic>
      <p:sp>
        <p:nvSpPr>
          <p:cNvPr id="9" name="圓角矩形圖說文字 8"/>
          <p:cNvSpPr/>
          <p:nvPr/>
        </p:nvSpPr>
        <p:spPr>
          <a:xfrm>
            <a:off x="9721667" y="481903"/>
            <a:ext cx="2177543" cy="820595"/>
          </a:xfrm>
          <a:prstGeom prst="wedgeRoundRectCallout">
            <a:avLst>
              <a:gd name="adj1" fmla="val -31940"/>
              <a:gd name="adj2" fmla="val 84483"/>
              <a:gd name="adj3" fmla="val 16667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1" dirty="0">
                <a:solidFill>
                  <a:schemeClr val="tx2"/>
                </a:solidFill>
                <a:latin typeface="+mj-ea"/>
                <a:ea typeface="+mj-ea"/>
              </a:rPr>
              <a:t>1</a:t>
            </a:r>
            <a:r>
              <a:rPr lang="zh-TW" altLang="en-US" sz="1400" b="1" dirty="0">
                <a:solidFill>
                  <a:schemeClr val="tx2"/>
                </a:solidFill>
                <a:latin typeface="+mj-ea"/>
                <a:ea typeface="+mj-ea"/>
              </a:rPr>
              <a:t>張發票上備註</a:t>
            </a:r>
            <a:r>
              <a:rPr lang="en-US" altLang="zh-TW" sz="1400" b="1" dirty="0">
                <a:solidFill>
                  <a:schemeClr val="tx2"/>
                </a:solidFill>
                <a:latin typeface="+mj-ea"/>
                <a:ea typeface="+mj-ea"/>
              </a:rPr>
              <a:t>2</a:t>
            </a:r>
            <a:r>
              <a:rPr lang="zh-TW" altLang="en-US" sz="1400" b="1" dirty="0">
                <a:solidFill>
                  <a:schemeClr val="tx2"/>
                </a:solidFill>
                <a:latin typeface="+mj-ea"/>
                <a:ea typeface="+mj-ea"/>
              </a:rPr>
              <a:t>個單號</a:t>
            </a:r>
            <a:endParaRPr lang="en-US" altLang="zh-TW" sz="1400" b="1" dirty="0">
              <a:solidFill>
                <a:schemeClr val="tx2"/>
              </a:solidFill>
              <a:latin typeface="+mj-ea"/>
              <a:ea typeface="+mj-ea"/>
            </a:endParaRPr>
          </a:p>
          <a:p>
            <a:r>
              <a:rPr lang="en-US" altLang="zh-TW" sz="1400" b="1" dirty="0">
                <a:solidFill>
                  <a:schemeClr val="tx2"/>
                </a:solidFill>
                <a:latin typeface="+mj-ea"/>
                <a:ea typeface="+mj-ea"/>
              </a:rPr>
              <a:t>1</a:t>
            </a:r>
            <a:r>
              <a:rPr lang="zh-TW" altLang="en-US" sz="1400" b="1" dirty="0">
                <a:solidFill>
                  <a:schemeClr val="tx2"/>
                </a:solidFill>
                <a:latin typeface="+mj-ea"/>
                <a:ea typeface="+mj-ea"/>
              </a:rPr>
              <a:t>萬元以上檢附報價單</a:t>
            </a:r>
          </a:p>
        </p:txBody>
      </p:sp>
      <p:sp>
        <p:nvSpPr>
          <p:cNvPr id="21" name="圓角矩形 20"/>
          <p:cNvSpPr/>
          <p:nvPr/>
        </p:nvSpPr>
        <p:spPr>
          <a:xfrm>
            <a:off x="5983651" y="4660517"/>
            <a:ext cx="3365368" cy="1952249"/>
          </a:xfrm>
          <a:prstGeom prst="roundRect">
            <a:avLst/>
          </a:prstGeom>
          <a:solidFill>
            <a:srgbClr val="FFCCCC"/>
          </a:solidFill>
          <a:ln>
            <a:solidFill>
              <a:srgbClr val="FF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2"/>
                </a:solidFill>
              </a:rPr>
              <a:t>PR23110000-$3000</a:t>
            </a:r>
            <a:r>
              <a:rPr lang="zh-TW" altLang="en-US" dirty="0">
                <a:solidFill>
                  <a:schemeClr val="tx2"/>
                </a:solidFill>
              </a:rPr>
              <a:t>訂金</a:t>
            </a:r>
            <a:endParaRPr lang="en-US" altLang="zh-TW" dirty="0">
              <a:solidFill>
                <a:schemeClr val="tx2"/>
              </a:solidFill>
            </a:endParaRPr>
          </a:p>
          <a:p>
            <a:pPr algn="ctr"/>
            <a:r>
              <a:rPr lang="en-US" altLang="zh-TW" dirty="0">
                <a:solidFill>
                  <a:schemeClr val="tx2"/>
                </a:solidFill>
              </a:rPr>
              <a:t>PR23111111-$9000</a:t>
            </a:r>
            <a:r>
              <a:rPr lang="zh-TW" altLang="en-US" dirty="0">
                <a:solidFill>
                  <a:schemeClr val="tx2"/>
                </a:solidFill>
              </a:rPr>
              <a:t>總金額</a:t>
            </a:r>
            <a:r>
              <a:rPr lang="en-US" altLang="zh-TW" dirty="0">
                <a:solidFill>
                  <a:schemeClr val="tx2"/>
                </a:solidFill>
              </a:rPr>
              <a:t>50%</a:t>
            </a:r>
          </a:p>
          <a:p>
            <a:pPr algn="ctr"/>
            <a:r>
              <a:rPr lang="en-US" altLang="zh-TW" dirty="0">
                <a:solidFill>
                  <a:schemeClr val="tx2"/>
                </a:solidFill>
              </a:rPr>
              <a:t>112</a:t>
            </a:r>
            <a:r>
              <a:rPr lang="zh-TW" altLang="en-US" dirty="0">
                <a:solidFill>
                  <a:schemeClr val="tx2"/>
                </a:solidFill>
              </a:rPr>
              <a:t>專案名稱</a:t>
            </a:r>
            <a:endParaRPr lang="en-US" altLang="zh-TW" dirty="0">
              <a:solidFill>
                <a:schemeClr val="tx2"/>
              </a:solidFill>
            </a:endParaRPr>
          </a:p>
          <a:p>
            <a:pPr algn="ctr"/>
            <a:r>
              <a:rPr lang="zh-TW" altLang="en-US" dirty="0">
                <a:solidFill>
                  <a:schemeClr val="tx2"/>
                </a:solidFill>
              </a:rPr>
              <a:t>侯大大</a:t>
            </a:r>
            <a:endParaRPr lang="zh-TW" altLang="en-US" dirty="0"/>
          </a:p>
        </p:txBody>
      </p:sp>
      <p:sp>
        <p:nvSpPr>
          <p:cNvPr id="23" name="圓角矩形 22"/>
          <p:cNvSpPr/>
          <p:nvPr/>
        </p:nvSpPr>
        <p:spPr>
          <a:xfrm>
            <a:off x="9442211" y="5986021"/>
            <a:ext cx="1653137" cy="467932"/>
          </a:xfrm>
          <a:prstGeom prst="roundRec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  <a:latin typeface="+mj-ea"/>
                <a:ea typeface="+mj-ea"/>
              </a:rPr>
              <a:t>便條紙示意圖</a:t>
            </a:r>
          </a:p>
        </p:txBody>
      </p:sp>
    </p:spTree>
    <p:extLst>
      <p:ext uri="{BB962C8B-B14F-4D97-AF65-F5344CB8AC3E}">
        <p14:creationId xmlns:p14="http://schemas.microsoft.com/office/powerpoint/2010/main" val="40123714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76B613D-1728-6A48-4919-E02A9E52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42</a:t>
            </a:fld>
            <a:endParaRPr lang="zh-TW" altLang="en-US"/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0602A58E-7467-F251-3412-FE5A71F425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1868072"/>
              </p:ext>
            </p:extLst>
          </p:nvPr>
        </p:nvGraphicFramePr>
        <p:xfrm>
          <a:off x="606669" y="1090248"/>
          <a:ext cx="10990386" cy="541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087">
                  <a:extLst>
                    <a:ext uri="{9D8B030D-6E8A-4147-A177-3AD203B41FA5}">
                      <a16:colId xmlns:a16="http://schemas.microsoft.com/office/drawing/2014/main" val="2213310906"/>
                    </a:ext>
                  </a:extLst>
                </a:gridCol>
                <a:gridCol w="3259901">
                  <a:extLst>
                    <a:ext uri="{9D8B030D-6E8A-4147-A177-3AD203B41FA5}">
                      <a16:colId xmlns:a16="http://schemas.microsoft.com/office/drawing/2014/main" val="3732891692"/>
                    </a:ext>
                  </a:extLst>
                </a:gridCol>
                <a:gridCol w="4782398">
                  <a:extLst>
                    <a:ext uri="{9D8B030D-6E8A-4147-A177-3AD203B41FA5}">
                      <a16:colId xmlns:a16="http://schemas.microsoft.com/office/drawing/2014/main" val="4041475455"/>
                    </a:ext>
                  </a:extLst>
                </a:gridCol>
              </a:tblGrid>
              <a:tr h="39753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問題分類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範例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可協助人員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498293"/>
                  </a:ext>
                </a:extLst>
              </a:tr>
              <a:tr h="397530"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800" dirty="0"/>
                        <a:t>專案相關、核銷相關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800" dirty="0"/>
                        <a:t>選項是否勾選兼職所得</a:t>
                      </a:r>
                      <a:r>
                        <a:rPr lang="en-US" altLang="zh-TW" sz="1800" dirty="0"/>
                        <a:t>?</a:t>
                      </a:r>
                      <a:endParaRPr lang="zh-TW" altLang="en-US" sz="18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/>
                        <a:t>專案</a:t>
                      </a:r>
                      <a:r>
                        <a:rPr lang="en-US" altLang="zh-TW" sz="1800" dirty="0"/>
                        <a:t>AC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5011582"/>
                  </a:ext>
                </a:extLst>
              </a:tr>
              <a:tr h="703323">
                <a:tc vMerge="1">
                  <a:txBody>
                    <a:bodyPr/>
                    <a:lstStyle/>
                    <a:p>
                      <a:r>
                        <a:rPr lang="zh-TW" altLang="en-US" dirty="0"/>
                        <a:t>核銷相關問題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800" dirty="0"/>
                        <a:t>辦理競賽活動及抽獎活動得獎者是否須辦理扣繳</a:t>
                      </a:r>
                      <a:r>
                        <a:rPr lang="en-US" altLang="zh-TW" sz="1800" dirty="0"/>
                        <a:t>?</a:t>
                      </a:r>
                      <a:endParaRPr lang="zh-TW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專案</a:t>
                      </a:r>
                      <a:r>
                        <a:rPr lang="en-US" altLang="zh-TW" dirty="0"/>
                        <a:t>AC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538755"/>
                  </a:ext>
                </a:extLst>
              </a:tr>
              <a:tr h="39753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800" dirty="0"/>
                        <a:t>專案廠商無法配合</a:t>
                      </a:r>
                      <a:r>
                        <a:rPr lang="en-US" altLang="zh-TW" sz="1800" dirty="0"/>
                        <a:t>60</a:t>
                      </a:r>
                      <a:r>
                        <a:rPr lang="zh-TW" altLang="en-US" sz="1800" dirty="0"/>
                        <a:t>日月結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專案</a:t>
                      </a:r>
                      <a:r>
                        <a:rPr lang="en-US" altLang="zh-TW" dirty="0"/>
                        <a:t>AC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9066748"/>
                  </a:ext>
                </a:extLst>
              </a:tr>
              <a:tr h="70332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/>
                        <a:t>出款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800" dirty="0"/>
                        <a:t>廠商詢問貨款哪時候撥款</a:t>
                      </a:r>
                      <a:r>
                        <a:rPr lang="en-US" altLang="zh-TW" sz="1800" dirty="0"/>
                        <a:t>?</a:t>
                      </a:r>
                      <a:r>
                        <a:rPr lang="zh-TW" altLang="en-US" sz="1800" dirty="0"/>
                        <a:t>預支單取款可否領取</a:t>
                      </a:r>
                      <a:r>
                        <a:rPr lang="en-US" altLang="zh-TW" sz="1800" dirty="0"/>
                        <a:t>?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/>
                        <a:t>出納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4120685"/>
                  </a:ext>
                </a:extLst>
              </a:tr>
              <a:tr h="162070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/>
                        <a:t>表單修改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800" dirty="0"/>
                        <a:t>表單有金額有誤，請問要找誰退給我修改</a:t>
                      </a:r>
                      <a:r>
                        <a:rPr lang="en-US" altLang="zh-TW" sz="1800" dirty="0"/>
                        <a:t>?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800" dirty="0"/>
                        <a:t>【</a:t>
                      </a:r>
                      <a:r>
                        <a:rPr lang="zh-TW" altLang="en-US" sz="1800" dirty="0"/>
                        <a:t>前提</a:t>
                      </a:r>
                      <a:r>
                        <a:rPr lang="en-US" altLang="zh-TW" sz="1800" dirty="0"/>
                        <a:t>】</a:t>
                      </a:r>
                      <a:r>
                        <a:rPr lang="zh-TW" altLang="en-US" sz="1800" dirty="0"/>
                        <a:t>該表單需尚未簽核完成才能退回修改，申請人可以看該表單目前簽核人員是誰，請對方協助退回修改。</a:t>
                      </a:r>
                      <a:endParaRPr lang="en-US" altLang="zh-TW" sz="1800" dirty="0"/>
                    </a:p>
                    <a:p>
                      <a:pPr algn="l"/>
                      <a:r>
                        <a:rPr lang="en-US" altLang="zh-TW" sz="1800" dirty="0"/>
                        <a:t>【</a:t>
                      </a:r>
                      <a:r>
                        <a:rPr lang="zh-TW" altLang="en-US" sz="1800" dirty="0"/>
                        <a:t>備註</a:t>
                      </a:r>
                      <a:r>
                        <a:rPr lang="en-US" altLang="zh-TW" sz="1800" dirty="0"/>
                        <a:t>】</a:t>
                      </a:r>
                      <a:r>
                        <a:rPr lang="zh-TW" altLang="en-US" sz="1800" dirty="0"/>
                        <a:t>預支單</a:t>
                      </a:r>
                      <a:r>
                        <a:rPr lang="en-US" altLang="zh-TW" sz="1800" dirty="0"/>
                        <a:t>/</a:t>
                      </a:r>
                      <a:r>
                        <a:rPr lang="zh-TW" altLang="en-US" sz="1800" dirty="0"/>
                        <a:t>申購單</a:t>
                      </a:r>
                      <a:r>
                        <a:rPr lang="en-US" altLang="zh-TW" sz="1800" dirty="0"/>
                        <a:t>/</a:t>
                      </a:r>
                      <a:r>
                        <a:rPr lang="zh-TW" altLang="en-US" sz="1800" dirty="0"/>
                        <a:t>電信單</a:t>
                      </a:r>
                      <a:r>
                        <a:rPr lang="en-US" altLang="zh-TW" sz="1800" dirty="0"/>
                        <a:t>/</a:t>
                      </a:r>
                      <a:r>
                        <a:rPr lang="zh-TW" altLang="en-US" sz="1800" dirty="0"/>
                        <a:t>差旅單可退回修改，請購單只能註銷重新申請。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487455"/>
                  </a:ext>
                </a:extLst>
              </a:tr>
              <a:tr h="70332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/>
                        <a:t>憑證類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800" dirty="0"/>
                        <a:t>憑證內容有誤、需要重開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/>
                        <a:t>憑證檢核員</a:t>
                      </a:r>
                      <a:r>
                        <a:rPr lang="en-US" altLang="zh-TW" sz="1800" dirty="0"/>
                        <a:t>(</a:t>
                      </a:r>
                      <a:r>
                        <a:rPr lang="zh-TW" altLang="en-US" sz="1800" dirty="0"/>
                        <a:t>筑婷</a:t>
                      </a:r>
                      <a:r>
                        <a:rPr lang="en-US" altLang="zh-TW" sz="1800" dirty="0"/>
                        <a:t>)</a:t>
                      </a:r>
                      <a:r>
                        <a:rPr lang="zh-TW" altLang="en-US" sz="1800" dirty="0"/>
                        <a:t>：表單簽核完成前</a:t>
                      </a:r>
                      <a:endParaRPr lang="en-US" altLang="zh-TW" sz="1800" dirty="0"/>
                    </a:p>
                    <a:p>
                      <a:pPr algn="l"/>
                      <a:r>
                        <a:rPr lang="zh-TW" altLang="en-US" sz="1800" dirty="0"/>
                        <a:t>專案</a:t>
                      </a:r>
                      <a:r>
                        <a:rPr lang="en-US" altLang="zh-TW" sz="1800" dirty="0"/>
                        <a:t>AC</a:t>
                      </a:r>
                      <a:r>
                        <a:rPr lang="zh-TW" altLang="en-US" sz="1800" dirty="0"/>
                        <a:t>：表單簽核完成後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9590760"/>
                  </a:ext>
                </a:extLst>
              </a:tr>
              <a:tr h="4936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/>
                        <a:t>系統問題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800" dirty="0"/>
                        <a:t>非人為使用錯誤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/>
                        <a:t>請洽</a:t>
                      </a:r>
                      <a:r>
                        <a:rPr lang="en-US" altLang="zh-TW" sz="1800" dirty="0"/>
                        <a:t>IT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5372753"/>
                  </a:ext>
                </a:extLst>
              </a:tr>
            </a:tbl>
          </a:graphicData>
        </a:graphic>
      </p:graphicFrame>
      <p:sp>
        <p:nvSpPr>
          <p:cNvPr id="7" name="箭號: 五邊形 3">
            <a:extLst>
              <a:ext uri="{FF2B5EF4-FFF2-40B4-BE49-F238E27FC236}">
                <a16:creationId xmlns:a16="http://schemas.microsoft.com/office/drawing/2014/main" id="{CB982365-BE74-F9A5-4815-6E77D24607FD}"/>
              </a:ext>
            </a:extLst>
          </p:cNvPr>
          <p:cNvSpPr/>
          <p:nvPr/>
        </p:nvSpPr>
        <p:spPr>
          <a:xfrm>
            <a:off x="1" y="0"/>
            <a:ext cx="3261674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/>
              <a:t>協 助 窗 口</a:t>
            </a:r>
          </a:p>
        </p:txBody>
      </p:sp>
    </p:spTree>
    <p:extLst>
      <p:ext uri="{BB962C8B-B14F-4D97-AF65-F5344CB8AC3E}">
        <p14:creationId xmlns:p14="http://schemas.microsoft.com/office/powerpoint/2010/main" val="29465272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心形 23"/>
          <p:cNvSpPr/>
          <p:nvPr/>
        </p:nvSpPr>
        <p:spPr>
          <a:xfrm rot="19427502">
            <a:off x="8965804" y="2960944"/>
            <a:ext cx="309668" cy="265461"/>
          </a:xfrm>
          <a:prstGeom prst="hear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心形 22"/>
          <p:cNvSpPr/>
          <p:nvPr/>
        </p:nvSpPr>
        <p:spPr>
          <a:xfrm rot="20480758">
            <a:off x="8742952" y="2960945"/>
            <a:ext cx="309668" cy="265461"/>
          </a:xfrm>
          <a:prstGeom prst="hear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表單進階版篇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43</a:t>
            </a:fld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>
          <a:xfrm>
            <a:off x="994398" y="3578581"/>
            <a:ext cx="10515600" cy="1500187"/>
          </a:xfrm>
        </p:spPr>
        <p:txBody>
          <a:bodyPr/>
          <a:lstStyle/>
          <a:p>
            <a:r>
              <a:rPr lang="zh-TW" altLang="en-US" dirty="0"/>
              <a:t>預支外幣需求、國外匯款、定存單</a:t>
            </a:r>
            <a:r>
              <a:rPr lang="en-US" altLang="zh-TW" dirty="0"/>
              <a:t>(</a:t>
            </a:r>
            <a:r>
              <a:rPr lang="zh-TW" altLang="en-US" dirty="0">
                <a:solidFill>
                  <a:schemeClr val="accent2"/>
                </a:solidFill>
              </a:rPr>
              <a:t>秘書限定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8" name="圖形 4" descr="波浪髮型的男孩">
            <a:extLst>
              <a:ext uri="{FF2B5EF4-FFF2-40B4-BE49-F238E27FC236}">
                <a16:creationId xmlns:a16="http://schemas.microsoft.com/office/drawing/2014/main" id="{D05FC809-9A2C-981B-FCBE-A146D7A22E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44742" y="2402120"/>
            <a:ext cx="947347" cy="1127794"/>
          </a:xfrm>
          <a:prstGeom prst="rect">
            <a:avLst/>
          </a:prstGeom>
        </p:spPr>
      </p:pic>
      <p:pic>
        <p:nvPicPr>
          <p:cNvPr id="9" name="圖形 6" descr="笑臉">
            <a:extLst>
              <a:ext uri="{FF2B5EF4-FFF2-40B4-BE49-F238E27FC236}">
                <a16:creationId xmlns:a16="http://schemas.microsoft.com/office/drawing/2014/main" id="{11B04504-47B6-0118-E5D7-BB9DAAC6A9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20291" y="2903566"/>
            <a:ext cx="451905" cy="466027"/>
          </a:xfrm>
          <a:prstGeom prst="rect">
            <a:avLst/>
          </a:prstGeom>
        </p:spPr>
      </p:pic>
      <p:grpSp>
        <p:nvGrpSpPr>
          <p:cNvPr id="10" name="圖形 16" descr="長波浪髮型的女子">
            <a:extLst>
              <a:ext uri="{FF2B5EF4-FFF2-40B4-BE49-F238E27FC236}">
                <a16:creationId xmlns:a16="http://schemas.microsoft.com/office/drawing/2014/main" id="{F293AB6E-4B30-77EE-6973-404F1CDFC8D7}"/>
              </a:ext>
            </a:extLst>
          </p:cNvPr>
          <p:cNvGrpSpPr/>
          <p:nvPr/>
        </p:nvGrpSpPr>
        <p:grpSpPr>
          <a:xfrm flipH="1">
            <a:off x="8657425" y="2377785"/>
            <a:ext cx="1010543" cy="1156277"/>
            <a:chOff x="10656614" y="1349483"/>
            <a:chExt cx="1099282" cy="1197076"/>
          </a:xfrm>
        </p:grpSpPr>
        <p:sp>
          <p:nvSpPr>
            <p:cNvPr id="11" name="手繪多邊形: 圖案 20">
              <a:extLst>
                <a:ext uri="{FF2B5EF4-FFF2-40B4-BE49-F238E27FC236}">
                  <a16:creationId xmlns:a16="http://schemas.microsoft.com/office/drawing/2014/main" id="{A7FBDE01-2A92-9FB0-4E12-CA7A09FD8682}"/>
                </a:ext>
              </a:extLst>
            </p:cNvPr>
            <p:cNvSpPr/>
            <p:nvPr/>
          </p:nvSpPr>
          <p:spPr>
            <a:xfrm>
              <a:off x="10868733" y="1487001"/>
              <a:ext cx="839859" cy="877869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12" name="圖形 16" descr="長波浪髮型的女子">
              <a:extLst>
                <a:ext uri="{FF2B5EF4-FFF2-40B4-BE49-F238E27FC236}">
                  <a16:creationId xmlns:a16="http://schemas.microsoft.com/office/drawing/2014/main" id="{6A4E15BD-18E2-2EDB-D994-E4A80C1490FD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13" name="手繪多邊形: 圖案 22">
                <a:extLst>
                  <a:ext uri="{FF2B5EF4-FFF2-40B4-BE49-F238E27FC236}">
                    <a16:creationId xmlns:a16="http://schemas.microsoft.com/office/drawing/2014/main" id="{13D77C8E-23D3-6218-4409-E0153D125F3D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4" name="手繪多邊形: 圖案 23">
                <a:extLst>
                  <a:ext uri="{FF2B5EF4-FFF2-40B4-BE49-F238E27FC236}">
                    <a16:creationId xmlns:a16="http://schemas.microsoft.com/office/drawing/2014/main" id="{90635041-976E-1ECA-878E-B80A0527F07E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15" name="圖形 26" descr="笑臉">
            <a:extLst>
              <a:ext uri="{FF2B5EF4-FFF2-40B4-BE49-F238E27FC236}">
                <a16:creationId xmlns:a16="http://schemas.microsoft.com/office/drawing/2014/main" id="{0128FB23-39F3-DBB3-C499-38729E8D890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8700910" y="2725866"/>
            <a:ext cx="506835" cy="522674"/>
          </a:xfrm>
          <a:prstGeom prst="rect">
            <a:avLst/>
          </a:prstGeom>
        </p:spPr>
      </p:pic>
      <p:sp>
        <p:nvSpPr>
          <p:cNvPr id="17" name="橢圓形圖說文字 16"/>
          <p:cNvSpPr/>
          <p:nvPr/>
        </p:nvSpPr>
        <p:spPr>
          <a:xfrm rot="21426710">
            <a:off x="3345733" y="1249021"/>
            <a:ext cx="2056576" cy="1056634"/>
          </a:xfrm>
          <a:prstGeom prst="wedgeEllipseCallout">
            <a:avLst>
              <a:gd name="adj1" fmla="val -37411"/>
              <a:gd name="adj2" fmla="val 48805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哇</a:t>
            </a:r>
            <a:r>
              <a:rPr lang="en-US" altLang="zh-TW" b="1" dirty="0">
                <a:solidFill>
                  <a:schemeClr val="tx2"/>
                </a:solidFill>
              </a:rPr>
              <a:t>~</a:t>
            </a:r>
            <a:r>
              <a:rPr lang="zh-TW" altLang="en-US" b="1" dirty="0">
                <a:solidFill>
                  <a:schemeClr val="tx2"/>
                </a:solidFill>
              </a:rPr>
              <a:t>好有趣我想學更多！</a:t>
            </a:r>
          </a:p>
        </p:txBody>
      </p:sp>
      <p:sp>
        <p:nvSpPr>
          <p:cNvPr id="18" name="橢圓形圖說文字 17"/>
          <p:cNvSpPr/>
          <p:nvPr/>
        </p:nvSpPr>
        <p:spPr>
          <a:xfrm rot="21315763">
            <a:off x="9906639" y="2323880"/>
            <a:ext cx="1600918" cy="1577068"/>
          </a:xfrm>
          <a:prstGeom prst="wedgeEllipseCallout">
            <a:avLst>
              <a:gd name="adj1" fmla="val -55328"/>
              <a:gd name="adj2" fmla="val -27292"/>
            </a:avLst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  <a:latin typeface="+mj-ea"/>
              </a:rPr>
              <a:t>這部分若有問題可以詢問出納唷</a:t>
            </a:r>
            <a:r>
              <a:rPr lang="en-US" altLang="zh-TW" b="1" dirty="0">
                <a:solidFill>
                  <a:schemeClr val="tx2"/>
                </a:solidFill>
                <a:latin typeface="+mj-ea"/>
              </a:rPr>
              <a:t>!</a:t>
            </a:r>
            <a:endParaRPr lang="zh-TW" altLang="en-US" b="1" dirty="0">
              <a:solidFill>
                <a:schemeClr val="tx2"/>
              </a:solidFill>
              <a:latin typeface="+mj-ea"/>
            </a:endParaRPr>
          </a:p>
        </p:txBody>
      </p:sp>
      <p:sp>
        <p:nvSpPr>
          <p:cNvPr id="19" name="心形 18"/>
          <p:cNvSpPr/>
          <p:nvPr/>
        </p:nvSpPr>
        <p:spPr>
          <a:xfrm rot="1128580">
            <a:off x="10893294" y="3421516"/>
            <a:ext cx="309668" cy="265461"/>
          </a:xfrm>
          <a:prstGeom prst="hear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心形 19"/>
          <p:cNvSpPr/>
          <p:nvPr/>
        </p:nvSpPr>
        <p:spPr>
          <a:xfrm rot="874942">
            <a:off x="5080213" y="1960296"/>
            <a:ext cx="309668" cy="265461"/>
          </a:xfrm>
          <a:prstGeom prst="hear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4984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4.07407E-6 L 3.125E-6 0.00023 C -0.00131 0.00416 -0.00222 0.00879 -0.00391 0.0125 C -0.00443 0.01365 -0.00547 0.01319 -0.00625 0.01388 C -0.01354 0.02037 -0.00131 0.01226 -0.01315 0.01944 C -0.01914 0.01898 -0.02513 0.01944 -0.03099 0.01805 C -0.03229 0.01759 -0.03295 0.01481 -0.03412 0.01388 C -0.03529 0.01296 -0.03672 0.01296 -0.03789 0.0125 C -0.03867 0.01134 -0.04545 0.00277 -0.04727 -0.00139 C -0.04818 -0.00348 -0.04883 -0.00579 -0.04948 -0.00811 C -0.04974 -0.00996 -0.05052 -0.01574 -0.05104 -0.01783 C -0.05157 -0.01922 -0.05209 -0.02061 -0.05261 -0.02199 C -0.05339 -0.03426 -0.05456 -0.04051 -0.05104 -0.05348 C -0.05039 -0.05602 -0.04857 -0.05672 -0.04727 -0.05764 C -0.04519 -0.05903 -0.04102 -0.06042 -0.04102 -0.06019 C -0.04024 -0.06135 -0.03959 -0.06274 -0.03867 -0.0632 C -0.0319 -0.06574 -0.03073 -0.06459 -0.02474 -0.0632 C -0.02318 -0.05463 -0.0224 -0.05463 -0.02409 -0.04537 C -0.02435 -0.04375 -0.02474 -0.04213 -0.02552 -0.04121 C -0.02644 -0.04005 -0.02761 -0.04028 -0.02865 -0.03982 C -0.02943 -0.03843 -0.02995 -0.03658 -0.03099 -0.03565 C -0.03216 -0.03473 -0.0336 -0.03496 -0.0349 -0.03426 C -0.03672 -0.03357 -0.03841 -0.03241 -0.04024 -0.03149 C -0.04883 -0.03195 -0.05729 -0.03218 -0.06576 -0.03287 C -0.06654 -0.03311 -0.06732 -0.0338 -0.0681 -0.03426 C -0.07227 -0.0375 -0.07123 -0.03774 -0.07578 -0.0426 C -0.08021 -0.04723 -0.07787 -0.04306 -0.08203 -0.04954 C -0.08451 -0.05324 -0.08607 -0.05741 -0.08815 -0.06181 C -0.08894 -0.0632 -0.08972 -0.06459 -0.0905 -0.06598 C -0.09076 -0.06783 -0.09089 -0.06968 -0.09128 -0.07153 C -0.09219 -0.07616 -0.0944 -0.08519 -0.0944 -0.08496 C -0.09388 -0.09491 -0.09349 -0.1044 -0.09284 -0.11412 C -0.09271 -0.11551 -0.09245 -0.1169 -0.09206 -0.11829 C -0.09141 -0.12014 -0.0905 -0.12176 -0.08972 -0.12362 C -0.08867 -0.12639 -0.08711 -0.13102 -0.08594 -0.13334 C -0.08516 -0.13449 -0.08425 -0.13496 -0.0836 -0.13612 C -0.08164 -0.13866 -0.08008 -0.14167 -0.07813 -0.14422 C -0.0767 -0.1463 -0.07539 -0.14908 -0.07357 -0.14977 C -0.07084 -0.1507 -0.06914 -0.15139 -0.06654 -0.15255 C -0.06394 -0.15394 -0.06133 -0.15533 -0.05886 -0.15672 C -0.05808 -0.15718 -0.05729 -0.15764 -0.05651 -0.15811 C -0.04974 -0.16158 -0.05664 -0.15764 -0.05104 -0.16088 C -0.05026 -0.16042 -0.0487 -0.16088 -0.04883 -0.15949 C -0.04961 -0.14306 -0.05 -0.13264 -0.05573 -0.12223 C -0.05742 -0.11922 -0.06068 -0.11621 -0.06263 -0.11412 C -0.06641 -0.10996 -0.06381 -0.11204 -0.06888 -0.10857 C -0.07487 -0.10463 -0.06693 -0.11019 -0.07422 -0.10579 C -0.07644 -0.10463 -0.07839 -0.10278 -0.08047 -0.10162 C -0.08529 -0.09954 -0.09519 -0.0963 -0.09519 -0.09607 C -0.10365 -0.09676 -0.11211 -0.09676 -0.12071 -0.09746 C -0.12149 -0.09769 -0.12227 -0.09838 -0.12305 -0.09885 C -0.12591 -0.10139 -0.12891 -0.10371 -0.13151 -0.10718 C -0.13282 -0.10903 -0.13425 -0.11065 -0.13542 -0.11274 C -0.13633 -0.11436 -0.13685 -0.11644 -0.13763 -0.11829 C -0.13841 -0.11968 -0.1392 -0.12084 -0.13998 -0.12223 C -0.14063 -0.12547 -0.14232 -0.13357 -0.14232 -0.1375 C -0.14232 -0.14931 -0.14193 -0.16135 -0.14154 -0.17315 C -0.14141 -0.175 -0.14128 -0.17709 -0.14076 -0.17871 C -0.14024 -0.18033 -0.1392 -0.18125 -0.13841 -0.18287 C -0.13763 -0.18449 -0.13698 -0.18681 -0.13607 -0.18843 C -0.13425 -0.19167 -0.13373 -0.19074 -0.13151 -0.19237 C -0.12422 -0.19815 -0.12969 -0.19584 -0.12227 -0.19792 C -0.11992 -0.19746 -0.11667 -0.19977 -0.11524 -0.19653 C -0.11381 -0.19329 -0.11511 -0.18797 -0.11602 -0.18426 C -0.11654 -0.18218 -0.1181 -0.18149 -0.11914 -0.1801 C -0.12071 -0.17824 -0.12227 -0.17639 -0.1237 -0.17454 C -0.12631 -0.1676 -0.12448 -0.1713 -0.12995 -0.16505 C -0.13073 -0.16412 -0.13138 -0.16274 -0.13229 -0.16227 L -0.13685 -0.15949 L -0.1392 -0.15811 C -0.14414 -0.15857 -0.14909 -0.1588 -0.15391 -0.15949 C -0.15495 -0.15973 -0.15599 -0.15996 -0.15703 -0.16088 C -0.15821 -0.16181 -0.15899 -0.16366 -0.16016 -0.16505 C -0.16107 -0.16598 -0.16211 -0.16667 -0.16315 -0.1676 C -0.16394 -0.16945 -0.16472 -0.17153 -0.1655 -0.17315 C -0.16628 -0.17477 -0.16719 -0.1757 -0.16784 -0.17732 C -0.16823 -0.17848 -0.16823 -0.1801 -0.16862 -0.18149 C -0.16901 -0.18287 -0.16979 -0.18403 -0.17019 -0.18565 C -0.1711 -0.18959 -0.17253 -0.19792 -0.17253 -0.19769 C -0.17227 -0.20162 -0.17253 -0.20556 -0.17175 -0.20903 C -0.17097 -0.21204 -0.16784 -0.21528 -0.16628 -0.21713 C -0.1668 -0.21574 -0.16706 -0.21412 -0.16784 -0.2132 C -0.16849 -0.21227 -0.1694 -0.21227 -0.17019 -0.21181 C -0.17097 -0.21088 -0.17175 -0.20996 -0.17253 -0.20903 C -0.17578 -0.20996 -0.1793 -0.20996 -0.18256 -0.21181 C -0.18399 -0.2125 -0.18542 -0.21806 -0.18633 -0.21991 C -0.18711 -0.22153 -0.18802 -0.22269 -0.18867 -0.22408 C -0.18959 -0.22616 -0.19141 -0.23149 -0.1918 -0.2338 C -0.19193 -0.23449 -0.1918 -0.23565 -0.1918 -0.23635 L -0.1918 -0.23612 " pathEditMode="relative" rAng="0" ptsTypes="AAAAAAAAAAAAAAAAAAAAAAAAAAAAAAAAAAAAAAAAAAAAAAAAAAAAAAAAAAAAAAAAAAAAAAAAAAAAAAAAAAAAAAAAAA">
                                      <p:cBhvr>
                                        <p:cTn id="3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596" y="-10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圓角矩形 15"/>
          <p:cNvSpPr/>
          <p:nvPr/>
        </p:nvSpPr>
        <p:spPr>
          <a:xfrm>
            <a:off x="1177728" y="5223660"/>
            <a:ext cx="4578917" cy="100031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出納於外幣領回後會</a:t>
            </a:r>
            <a:r>
              <a:rPr lang="en-US" altLang="zh-TW" b="1" dirty="0">
                <a:solidFill>
                  <a:schemeClr val="tx2"/>
                </a:solidFill>
              </a:rPr>
              <a:t>mail</a:t>
            </a:r>
            <a:r>
              <a:rPr lang="zh-TW" altLang="en-US" b="1" dirty="0">
                <a:solidFill>
                  <a:schemeClr val="tx2"/>
                </a:solidFill>
              </a:rPr>
              <a:t>通知該次換匯匯率</a:t>
            </a:r>
            <a:endParaRPr lang="en-US" altLang="zh-TW" b="1" dirty="0">
              <a:solidFill>
                <a:schemeClr val="tx2"/>
              </a:solidFill>
            </a:endParaRPr>
          </a:p>
          <a:p>
            <a:r>
              <a:rPr lang="zh-TW" altLang="en-US" b="1" dirty="0">
                <a:solidFill>
                  <a:schemeClr val="tx2"/>
                </a:solidFill>
              </a:rPr>
              <a:t>，並告知預支繳回注意事項。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44</a:t>
            </a:fld>
            <a:endParaRPr lang="zh-TW" altLang="en-US"/>
          </a:p>
        </p:txBody>
      </p:sp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DDCC83B3-9BB3-214A-9AE7-C94740C4AAC6}"/>
              </a:ext>
            </a:extLst>
          </p:cNvPr>
          <p:cNvSpPr/>
          <p:nvPr/>
        </p:nvSpPr>
        <p:spPr>
          <a:xfrm>
            <a:off x="0" y="1"/>
            <a:ext cx="5598368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R</a:t>
            </a:r>
            <a:r>
              <a:rPr lang="zh-TW" altLang="en-US" sz="2800" b="1" dirty="0"/>
              <a:t> 預 支 單 </a:t>
            </a:r>
            <a:r>
              <a:rPr lang="en-US" altLang="zh-TW" sz="2800" b="1" dirty="0"/>
              <a:t>-</a:t>
            </a:r>
            <a:r>
              <a:rPr lang="zh-TW" altLang="en-US" sz="2800" b="1" dirty="0"/>
              <a:t> 範 例 ： 外 幣 需 求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98" y="1112772"/>
            <a:ext cx="6991350" cy="3419475"/>
          </a:xfrm>
          <a:prstGeom prst="rect">
            <a:avLst/>
          </a:prstGeom>
        </p:spPr>
      </p:pic>
      <p:sp>
        <p:nvSpPr>
          <p:cNvPr id="6" name="向左箭號圖說文字 5"/>
          <p:cNvSpPr/>
          <p:nvPr/>
        </p:nvSpPr>
        <p:spPr>
          <a:xfrm>
            <a:off x="7272115" y="2181920"/>
            <a:ext cx="3346891" cy="1133668"/>
          </a:xfrm>
          <a:prstGeom prst="leftArrowCallout">
            <a:avLst>
              <a:gd name="adj1" fmla="val 15123"/>
              <a:gd name="adj2" fmla="val 25000"/>
              <a:gd name="adj3" fmla="val 25000"/>
              <a:gd name="adj4" fmla="val 82944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提供需求的外幣金額，並參考台灣銀行當天即期賣出匯率換算成預支金額。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896" y="3540477"/>
            <a:ext cx="5678499" cy="3188154"/>
          </a:xfrm>
          <a:prstGeom prst="rect">
            <a:avLst/>
          </a:prstGeom>
        </p:spPr>
      </p:pic>
      <p:sp>
        <p:nvSpPr>
          <p:cNvPr id="9" name="橢圓 8">
            <a:extLst>
              <a:ext uri="{FF2B5EF4-FFF2-40B4-BE49-F238E27FC236}">
                <a16:creationId xmlns:a16="http://schemas.microsoft.com/office/drawing/2014/main" id="{8BBE5B18-A1A2-C78C-449F-5E24177030BF}"/>
              </a:ext>
            </a:extLst>
          </p:cNvPr>
          <p:cNvSpPr/>
          <p:nvPr/>
        </p:nvSpPr>
        <p:spPr>
          <a:xfrm>
            <a:off x="172212" y="4686594"/>
            <a:ext cx="1208387" cy="1090692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0" name="圖形 16" descr="長波浪髮型的女子">
            <a:extLst>
              <a:ext uri="{FF2B5EF4-FFF2-40B4-BE49-F238E27FC236}">
                <a16:creationId xmlns:a16="http://schemas.microsoft.com/office/drawing/2014/main" id="{AC9F717B-5B39-5381-EFAC-67FB1E70DDF8}"/>
              </a:ext>
            </a:extLst>
          </p:cNvPr>
          <p:cNvGrpSpPr/>
          <p:nvPr/>
        </p:nvGrpSpPr>
        <p:grpSpPr>
          <a:xfrm rot="21199182">
            <a:off x="372534" y="4803476"/>
            <a:ext cx="807743" cy="856927"/>
            <a:chOff x="10656614" y="1349483"/>
            <a:chExt cx="1099282" cy="1197076"/>
          </a:xfrm>
        </p:grpSpPr>
        <p:sp>
          <p:nvSpPr>
            <p:cNvPr id="11" name="手繪多邊形: 圖案 15">
              <a:extLst>
                <a:ext uri="{FF2B5EF4-FFF2-40B4-BE49-F238E27FC236}">
                  <a16:creationId xmlns:a16="http://schemas.microsoft.com/office/drawing/2014/main" id="{3A3456B2-C6DC-3CB8-1531-77EDEF90B32D}"/>
                </a:ext>
              </a:extLst>
            </p:cNvPr>
            <p:cNvSpPr/>
            <p:nvPr/>
          </p:nvSpPr>
          <p:spPr>
            <a:xfrm>
              <a:off x="10868735" y="1487002"/>
              <a:ext cx="839859" cy="877870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12" name="圖形 16" descr="長波浪髮型的女子">
              <a:extLst>
                <a:ext uri="{FF2B5EF4-FFF2-40B4-BE49-F238E27FC236}">
                  <a16:creationId xmlns:a16="http://schemas.microsoft.com/office/drawing/2014/main" id="{6E211EB6-B48D-826E-7C9B-1A12A39D9415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13" name="手繪多邊形: 圖案 17">
                <a:extLst>
                  <a:ext uri="{FF2B5EF4-FFF2-40B4-BE49-F238E27FC236}">
                    <a16:creationId xmlns:a16="http://schemas.microsoft.com/office/drawing/2014/main" id="{A6177360-0E12-5815-9DD7-562457343B4F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 dirty="0"/>
              </a:p>
            </p:txBody>
          </p:sp>
          <p:sp>
            <p:nvSpPr>
              <p:cNvPr id="14" name="手繪多邊形: 圖案 18">
                <a:extLst>
                  <a:ext uri="{FF2B5EF4-FFF2-40B4-BE49-F238E27FC236}">
                    <a16:creationId xmlns:a16="http://schemas.microsoft.com/office/drawing/2014/main" id="{F567FCB2-4664-DA18-3F2D-0195A167CCF5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15" name="圖形 21" descr="笑臉">
            <a:extLst>
              <a:ext uri="{FF2B5EF4-FFF2-40B4-BE49-F238E27FC236}">
                <a16:creationId xmlns:a16="http://schemas.microsoft.com/office/drawing/2014/main" id="{B11429A0-FD83-28EA-24CC-F7BB72CFD5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862518">
            <a:off x="693838" y="5038806"/>
            <a:ext cx="433226" cy="44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851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圓角矩形 12"/>
          <p:cNvSpPr/>
          <p:nvPr/>
        </p:nvSpPr>
        <p:spPr>
          <a:xfrm>
            <a:off x="1262981" y="1044581"/>
            <a:ext cx="3475274" cy="78933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核銷說明請依照出納</a:t>
            </a:r>
            <a:r>
              <a:rPr lang="en-US" altLang="zh-TW" b="1" dirty="0">
                <a:solidFill>
                  <a:schemeClr val="tx2"/>
                </a:solidFill>
              </a:rPr>
              <a:t>mail</a:t>
            </a:r>
            <a:r>
              <a:rPr lang="zh-TW" altLang="en-US" b="1" dirty="0">
                <a:solidFill>
                  <a:schemeClr val="tx2"/>
                </a:solidFill>
              </a:rPr>
              <a:t>為主。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059" y="506058"/>
            <a:ext cx="6245200" cy="6222573"/>
          </a:xfrm>
          <a:prstGeom prst="rect">
            <a:avLst/>
          </a:prstGeom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45</a:t>
            </a:fld>
            <a:endParaRPr lang="zh-TW" altLang="en-US"/>
          </a:p>
        </p:txBody>
      </p:sp>
      <p:sp>
        <p:nvSpPr>
          <p:cNvPr id="4" name="箭號: 五邊形 2">
            <a:extLst>
              <a:ext uri="{FF2B5EF4-FFF2-40B4-BE49-F238E27FC236}">
                <a16:creationId xmlns:a16="http://schemas.microsoft.com/office/drawing/2014/main" id="{DDCC83B3-9BB3-214A-9AE7-C94740C4AAC6}"/>
              </a:ext>
            </a:extLst>
          </p:cNvPr>
          <p:cNvSpPr/>
          <p:nvPr/>
        </p:nvSpPr>
        <p:spPr>
          <a:xfrm>
            <a:off x="0" y="1"/>
            <a:ext cx="5598368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R</a:t>
            </a:r>
            <a:r>
              <a:rPr lang="zh-TW" altLang="en-US" sz="2800" b="1" dirty="0"/>
              <a:t> 預 支 單 核 銷 </a:t>
            </a:r>
            <a:r>
              <a:rPr lang="en-US" altLang="zh-TW" sz="2800" b="1" dirty="0"/>
              <a:t>-</a:t>
            </a:r>
            <a:r>
              <a:rPr lang="zh-TW" altLang="en-US" sz="2800" b="1" dirty="0"/>
              <a:t> 外 幣 需 求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8BBE5B18-A1A2-C78C-449F-5E24177030BF}"/>
              </a:ext>
            </a:extLst>
          </p:cNvPr>
          <p:cNvSpPr/>
          <p:nvPr/>
        </p:nvSpPr>
        <p:spPr>
          <a:xfrm>
            <a:off x="161533" y="872002"/>
            <a:ext cx="1208387" cy="1090692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7" name="圖形 16" descr="長波浪髮型的女子">
            <a:extLst>
              <a:ext uri="{FF2B5EF4-FFF2-40B4-BE49-F238E27FC236}">
                <a16:creationId xmlns:a16="http://schemas.microsoft.com/office/drawing/2014/main" id="{AC9F717B-5B39-5381-EFAC-67FB1E70DDF8}"/>
              </a:ext>
            </a:extLst>
          </p:cNvPr>
          <p:cNvGrpSpPr/>
          <p:nvPr/>
        </p:nvGrpSpPr>
        <p:grpSpPr>
          <a:xfrm rot="21199182">
            <a:off x="361854" y="979784"/>
            <a:ext cx="807743" cy="856927"/>
            <a:chOff x="10656614" y="1349483"/>
            <a:chExt cx="1099282" cy="1197076"/>
          </a:xfrm>
        </p:grpSpPr>
        <p:sp>
          <p:nvSpPr>
            <p:cNvPr id="8" name="手繪多邊形: 圖案 15">
              <a:extLst>
                <a:ext uri="{FF2B5EF4-FFF2-40B4-BE49-F238E27FC236}">
                  <a16:creationId xmlns:a16="http://schemas.microsoft.com/office/drawing/2014/main" id="{3A3456B2-C6DC-3CB8-1531-77EDEF90B32D}"/>
                </a:ext>
              </a:extLst>
            </p:cNvPr>
            <p:cNvSpPr/>
            <p:nvPr/>
          </p:nvSpPr>
          <p:spPr>
            <a:xfrm>
              <a:off x="10868735" y="1487002"/>
              <a:ext cx="839859" cy="877870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9" name="圖形 16" descr="長波浪髮型的女子">
              <a:extLst>
                <a:ext uri="{FF2B5EF4-FFF2-40B4-BE49-F238E27FC236}">
                  <a16:creationId xmlns:a16="http://schemas.microsoft.com/office/drawing/2014/main" id="{6E211EB6-B48D-826E-7C9B-1A12A39D9415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10" name="手繪多邊形: 圖案 17">
                <a:extLst>
                  <a:ext uri="{FF2B5EF4-FFF2-40B4-BE49-F238E27FC236}">
                    <a16:creationId xmlns:a16="http://schemas.microsoft.com/office/drawing/2014/main" id="{A6177360-0E12-5815-9DD7-562457343B4F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 dirty="0"/>
              </a:p>
            </p:txBody>
          </p:sp>
          <p:sp>
            <p:nvSpPr>
              <p:cNvPr id="11" name="手繪多邊形: 圖案 18">
                <a:extLst>
                  <a:ext uri="{FF2B5EF4-FFF2-40B4-BE49-F238E27FC236}">
                    <a16:creationId xmlns:a16="http://schemas.microsoft.com/office/drawing/2014/main" id="{F567FCB2-4664-DA18-3F2D-0195A167CCF5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12" name="圖形 21" descr="笑臉">
            <a:extLst>
              <a:ext uri="{FF2B5EF4-FFF2-40B4-BE49-F238E27FC236}">
                <a16:creationId xmlns:a16="http://schemas.microsoft.com/office/drawing/2014/main" id="{B11429A0-FD83-28EA-24CC-F7BB72CFD5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862518">
            <a:off x="683158" y="1199244"/>
            <a:ext cx="433226" cy="448266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440" y="2014455"/>
            <a:ext cx="5460686" cy="470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3093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圓角矩形 30"/>
          <p:cNvSpPr/>
          <p:nvPr/>
        </p:nvSpPr>
        <p:spPr>
          <a:xfrm>
            <a:off x="9664729" y="5424006"/>
            <a:ext cx="2122781" cy="97257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匯率證明如信用卡帳單、</a:t>
            </a:r>
            <a:r>
              <a:rPr lang="en-US" altLang="zh-TW" b="1" dirty="0">
                <a:solidFill>
                  <a:schemeClr val="tx2"/>
                </a:solidFill>
              </a:rPr>
              <a:t>ATM</a:t>
            </a:r>
            <a:r>
              <a:rPr lang="zh-TW" altLang="en-US" b="1" dirty="0">
                <a:solidFill>
                  <a:schemeClr val="tx2"/>
                </a:solidFill>
              </a:rPr>
              <a:t>明細等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11" name="圓角矩形 10"/>
          <p:cNvSpPr/>
          <p:nvPr/>
        </p:nvSpPr>
        <p:spPr>
          <a:xfrm>
            <a:off x="9619500" y="2091182"/>
            <a:ext cx="2122781" cy="78933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銀行只收外幣鈔票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46</a:t>
            </a:fld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8BBE5B18-A1A2-C78C-449F-5E24177030BF}"/>
              </a:ext>
            </a:extLst>
          </p:cNvPr>
          <p:cNvSpPr/>
          <p:nvPr/>
        </p:nvSpPr>
        <p:spPr>
          <a:xfrm>
            <a:off x="10894188" y="1148298"/>
            <a:ext cx="1208387" cy="1090692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5" name="圖形 16" descr="長波浪髮型的女子">
            <a:extLst>
              <a:ext uri="{FF2B5EF4-FFF2-40B4-BE49-F238E27FC236}">
                <a16:creationId xmlns:a16="http://schemas.microsoft.com/office/drawing/2014/main" id="{AC9F717B-5B39-5381-EFAC-67FB1E70DDF8}"/>
              </a:ext>
            </a:extLst>
          </p:cNvPr>
          <p:cNvGrpSpPr/>
          <p:nvPr/>
        </p:nvGrpSpPr>
        <p:grpSpPr>
          <a:xfrm rot="400818" flipH="1">
            <a:off x="11140474" y="1272567"/>
            <a:ext cx="807743" cy="856927"/>
            <a:chOff x="10656614" y="1349483"/>
            <a:chExt cx="1099282" cy="1197076"/>
          </a:xfrm>
        </p:grpSpPr>
        <p:sp>
          <p:nvSpPr>
            <p:cNvPr id="6" name="手繪多邊形: 圖案 15">
              <a:extLst>
                <a:ext uri="{FF2B5EF4-FFF2-40B4-BE49-F238E27FC236}">
                  <a16:creationId xmlns:a16="http://schemas.microsoft.com/office/drawing/2014/main" id="{3A3456B2-C6DC-3CB8-1531-77EDEF90B32D}"/>
                </a:ext>
              </a:extLst>
            </p:cNvPr>
            <p:cNvSpPr/>
            <p:nvPr/>
          </p:nvSpPr>
          <p:spPr>
            <a:xfrm>
              <a:off x="10868735" y="1487002"/>
              <a:ext cx="839859" cy="877870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7" name="圖形 16" descr="長波浪髮型的女子">
              <a:extLst>
                <a:ext uri="{FF2B5EF4-FFF2-40B4-BE49-F238E27FC236}">
                  <a16:creationId xmlns:a16="http://schemas.microsoft.com/office/drawing/2014/main" id="{6E211EB6-B48D-826E-7C9B-1A12A39D9415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8" name="手繪多邊形: 圖案 17">
                <a:extLst>
                  <a:ext uri="{FF2B5EF4-FFF2-40B4-BE49-F238E27FC236}">
                    <a16:creationId xmlns:a16="http://schemas.microsoft.com/office/drawing/2014/main" id="{A6177360-0E12-5815-9DD7-562457343B4F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 dirty="0"/>
              </a:p>
            </p:txBody>
          </p:sp>
          <p:sp>
            <p:nvSpPr>
              <p:cNvPr id="9" name="手繪多邊形: 圖案 18">
                <a:extLst>
                  <a:ext uri="{FF2B5EF4-FFF2-40B4-BE49-F238E27FC236}">
                    <a16:creationId xmlns:a16="http://schemas.microsoft.com/office/drawing/2014/main" id="{F567FCB2-4664-DA18-3F2D-0195A167CCF5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10" name="圖形 21" descr="笑臉">
            <a:extLst>
              <a:ext uri="{FF2B5EF4-FFF2-40B4-BE49-F238E27FC236}">
                <a16:creationId xmlns:a16="http://schemas.microsoft.com/office/drawing/2014/main" id="{B11429A0-FD83-28EA-24CC-F7BB72CFD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737482" flipH="1">
            <a:off x="11215285" y="1497244"/>
            <a:ext cx="433226" cy="448266"/>
          </a:xfrm>
          <a:prstGeom prst="rect">
            <a:avLst/>
          </a:prstGeom>
        </p:spPr>
      </p:pic>
      <p:sp>
        <p:nvSpPr>
          <p:cNvPr id="12" name="向右箭號圖說文字 11"/>
          <p:cNvSpPr/>
          <p:nvPr/>
        </p:nvSpPr>
        <p:spPr>
          <a:xfrm>
            <a:off x="2057129" y="1092231"/>
            <a:ext cx="1364328" cy="1492898"/>
          </a:xfrm>
          <a:prstGeom prst="right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外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幣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鈔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票</a:t>
            </a:r>
          </a:p>
        </p:txBody>
      </p:sp>
      <p:sp>
        <p:nvSpPr>
          <p:cNvPr id="13" name="向右箭號圖說文字 12"/>
          <p:cNvSpPr/>
          <p:nvPr/>
        </p:nvSpPr>
        <p:spPr>
          <a:xfrm>
            <a:off x="3679855" y="1092230"/>
            <a:ext cx="1364328" cy="1493951"/>
          </a:xfrm>
          <a:prstGeom prst="right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繳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給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出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納</a:t>
            </a:r>
          </a:p>
        </p:txBody>
      </p:sp>
      <p:sp>
        <p:nvSpPr>
          <p:cNvPr id="14" name="向右箭號圖說文字 13"/>
          <p:cNvSpPr/>
          <p:nvPr/>
        </p:nvSpPr>
        <p:spPr>
          <a:xfrm>
            <a:off x="5211333" y="1082249"/>
            <a:ext cx="1364328" cy="1492898"/>
          </a:xfrm>
          <a:prstGeom prst="rightArrowCallou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存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入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帳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戶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15" name="向右箭號圖說文字 14"/>
          <p:cNvSpPr/>
          <p:nvPr/>
        </p:nvSpPr>
        <p:spPr>
          <a:xfrm>
            <a:off x="6742814" y="1092231"/>
            <a:ext cx="1364328" cy="1492898"/>
          </a:xfrm>
          <a:prstGeom prst="rightArrowCallou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提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供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匯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率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16" name="向右箭號圖說文字 15"/>
          <p:cNvSpPr/>
          <p:nvPr/>
        </p:nvSpPr>
        <p:spPr>
          <a:xfrm>
            <a:off x="366327" y="1102111"/>
            <a:ext cx="1364328" cy="3050561"/>
          </a:xfrm>
          <a:prstGeom prst="right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外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幣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rgbClr val="FF0000"/>
                </a:solidFill>
              </a:rPr>
              <a:t>剩</a:t>
            </a:r>
            <a:endParaRPr lang="en-US" altLang="zh-TW" b="1" dirty="0">
              <a:solidFill>
                <a:srgbClr val="FF0000"/>
              </a:solidFill>
            </a:endParaRPr>
          </a:p>
          <a:p>
            <a:pPr algn="ctr"/>
            <a:r>
              <a:rPr lang="zh-TW" altLang="en-US" b="1" dirty="0">
                <a:solidFill>
                  <a:srgbClr val="FF0000"/>
                </a:solidFill>
              </a:rPr>
              <a:t>餘</a:t>
            </a:r>
            <a:endParaRPr lang="en-US" altLang="zh-TW" b="1" dirty="0">
              <a:solidFill>
                <a:srgbClr val="FF0000"/>
              </a:solidFill>
            </a:endParaRPr>
          </a:p>
          <a:p>
            <a:pPr algn="ctr"/>
            <a:r>
              <a:rPr lang="zh-TW" altLang="en-US" b="1" dirty="0">
                <a:solidFill>
                  <a:srgbClr val="FF0000"/>
                </a:solidFill>
              </a:rPr>
              <a:t>款</a:t>
            </a:r>
          </a:p>
        </p:txBody>
      </p:sp>
      <p:sp>
        <p:nvSpPr>
          <p:cNvPr id="17" name="向右箭號圖說文字 16"/>
          <p:cNvSpPr/>
          <p:nvPr/>
        </p:nvSpPr>
        <p:spPr>
          <a:xfrm>
            <a:off x="2061504" y="2814627"/>
            <a:ext cx="1364328" cy="1338043"/>
          </a:xfrm>
          <a:prstGeom prst="right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外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幣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零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錢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18" name="向右箭號圖說文字 17"/>
          <p:cNvSpPr/>
          <p:nvPr/>
        </p:nvSpPr>
        <p:spPr>
          <a:xfrm>
            <a:off x="3679854" y="2814627"/>
            <a:ext cx="4427287" cy="1338044"/>
          </a:xfrm>
          <a:prstGeom prst="rightArrowCallout">
            <a:avLst>
              <a:gd name="adj1" fmla="val 18230"/>
              <a:gd name="adj2" fmla="val 25000"/>
              <a:gd name="adj3" fmla="val 25000"/>
              <a:gd name="adj4" fmla="val 88706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依出納換匯當日匯率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換回台幣繳回給出納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344806" y="1102111"/>
            <a:ext cx="914400" cy="306044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出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納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en-US" altLang="zh-TW" b="1" dirty="0">
                <a:solidFill>
                  <a:schemeClr val="tx2"/>
                </a:solidFill>
              </a:rPr>
              <a:t>Mail</a:t>
            </a: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提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供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核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銷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資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訊</a:t>
            </a:r>
          </a:p>
        </p:txBody>
      </p:sp>
      <p:sp>
        <p:nvSpPr>
          <p:cNvPr id="20" name="向右箭號圖說文字 19"/>
          <p:cNvSpPr/>
          <p:nvPr/>
        </p:nvSpPr>
        <p:spPr>
          <a:xfrm>
            <a:off x="366327" y="4545955"/>
            <a:ext cx="1364328" cy="1817551"/>
          </a:xfrm>
          <a:prstGeom prst="right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外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幣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rgbClr val="FF0000"/>
                </a:solidFill>
              </a:rPr>
              <a:t>代</a:t>
            </a:r>
            <a:endParaRPr lang="en-US" altLang="zh-TW" b="1" dirty="0">
              <a:solidFill>
                <a:srgbClr val="FF0000"/>
              </a:solidFill>
            </a:endParaRPr>
          </a:p>
          <a:p>
            <a:pPr algn="ctr"/>
            <a:r>
              <a:rPr lang="zh-TW" altLang="en-US" b="1" dirty="0">
                <a:solidFill>
                  <a:srgbClr val="FF0000"/>
                </a:solidFill>
              </a:rPr>
              <a:t>墊</a:t>
            </a:r>
          </a:p>
        </p:txBody>
      </p:sp>
      <p:sp>
        <p:nvSpPr>
          <p:cNvPr id="21" name="向右箭號圖說文字 20"/>
          <p:cNvSpPr/>
          <p:nvPr/>
        </p:nvSpPr>
        <p:spPr>
          <a:xfrm>
            <a:off x="2057129" y="4545954"/>
            <a:ext cx="1364328" cy="1817552"/>
          </a:xfrm>
          <a:prstGeom prst="right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提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供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換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匯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證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明</a:t>
            </a:r>
          </a:p>
        </p:txBody>
      </p:sp>
      <p:sp>
        <p:nvSpPr>
          <p:cNvPr id="23" name="矩形 22"/>
          <p:cNvSpPr/>
          <p:nvPr/>
        </p:nvSpPr>
        <p:spPr>
          <a:xfrm>
            <a:off x="8344806" y="4437514"/>
            <a:ext cx="914400" cy="187984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作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帳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撥</a:t>
            </a:r>
            <a:endParaRPr lang="en-US" altLang="zh-TW" b="1" dirty="0">
              <a:solidFill>
                <a:schemeClr val="tx2"/>
              </a:solidFill>
            </a:endParaRPr>
          </a:p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款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8BBE5B18-A1A2-C78C-449F-5E24177030BF}"/>
              </a:ext>
            </a:extLst>
          </p:cNvPr>
          <p:cNvSpPr/>
          <p:nvPr/>
        </p:nvSpPr>
        <p:spPr>
          <a:xfrm>
            <a:off x="10940151" y="4476715"/>
            <a:ext cx="1208387" cy="1090692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25" name="圖形 16" descr="長波浪髮型的女子">
            <a:extLst>
              <a:ext uri="{FF2B5EF4-FFF2-40B4-BE49-F238E27FC236}">
                <a16:creationId xmlns:a16="http://schemas.microsoft.com/office/drawing/2014/main" id="{AC9F717B-5B39-5381-EFAC-67FB1E70DDF8}"/>
              </a:ext>
            </a:extLst>
          </p:cNvPr>
          <p:cNvGrpSpPr/>
          <p:nvPr/>
        </p:nvGrpSpPr>
        <p:grpSpPr>
          <a:xfrm rot="400818" flipH="1">
            <a:off x="11177045" y="4540646"/>
            <a:ext cx="807743" cy="856927"/>
            <a:chOff x="10656614" y="1349483"/>
            <a:chExt cx="1099282" cy="1197076"/>
          </a:xfrm>
        </p:grpSpPr>
        <p:sp>
          <p:nvSpPr>
            <p:cNvPr id="26" name="手繪多邊形: 圖案 15">
              <a:extLst>
                <a:ext uri="{FF2B5EF4-FFF2-40B4-BE49-F238E27FC236}">
                  <a16:creationId xmlns:a16="http://schemas.microsoft.com/office/drawing/2014/main" id="{3A3456B2-C6DC-3CB8-1531-77EDEF90B32D}"/>
                </a:ext>
              </a:extLst>
            </p:cNvPr>
            <p:cNvSpPr/>
            <p:nvPr/>
          </p:nvSpPr>
          <p:spPr>
            <a:xfrm>
              <a:off x="10868735" y="1487002"/>
              <a:ext cx="839859" cy="877870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27" name="圖形 16" descr="長波浪髮型的女子">
              <a:extLst>
                <a:ext uri="{FF2B5EF4-FFF2-40B4-BE49-F238E27FC236}">
                  <a16:creationId xmlns:a16="http://schemas.microsoft.com/office/drawing/2014/main" id="{6E211EB6-B48D-826E-7C9B-1A12A39D9415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28" name="手繪多邊形: 圖案 17">
                <a:extLst>
                  <a:ext uri="{FF2B5EF4-FFF2-40B4-BE49-F238E27FC236}">
                    <a16:creationId xmlns:a16="http://schemas.microsoft.com/office/drawing/2014/main" id="{A6177360-0E12-5815-9DD7-562457343B4F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 dirty="0"/>
              </a:p>
            </p:txBody>
          </p:sp>
          <p:sp>
            <p:nvSpPr>
              <p:cNvPr id="29" name="手繪多邊形: 圖案 18">
                <a:extLst>
                  <a:ext uri="{FF2B5EF4-FFF2-40B4-BE49-F238E27FC236}">
                    <a16:creationId xmlns:a16="http://schemas.microsoft.com/office/drawing/2014/main" id="{F567FCB2-4664-DA18-3F2D-0195A167CCF5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32" name="圖形 26" descr="笑臉">
            <a:extLst>
              <a:ext uri="{FF2B5EF4-FFF2-40B4-BE49-F238E27FC236}">
                <a16:creationId xmlns:a16="http://schemas.microsoft.com/office/drawing/2014/main" id="{0128FB23-39F3-DBB3-C499-38729E8D890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75724" flipH="1">
            <a:off x="11219871" y="4781185"/>
            <a:ext cx="446085" cy="460026"/>
          </a:xfrm>
          <a:prstGeom prst="rect">
            <a:avLst/>
          </a:prstGeom>
        </p:spPr>
      </p:pic>
      <p:sp>
        <p:nvSpPr>
          <p:cNvPr id="33" name="向右箭號圖說文字 32"/>
          <p:cNvSpPr/>
          <p:nvPr/>
        </p:nvSpPr>
        <p:spPr>
          <a:xfrm>
            <a:off x="3679854" y="4437514"/>
            <a:ext cx="4549746" cy="1925992"/>
          </a:xfrm>
          <a:prstGeom prst="rightArrowCallout">
            <a:avLst>
              <a:gd name="adj1" fmla="val 17271"/>
              <a:gd name="adj2" fmla="val 25000"/>
              <a:gd name="adj3" fmla="val 25000"/>
              <a:gd name="adj4" fmla="val 86473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核銷金額</a:t>
            </a:r>
            <a:r>
              <a:rPr lang="en-US" altLang="zh-TW" b="1" dirty="0">
                <a:solidFill>
                  <a:schemeClr val="tx2"/>
                </a:solidFill>
              </a:rPr>
              <a:t>=</a:t>
            </a:r>
          </a:p>
          <a:p>
            <a:r>
              <a:rPr lang="zh-TW" altLang="en-US" b="1" dirty="0">
                <a:solidFill>
                  <a:schemeClr val="tx2"/>
                </a:solidFill>
              </a:rPr>
              <a:t>預支外幣金額*出納換匯當日匯率</a:t>
            </a:r>
            <a:r>
              <a:rPr lang="en-US" altLang="zh-TW" b="1" dirty="0">
                <a:solidFill>
                  <a:schemeClr val="tx2"/>
                </a:solidFill>
              </a:rPr>
              <a:t>+</a:t>
            </a:r>
          </a:p>
          <a:p>
            <a:r>
              <a:rPr lang="zh-TW" altLang="en-US" b="1" dirty="0">
                <a:solidFill>
                  <a:schemeClr val="tx2"/>
                </a:solidFill>
              </a:rPr>
              <a:t>代墊外幣金額*代墊當日匯率證明    </a:t>
            </a:r>
            <a:endParaRPr lang="en-US" altLang="zh-TW" b="1" dirty="0">
              <a:solidFill>
                <a:schemeClr val="tx2"/>
              </a:solidFill>
            </a:endParaRPr>
          </a:p>
          <a:p>
            <a:r>
              <a:rPr lang="zh-TW" altLang="en-US" sz="1050" b="1" dirty="0">
                <a:solidFill>
                  <a:schemeClr val="tx2"/>
                </a:solidFill>
              </a:rPr>
              <a:t>  </a:t>
            </a:r>
            <a:r>
              <a:rPr lang="en-US" altLang="zh-TW" sz="1200" b="1" dirty="0">
                <a:solidFill>
                  <a:schemeClr val="tx2"/>
                </a:solidFill>
              </a:rPr>
              <a:t>(</a:t>
            </a:r>
            <a:r>
              <a:rPr lang="zh-TW" altLang="en-US" sz="1200" b="1" dirty="0">
                <a:solidFill>
                  <a:schemeClr val="tx2"/>
                </a:solidFill>
              </a:rPr>
              <a:t>若無證明請依照</a:t>
            </a:r>
            <a:r>
              <a:rPr lang="zh-TW" altLang="zh-TW" sz="1200" b="1" dirty="0">
                <a:solidFill>
                  <a:schemeClr val="tx2"/>
                </a:solidFill>
              </a:rPr>
              <a:t>當日台灣銀行即期賣出匯率計算</a:t>
            </a:r>
            <a:r>
              <a:rPr lang="en-US" altLang="zh-TW" sz="1200" b="1" dirty="0">
                <a:solidFill>
                  <a:schemeClr val="tx2"/>
                </a:solidFill>
              </a:rPr>
              <a:t>)</a:t>
            </a:r>
          </a:p>
        </p:txBody>
      </p:sp>
      <p:pic>
        <p:nvPicPr>
          <p:cNvPr id="34" name="圖形 16" descr="留言 (重要) 以實心填滿">
            <a:extLst>
              <a:ext uri="{FF2B5EF4-FFF2-40B4-BE49-F238E27FC236}">
                <a16:creationId xmlns:a16="http://schemas.microsoft.com/office/drawing/2014/main" id="{20B0F366-A815-9EDA-1196-BD3BC313DAD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30655" y="2684761"/>
            <a:ext cx="531313" cy="532414"/>
          </a:xfrm>
          <a:prstGeom prst="rect">
            <a:avLst/>
          </a:prstGeom>
        </p:spPr>
      </p:pic>
      <p:pic>
        <p:nvPicPr>
          <p:cNvPr id="35" name="圖形 16" descr="留言 (重要) 以實心填滿">
            <a:extLst>
              <a:ext uri="{FF2B5EF4-FFF2-40B4-BE49-F238E27FC236}">
                <a16:creationId xmlns:a16="http://schemas.microsoft.com/office/drawing/2014/main" id="{20B0F366-A815-9EDA-1196-BD3BC313DAD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40116" y="1749730"/>
            <a:ext cx="531313" cy="532414"/>
          </a:xfrm>
          <a:prstGeom prst="rect">
            <a:avLst/>
          </a:prstGeom>
        </p:spPr>
      </p:pic>
      <p:sp>
        <p:nvSpPr>
          <p:cNvPr id="36" name="箭號: 五邊形 2">
            <a:extLst>
              <a:ext uri="{FF2B5EF4-FFF2-40B4-BE49-F238E27FC236}">
                <a16:creationId xmlns:a16="http://schemas.microsoft.com/office/drawing/2014/main" id="{DDCC83B3-9BB3-214A-9AE7-C94740C4AAC6}"/>
              </a:ext>
            </a:extLst>
          </p:cNvPr>
          <p:cNvSpPr/>
          <p:nvPr/>
        </p:nvSpPr>
        <p:spPr>
          <a:xfrm>
            <a:off x="0" y="-11033"/>
            <a:ext cx="5598368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R</a:t>
            </a:r>
            <a:r>
              <a:rPr lang="zh-TW" altLang="en-US" sz="2800" b="1" dirty="0"/>
              <a:t> 預 支 單 核 銷 </a:t>
            </a:r>
            <a:r>
              <a:rPr lang="en-US" altLang="zh-TW" sz="2800" b="1" dirty="0"/>
              <a:t>-</a:t>
            </a:r>
            <a:r>
              <a:rPr lang="zh-TW" altLang="en-US" sz="2800" b="1" dirty="0"/>
              <a:t> 外 幣 需 求</a:t>
            </a:r>
          </a:p>
        </p:txBody>
      </p:sp>
    </p:spTree>
    <p:extLst>
      <p:ext uri="{BB962C8B-B14F-4D97-AF65-F5344CB8AC3E}">
        <p14:creationId xmlns:p14="http://schemas.microsoft.com/office/powerpoint/2010/main" val="39289282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47</a:t>
            </a:fld>
            <a:endParaRPr lang="zh-TW" altLang="en-US"/>
          </a:p>
        </p:txBody>
      </p:sp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DDCC83B3-9BB3-214A-9AE7-C94740C4AAC6}"/>
              </a:ext>
            </a:extLst>
          </p:cNvPr>
          <p:cNvSpPr/>
          <p:nvPr/>
        </p:nvSpPr>
        <p:spPr>
          <a:xfrm>
            <a:off x="0" y="1"/>
            <a:ext cx="5598368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R</a:t>
            </a:r>
            <a:r>
              <a:rPr lang="zh-TW" altLang="en-US" sz="2800" b="1" dirty="0"/>
              <a:t> 預 支 單 </a:t>
            </a:r>
            <a:r>
              <a:rPr lang="en-US" altLang="zh-TW" sz="2800" b="1" dirty="0"/>
              <a:t>-</a:t>
            </a:r>
            <a:r>
              <a:rPr lang="zh-TW" altLang="en-US" sz="2800" b="1" dirty="0"/>
              <a:t> 範 例 ： 國 外 匯 款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4254883"/>
            <a:ext cx="3048095" cy="244588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42" y="957017"/>
            <a:ext cx="4100120" cy="3269107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2695" y="957017"/>
            <a:ext cx="4333875" cy="5133975"/>
          </a:xfrm>
          <a:prstGeom prst="rect">
            <a:avLst/>
          </a:prstGeom>
        </p:spPr>
      </p:pic>
      <p:sp>
        <p:nvSpPr>
          <p:cNvPr id="7" name="向右箭號圖說文字 6"/>
          <p:cNvSpPr/>
          <p:nvPr/>
        </p:nvSpPr>
        <p:spPr>
          <a:xfrm>
            <a:off x="2778369" y="957017"/>
            <a:ext cx="1670539" cy="317868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792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左箭號圖說文字 7"/>
          <p:cNvSpPr/>
          <p:nvPr/>
        </p:nvSpPr>
        <p:spPr>
          <a:xfrm>
            <a:off x="3858253" y="6144339"/>
            <a:ext cx="4881301" cy="543185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9349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匯款給個人的部分請務必提供藍字資訊。</a:t>
            </a:r>
          </a:p>
        </p:txBody>
      </p:sp>
      <p:sp>
        <p:nvSpPr>
          <p:cNvPr id="12" name="圓角矩形 11"/>
          <p:cNvSpPr/>
          <p:nvPr/>
        </p:nvSpPr>
        <p:spPr>
          <a:xfrm>
            <a:off x="9127142" y="4030822"/>
            <a:ext cx="2546074" cy="240269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b="1" dirty="0">
                <a:solidFill>
                  <a:schemeClr val="tx2"/>
                </a:solidFill>
              </a:rPr>
              <a:t>國外匯款通常會有額外的郵電費及手續費須由專案支付。</a:t>
            </a:r>
            <a:endParaRPr lang="en-US" altLang="zh-TW" b="1" dirty="0">
              <a:solidFill>
                <a:schemeClr val="tx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b="1" dirty="0">
                <a:solidFill>
                  <a:schemeClr val="tx2"/>
                </a:solidFill>
              </a:rPr>
              <a:t>匯款後出納會</a:t>
            </a:r>
            <a:r>
              <a:rPr lang="en-US" altLang="zh-TW" b="1" dirty="0">
                <a:solidFill>
                  <a:schemeClr val="tx2"/>
                </a:solidFill>
              </a:rPr>
              <a:t>mail</a:t>
            </a:r>
            <a:r>
              <a:rPr lang="zh-TW" altLang="en-US" b="1" dirty="0">
                <a:solidFill>
                  <a:schemeClr val="tx2"/>
                </a:solidFill>
              </a:rPr>
              <a:t>通知實際核銷金額，請依照信件內容核銷。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BBE5B18-A1A2-C78C-449F-5E24177030BF}"/>
              </a:ext>
            </a:extLst>
          </p:cNvPr>
          <p:cNvSpPr/>
          <p:nvPr/>
        </p:nvSpPr>
        <p:spPr>
          <a:xfrm>
            <a:off x="10704938" y="3137236"/>
            <a:ext cx="1208387" cy="1088875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4" name="圖形 16" descr="長波浪髮型的女子">
            <a:extLst>
              <a:ext uri="{FF2B5EF4-FFF2-40B4-BE49-F238E27FC236}">
                <a16:creationId xmlns:a16="http://schemas.microsoft.com/office/drawing/2014/main" id="{AC9F717B-5B39-5381-EFAC-67FB1E70DDF8}"/>
              </a:ext>
            </a:extLst>
          </p:cNvPr>
          <p:cNvGrpSpPr/>
          <p:nvPr/>
        </p:nvGrpSpPr>
        <p:grpSpPr>
          <a:xfrm rot="400818" flipH="1">
            <a:off x="10938509" y="3181314"/>
            <a:ext cx="807743" cy="855499"/>
            <a:chOff x="10656614" y="1349483"/>
            <a:chExt cx="1099282" cy="1197076"/>
          </a:xfrm>
        </p:grpSpPr>
        <p:sp>
          <p:nvSpPr>
            <p:cNvPr id="15" name="手繪多邊形: 圖案 15">
              <a:extLst>
                <a:ext uri="{FF2B5EF4-FFF2-40B4-BE49-F238E27FC236}">
                  <a16:creationId xmlns:a16="http://schemas.microsoft.com/office/drawing/2014/main" id="{3A3456B2-C6DC-3CB8-1531-77EDEF90B32D}"/>
                </a:ext>
              </a:extLst>
            </p:cNvPr>
            <p:cNvSpPr/>
            <p:nvPr/>
          </p:nvSpPr>
          <p:spPr>
            <a:xfrm>
              <a:off x="10868735" y="1487002"/>
              <a:ext cx="839859" cy="877870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16" name="圖形 16" descr="長波浪髮型的女子">
              <a:extLst>
                <a:ext uri="{FF2B5EF4-FFF2-40B4-BE49-F238E27FC236}">
                  <a16:creationId xmlns:a16="http://schemas.microsoft.com/office/drawing/2014/main" id="{6E211EB6-B48D-826E-7C9B-1A12A39D9415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17" name="手繪多邊形: 圖案 17">
                <a:extLst>
                  <a:ext uri="{FF2B5EF4-FFF2-40B4-BE49-F238E27FC236}">
                    <a16:creationId xmlns:a16="http://schemas.microsoft.com/office/drawing/2014/main" id="{A6177360-0E12-5815-9DD7-562457343B4F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 dirty="0"/>
              </a:p>
            </p:txBody>
          </p:sp>
          <p:sp>
            <p:nvSpPr>
              <p:cNvPr id="18" name="手繪多邊形: 圖案 18">
                <a:extLst>
                  <a:ext uri="{FF2B5EF4-FFF2-40B4-BE49-F238E27FC236}">
                    <a16:creationId xmlns:a16="http://schemas.microsoft.com/office/drawing/2014/main" id="{F567FCB2-4664-DA18-3F2D-0195A167CCF5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19" name="圖形 21" descr="笑臉">
            <a:extLst>
              <a:ext uri="{FF2B5EF4-FFF2-40B4-BE49-F238E27FC236}">
                <a16:creationId xmlns:a16="http://schemas.microsoft.com/office/drawing/2014/main" id="{B11429A0-FD83-28EA-24CC-F7BB72CFD56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737482" flipH="1">
            <a:off x="11013317" y="3405994"/>
            <a:ext cx="433226" cy="447519"/>
          </a:xfrm>
          <a:prstGeom prst="rect">
            <a:avLst/>
          </a:prstGeom>
        </p:spPr>
      </p:pic>
      <p:sp>
        <p:nvSpPr>
          <p:cNvPr id="20" name="向左箭號圖說文字 19"/>
          <p:cNvSpPr/>
          <p:nvPr/>
        </p:nvSpPr>
        <p:spPr>
          <a:xfrm>
            <a:off x="8470127" y="1318630"/>
            <a:ext cx="3156904" cy="1648659"/>
          </a:xfrm>
          <a:prstGeom prst="leftArrowCallout">
            <a:avLst>
              <a:gd name="adj1" fmla="val 14500"/>
              <a:gd name="adj2" fmla="val 17363"/>
              <a:gd name="adj3" fmla="val 25000"/>
              <a:gd name="adj4" fmla="val 79181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若有報價單請檢附在附件，通常上面會有匯款相關資訊。</a:t>
            </a:r>
          </a:p>
        </p:txBody>
      </p:sp>
    </p:spTree>
    <p:extLst>
      <p:ext uri="{BB962C8B-B14F-4D97-AF65-F5344CB8AC3E}">
        <p14:creationId xmlns:p14="http://schemas.microsoft.com/office/powerpoint/2010/main" val="1055795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48</a:t>
            </a:fld>
            <a:endParaRPr lang="zh-TW" altLang="en-US"/>
          </a:p>
        </p:txBody>
      </p:sp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DDCC83B3-9BB3-214A-9AE7-C94740C4AAC6}"/>
              </a:ext>
            </a:extLst>
          </p:cNvPr>
          <p:cNvSpPr/>
          <p:nvPr/>
        </p:nvSpPr>
        <p:spPr>
          <a:xfrm>
            <a:off x="0" y="1"/>
            <a:ext cx="5598368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R</a:t>
            </a:r>
            <a:r>
              <a:rPr lang="zh-TW" altLang="en-US" sz="2800" b="1" dirty="0"/>
              <a:t> 預 支 單 核 銷 </a:t>
            </a:r>
            <a:r>
              <a:rPr lang="en-US" altLang="zh-TW" sz="2800" b="1" dirty="0"/>
              <a:t>-</a:t>
            </a:r>
            <a:r>
              <a:rPr lang="zh-TW" altLang="en-US" sz="2800" b="1" dirty="0"/>
              <a:t> 國 外 匯 款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/>
          <a:srcRect b="9735"/>
          <a:stretch/>
        </p:blipFill>
        <p:spPr>
          <a:xfrm>
            <a:off x="639896" y="967154"/>
            <a:ext cx="3404566" cy="346416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96" y="4431323"/>
            <a:ext cx="3404566" cy="205487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5135" y="2773312"/>
            <a:ext cx="6454588" cy="3712882"/>
          </a:xfrm>
          <a:prstGeom prst="rect">
            <a:avLst/>
          </a:prstGeom>
        </p:spPr>
      </p:pic>
      <p:sp>
        <p:nvSpPr>
          <p:cNvPr id="7" name="向左箭號圖說文字 6"/>
          <p:cNvSpPr/>
          <p:nvPr/>
        </p:nvSpPr>
        <p:spPr>
          <a:xfrm>
            <a:off x="3143126" y="1532678"/>
            <a:ext cx="4725990" cy="91440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0780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出納會提供匯款當日水單給申請人及專案</a:t>
            </a:r>
            <a:r>
              <a:rPr lang="en-US" altLang="zh-TW" b="1" dirty="0">
                <a:solidFill>
                  <a:schemeClr val="tx2"/>
                </a:solidFill>
              </a:rPr>
              <a:t>AC</a:t>
            </a:r>
            <a:r>
              <a:rPr lang="zh-TW" altLang="en-US" b="1" dirty="0">
                <a:solidFill>
                  <a:schemeClr val="tx2"/>
                </a:solidFill>
              </a:rPr>
              <a:t>，並通知實際核銷金額。</a:t>
            </a:r>
          </a:p>
        </p:txBody>
      </p:sp>
      <p:sp>
        <p:nvSpPr>
          <p:cNvPr id="8" name="向下箭號圖說文字 7"/>
          <p:cNvSpPr/>
          <p:nvPr/>
        </p:nvSpPr>
        <p:spPr>
          <a:xfrm>
            <a:off x="9099789" y="1958441"/>
            <a:ext cx="2154900" cy="1144868"/>
          </a:xfrm>
          <a:prstGeom prst="downArrowCallout">
            <a:avLst>
              <a:gd name="adj1" fmla="val 11596"/>
              <a:gd name="adj2" fmla="val 16958"/>
              <a:gd name="adj3" fmla="val 25000"/>
              <a:gd name="adj4" fmla="val 66988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請申請人提供相關憑證及水單核銷。</a:t>
            </a:r>
          </a:p>
        </p:txBody>
      </p:sp>
      <p:sp>
        <p:nvSpPr>
          <p:cNvPr id="9" name="圓角矩形 8"/>
          <p:cNvSpPr/>
          <p:nvPr/>
        </p:nvSpPr>
        <p:spPr>
          <a:xfrm>
            <a:off x="639896" y="5846885"/>
            <a:ext cx="749289" cy="2286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6576646" y="6075485"/>
            <a:ext cx="662355" cy="2286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48569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3E47879-DA36-1264-8657-CD65B951A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49</a:t>
            </a:fld>
            <a:endParaRPr lang="zh-TW" altLang="en-US"/>
          </a:p>
        </p:txBody>
      </p:sp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DDCC83B3-9BB3-214A-9AE7-C94740C4AAC6}"/>
              </a:ext>
            </a:extLst>
          </p:cNvPr>
          <p:cNvSpPr/>
          <p:nvPr/>
        </p:nvSpPr>
        <p:spPr>
          <a:xfrm>
            <a:off x="-1" y="1"/>
            <a:ext cx="7300453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R</a:t>
            </a:r>
            <a:r>
              <a:rPr lang="zh-TW" altLang="en-US" sz="2800" b="1" dirty="0"/>
              <a:t> 預 支 單 </a:t>
            </a:r>
            <a:r>
              <a:rPr lang="en-US" altLang="zh-TW" sz="2800" b="1" dirty="0"/>
              <a:t>-</a:t>
            </a:r>
            <a:r>
              <a:rPr lang="zh-TW" altLang="en-US" sz="2800" b="1" dirty="0"/>
              <a:t> 範 例 ： 存 保 金 </a:t>
            </a:r>
            <a:r>
              <a:rPr lang="en-US" altLang="zh-TW" sz="2800" b="1" dirty="0"/>
              <a:t>(</a:t>
            </a:r>
            <a:r>
              <a:rPr lang="zh-TW" altLang="en-US" sz="2800" b="1" dirty="0"/>
              <a:t> </a:t>
            </a:r>
            <a:r>
              <a:rPr lang="zh-TW" altLang="en-US" sz="2800" b="1" dirty="0">
                <a:solidFill>
                  <a:srgbClr val="FFCC66"/>
                </a:solidFill>
              </a:rPr>
              <a:t>秘 書 限 定 </a:t>
            </a:r>
            <a:r>
              <a:rPr lang="en-US" altLang="zh-TW" sz="2800" b="1" dirty="0"/>
              <a:t>)</a:t>
            </a:r>
            <a:endParaRPr lang="zh-TW" altLang="en-US" sz="2800" b="1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9AB3196-CEAF-3E1B-409A-2EF9FD6A6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219" y="1046589"/>
            <a:ext cx="8096865" cy="4764822"/>
          </a:xfrm>
          <a:prstGeom prst="rect">
            <a:avLst/>
          </a:prstGeom>
        </p:spPr>
      </p:pic>
      <p:sp>
        <p:nvSpPr>
          <p:cNvPr id="6" name="圖說文字: 向左箭號 5">
            <a:extLst>
              <a:ext uri="{FF2B5EF4-FFF2-40B4-BE49-F238E27FC236}">
                <a16:creationId xmlns:a16="http://schemas.microsoft.com/office/drawing/2014/main" id="{75BA8965-1A3A-43DD-F296-54A9BA76F328}"/>
              </a:ext>
            </a:extLst>
          </p:cNvPr>
          <p:cNvSpPr/>
          <p:nvPr/>
        </p:nvSpPr>
        <p:spPr>
          <a:xfrm>
            <a:off x="9297172" y="2271253"/>
            <a:ext cx="2489107" cy="1858296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3272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800" b="1" dirty="0">
                <a:solidFill>
                  <a:schemeClr val="tx2"/>
                </a:solidFill>
                <a:latin typeface="+mj-ea"/>
              </a:rPr>
              <a:t>需詳填資料 ：</a:t>
            </a:r>
            <a:r>
              <a:rPr lang="en-US" altLang="zh-TW" sz="1800" b="1" dirty="0">
                <a:solidFill>
                  <a:schemeClr val="tx2"/>
                </a:solidFill>
                <a:latin typeface="+mj-ea"/>
              </a:rPr>
              <a:t>(1)</a:t>
            </a:r>
            <a:r>
              <a:rPr lang="zh-TW" altLang="en-US" sz="1800" b="1" dirty="0">
                <a:solidFill>
                  <a:schemeClr val="tx2"/>
                </a:solidFill>
                <a:latin typeface="+mj-ea"/>
              </a:rPr>
              <a:t>甲方及承接  單位資訊 </a:t>
            </a:r>
            <a:endParaRPr lang="en-US" altLang="zh-TW" sz="1800" b="1" dirty="0">
              <a:solidFill>
                <a:schemeClr val="tx2"/>
              </a:solidFill>
              <a:latin typeface="+mj-ea"/>
            </a:endParaRPr>
          </a:p>
          <a:p>
            <a:r>
              <a:rPr lang="en-US" altLang="zh-TW" sz="1800" b="1" dirty="0">
                <a:solidFill>
                  <a:schemeClr val="tx2"/>
                </a:solidFill>
                <a:latin typeface="+mj-ea"/>
              </a:rPr>
              <a:t>(2)</a:t>
            </a:r>
            <a:r>
              <a:rPr lang="zh-TW" altLang="en-US" sz="1800" b="1" dirty="0">
                <a:solidFill>
                  <a:schemeClr val="tx2"/>
                </a:solidFill>
                <a:latin typeface="+mj-ea"/>
              </a:rPr>
              <a:t>繳交期限 </a:t>
            </a:r>
            <a:endParaRPr lang="en-US" altLang="zh-TW" sz="1800" b="1" dirty="0">
              <a:solidFill>
                <a:schemeClr val="tx2"/>
              </a:solidFill>
              <a:latin typeface="+mj-ea"/>
            </a:endParaRPr>
          </a:p>
          <a:p>
            <a:r>
              <a:rPr lang="en-US" altLang="zh-TW" sz="1800" b="1" dirty="0">
                <a:solidFill>
                  <a:schemeClr val="tx2"/>
                </a:solidFill>
                <a:latin typeface="+mj-ea"/>
              </a:rPr>
              <a:t>(3)</a:t>
            </a:r>
            <a:r>
              <a:rPr lang="zh-TW" altLang="en-US" sz="1800" b="1" dirty="0">
                <a:solidFill>
                  <a:schemeClr val="tx2"/>
                </a:solidFill>
                <a:latin typeface="+mj-ea"/>
              </a:rPr>
              <a:t>履約期間</a:t>
            </a:r>
            <a:endParaRPr lang="zh-TW" altLang="en-US" b="1" dirty="0">
              <a:solidFill>
                <a:schemeClr val="tx2"/>
              </a:solidFill>
            </a:endParaRPr>
          </a:p>
        </p:txBody>
      </p:sp>
      <p:sp>
        <p:nvSpPr>
          <p:cNvPr id="7" name="圖說文字: 向上箭號 6">
            <a:extLst>
              <a:ext uri="{FF2B5EF4-FFF2-40B4-BE49-F238E27FC236}">
                <a16:creationId xmlns:a16="http://schemas.microsoft.com/office/drawing/2014/main" id="{0D3A71A4-AE07-0101-0BDF-7BD40E638CF3}"/>
              </a:ext>
            </a:extLst>
          </p:cNvPr>
          <p:cNvSpPr/>
          <p:nvPr/>
        </p:nvSpPr>
        <p:spPr>
          <a:xfrm>
            <a:off x="6686708" y="5354211"/>
            <a:ext cx="2153265" cy="914400"/>
          </a:xfrm>
          <a:prstGeom prst="up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800" b="1" dirty="0">
                <a:solidFill>
                  <a:schemeClr val="tx2"/>
                </a:solidFill>
                <a:latin typeface="+mj-ea"/>
              </a:rPr>
              <a:t>此案合約到期日</a:t>
            </a:r>
            <a:endParaRPr lang="en-US" altLang="zh-TW" sz="1800" b="1" dirty="0">
              <a:solidFill>
                <a:schemeClr val="tx2"/>
              </a:solidFill>
              <a:latin typeface="+mj-ea"/>
            </a:endParaRPr>
          </a:p>
        </p:txBody>
      </p:sp>
      <p:sp>
        <p:nvSpPr>
          <p:cNvPr id="8" name="圖說文字: 向右箭號 7">
            <a:extLst>
              <a:ext uri="{FF2B5EF4-FFF2-40B4-BE49-F238E27FC236}">
                <a16:creationId xmlns:a16="http://schemas.microsoft.com/office/drawing/2014/main" id="{6210EA5F-08B8-ADEE-1F30-7D7709A3CB72}"/>
              </a:ext>
            </a:extLst>
          </p:cNvPr>
          <p:cNvSpPr/>
          <p:nvPr/>
        </p:nvSpPr>
        <p:spPr>
          <a:xfrm>
            <a:off x="522022" y="2669456"/>
            <a:ext cx="2489107" cy="1297859"/>
          </a:xfrm>
          <a:prstGeom prst="right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800" b="1" dirty="0">
                <a:solidFill>
                  <a:schemeClr val="tx2"/>
                </a:solidFill>
                <a:latin typeface="+mj-ea"/>
              </a:rPr>
              <a:t>需選正確，以利資料帶至存保金管理系統</a:t>
            </a:r>
            <a:endParaRPr lang="zh-TW" altLang="en-US" b="1" dirty="0">
              <a:solidFill>
                <a:schemeClr val="tx2"/>
              </a:solidFill>
            </a:endParaRPr>
          </a:p>
        </p:txBody>
      </p:sp>
      <p:sp>
        <p:nvSpPr>
          <p:cNvPr id="10" name="圖說文字: 向上箭號 9">
            <a:extLst>
              <a:ext uri="{FF2B5EF4-FFF2-40B4-BE49-F238E27FC236}">
                <a16:creationId xmlns:a16="http://schemas.microsoft.com/office/drawing/2014/main" id="{AD749BE2-AA85-ED92-06E4-71BBB42656AD}"/>
              </a:ext>
            </a:extLst>
          </p:cNvPr>
          <p:cNvSpPr/>
          <p:nvPr/>
        </p:nvSpPr>
        <p:spPr>
          <a:xfrm>
            <a:off x="418377" y="5727131"/>
            <a:ext cx="6077881" cy="1001500"/>
          </a:xfrm>
          <a:prstGeom prst="upArrowCallout">
            <a:avLst>
              <a:gd name="adj1" fmla="val 22321"/>
              <a:gd name="adj2" fmla="val 25000"/>
              <a:gd name="adj3" fmla="val 21774"/>
              <a:gd name="adj4" fmla="val 69945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800" b="1" dirty="0">
                <a:solidFill>
                  <a:schemeClr val="tx2"/>
                </a:solidFill>
                <a:latin typeface="+mj-ea"/>
              </a:rPr>
              <a:t>若預支方式為開立支票，抬頭需為甲方正確全名</a:t>
            </a:r>
            <a:endParaRPr lang="en-US" altLang="zh-TW" sz="1800" b="1" dirty="0">
              <a:solidFill>
                <a:schemeClr val="tx2"/>
              </a:solidFill>
              <a:latin typeface="+mj-ea"/>
            </a:endParaRPr>
          </a:p>
          <a:p>
            <a:pPr algn="ctr"/>
            <a:r>
              <a:rPr lang="en-US" altLang="zh-TW" sz="1800" b="1" dirty="0">
                <a:solidFill>
                  <a:schemeClr val="tx2"/>
                </a:solidFill>
                <a:latin typeface="+mj-ea"/>
              </a:rPr>
              <a:t>(“</a:t>
            </a:r>
            <a:r>
              <a:rPr lang="zh-TW" altLang="en-US" sz="1800" b="1" dirty="0">
                <a:solidFill>
                  <a:schemeClr val="tx2"/>
                </a:solidFill>
                <a:latin typeface="+mj-ea"/>
              </a:rPr>
              <a:t>臺</a:t>
            </a:r>
            <a:r>
              <a:rPr lang="en-US" altLang="zh-TW" sz="1800" b="1" dirty="0">
                <a:solidFill>
                  <a:schemeClr val="tx2"/>
                </a:solidFill>
                <a:latin typeface="+mj-ea"/>
              </a:rPr>
              <a:t>”</a:t>
            </a:r>
            <a:r>
              <a:rPr lang="zh-TW" altLang="en-US" sz="1800" b="1" dirty="0">
                <a:solidFill>
                  <a:schemeClr val="tx2"/>
                </a:solidFill>
                <a:latin typeface="+mj-ea"/>
              </a:rPr>
              <a:t>中市政府 或 </a:t>
            </a:r>
            <a:r>
              <a:rPr lang="en-US" altLang="zh-TW" sz="1800" b="1" dirty="0">
                <a:solidFill>
                  <a:schemeClr val="tx2"/>
                </a:solidFill>
                <a:latin typeface="+mj-ea"/>
              </a:rPr>
              <a:t>“</a:t>
            </a:r>
            <a:r>
              <a:rPr lang="zh-TW" altLang="en-US" sz="1800" b="1" dirty="0">
                <a:solidFill>
                  <a:schemeClr val="tx2"/>
                </a:solidFill>
                <a:latin typeface="+mj-ea"/>
              </a:rPr>
              <a:t>台</a:t>
            </a:r>
            <a:r>
              <a:rPr lang="en-US" altLang="zh-TW" sz="1800" b="1" dirty="0">
                <a:solidFill>
                  <a:schemeClr val="tx2"/>
                </a:solidFill>
                <a:latin typeface="+mj-ea"/>
              </a:rPr>
              <a:t>”</a:t>
            </a:r>
            <a:r>
              <a:rPr lang="zh-TW" altLang="en-US" sz="1800" b="1" dirty="0">
                <a:solidFill>
                  <a:schemeClr val="tx2"/>
                </a:solidFill>
                <a:latin typeface="+mj-ea"/>
              </a:rPr>
              <a:t>中市政府，寫錯抬頭即無效</a:t>
            </a:r>
            <a:r>
              <a:rPr lang="en-US" altLang="zh-TW" sz="1800" b="1" dirty="0">
                <a:solidFill>
                  <a:schemeClr val="tx2"/>
                </a:solidFill>
                <a:latin typeface="+mj-ea"/>
              </a:rPr>
              <a:t>)</a:t>
            </a:r>
            <a:endParaRPr lang="zh-TW" alt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7875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圓角矩形 16"/>
          <p:cNvSpPr/>
          <p:nvPr/>
        </p:nvSpPr>
        <p:spPr>
          <a:xfrm>
            <a:off x="1741980" y="5199251"/>
            <a:ext cx="6756609" cy="78933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2"/>
                </a:solidFill>
              </a:rPr>
              <a:t>日後專案結案時，可向甲方申請退回存保金，屆時向存保金人員領取存保金收據正本發文向甲方申請退回款項。</a:t>
            </a:r>
            <a:endParaRPr lang="en-US" altLang="zh-TW" b="1" dirty="0">
              <a:solidFill>
                <a:schemeClr val="tx2"/>
              </a:solidFill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50</a:t>
            </a:fld>
            <a:endParaRPr lang="zh-TW" altLang="en-US"/>
          </a:p>
        </p:txBody>
      </p:sp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DDCC83B3-9BB3-214A-9AE7-C94740C4AAC6}"/>
              </a:ext>
            </a:extLst>
          </p:cNvPr>
          <p:cNvSpPr/>
          <p:nvPr/>
        </p:nvSpPr>
        <p:spPr>
          <a:xfrm>
            <a:off x="-1" y="1"/>
            <a:ext cx="7300453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R</a:t>
            </a:r>
            <a:r>
              <a:rPr lang="zh-TW" altLang="en-US" sz="2800" b="1" dirty="0"/>
              <a:t> 預 支 單 核 銷 </a:t>
            </a:r>
            <a:r>
              <a:rPr lang="en-US" altLang="zh-TW" sz="2800" b="1" dirty="0"/>
              <a:t>-</a:t>
            </a:r>
            <a:r>
              <a:rPr lang="zh-TW" altLang="en-US" sz="2800" b="1" dirty="0"/>
              <a:t> 存 保 金 </a:t>
            </a:r>
            <a:r>
              <a:rPr lang="en-US" altLang="zh-TW" sz="2800" b="1" dirty="0"/>
              <a:t>(</a:t>
            </a:r>
            <a:r>
              <a:rPr lang="zh-TW" altLang="en-US" sz="2800" b="1" dirty="0"/>
              <a:t> </a:t>
            </a:r>
            <a:r>
              <a:rPr lang="zh-TW" altLang="en-US" sz="2800" b="1" dirty="0">
                <a:solidFill>
                  <a:srgbClr val="FFCC66"/>
                </a:solidFill>
              </a:rPr>
              <a:t>秘 書 限 定 </a:t>
            </a:r>
            <a:r>
              <a:rPr lang="en-US" altLang="zh-TW" sz="2800" b="1" dirty="0"/>
              <a:t>)</a:t>
            </a:r>
            <a:endParaRPr lang="zh-TW" altLang="en-US" sz="2800" b="1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968" y="1517424"/>
            <a:ext cx="4733616" cy="319029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12" y="1543598"/>
            <a:ext cx="6609026" cy="2421510"/>
          </a:xfrm>
          <a:prstGeom prst="rect">
            <a:avLst/>
          </a:prstGeom>
        </p:spPr>
      </p:pic>
      <p:sp>
        <p:nvSpPr>
          <p:cNvPr id="8" name="向右箭號圖說文字 7"/>
          <p:cNvSpPr/>
          <p:nvPr/>
        </p:nvSpPr>
        <p:spPr>
          <a:xfrm>
            <a:off x="345712" y="3965108"/>
            <a:ext cx="6997486" cy="641023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94423"/>
            </a:avLst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提供存保金收據正本給存保金人員留存，收據副本放櫃子核銷</a:t>
            </a:r>
          </a:p>
        </p:txBody>
      </p:sp>
      <p:sp>
        <p:nvSpPr>
          <p:cNvPr id="9" name="向下箭號圖說文字 8"/>
          <p:cNvSpPr/>
          <p:nvPr/>
        </p:nvSpPr>
        <p:spPr>
          <a:xfrm>
            <a:off x="1413961" y="2261171"/>
            <a:ext cx="4213782" cy="716438"/>
          </a:xfrm>
          <a:prstGeom prst="downArrowCallout">
            <a:avLst/>
          </a:prstGeom>
          <a:solidFill>
            <a:srgbClr val="FFCC66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2"/>
                </a:solidFill>
              </a:rPr>
              <a:t>此為墊付款項，待結案時退回，故核銷</a:t>
            </a:r>
            <a:r>
              <a:rPr lang="en-US" altLang="zh-TW" b="1" dirty="0">
                <a:solidFill>
                  <a:schemeClr val="tx2"/>
                </a:solidFill>
              </a:rPr>
              <a:t>0</a:t>
            </a:r>
            <a:endParaRPr lang="zh-TW" altLang="en-US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8BBE5B18-A1A2-C78C-449F-5E24177030BF}"/>
              </a:ext>
            </a:extLst>
          </p:cNvPr>
          <p:cNvSpPr/>
          <p:nvPr/>
        </p:nvSpPr>
        <p:spPr>
          <a:xfrm>
            <a:off x="622717" y="5016695"/>
            <a:ext cx="1208387" cy="1090692"/>
          </a:xfrm>
          <a:prstGeom prst="ellipse">
            <a:avLst/>
          </a:prstGeom>
          <a:solidFill>
            <a:srgbClr val="FFCC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1" name="圖形 16" descr="長波浪髮型的女子">
            <a:extLst>
              <a:ext uri="{FF2B5EF4-FFF2-40B4-BE49-F238E27FC236}">
                <a16:creationId xmlns:a16="http://schemas.microsoft.com/office/drawing/2014/main" id="{AC9F717B-5B39-5381-EFAC-67FB1E70DDF8}"/>
              </a:ext>
            </a:extLst>
          </p:cNvPr>
          <p:cNvGrpSpPr/>
          <p:nvPr/>
        </p:nvGrpSpPr>
        <p:grpSpPr>
          <a:xfrm rot="21199182">
            <a:off x="791203" y="5090552"/>
            <a:ext cx="807743" cy="856927"/>
            <a:chOff x="10656614" y="1349483"/>
            <a:chExt cx="1099282" cy="1197076"/>
          </a:xfrm>
        </p:grpSpPr>
        <p:sp>
          <p:nvSpPr>
            <p:cNvPr id="12" name="手繪多邊形: 圖案 15">
              <a:extLst>
                <a:ext uri="{FF2B5EF4-FFF2-40B4-BE49-F238E27FC236}">
                  <a16:creationId xmlns:a16="http://schemas.microsoft.com/office/drawing/2014/main" id="{3A3456B2-C6DC-3CB8-1531-77EDEF90B32D}"/>
                </a:ext>
              </a:extLst>
            </p:cNvPr>
            <p:cNvSpPr/>
            <p:nvPr/>
          </p:nvSpPr>
          <p:spPr>
            <a:xfrm>
              <a:off x="10868735" y="1487002"/>
              <a:ext cx="839859" cy="877870"/>
            </a:xfrm>
            <a:custGeom>
              <a:avLst/>
              <a:gdLst>
                <a:gd name="connsiteX0" fmla="*/ 810022 w 839859"/>
                <a:gd name="connsiteY0" fmla="*/ 211805 h 877869"/>
                <a:gd name="connsiteX1" fmla="*/ 776708 w 839859"/>
                <a:gd name="connsiteY1" fmla="*/ 126036 h 877869"/>
                <a:gd name="connsiteX2" fmla="*/ 578710 w 839859"/>
                <a:gd name="connsiteY2" fmla="*/ 20031 h 877869"/>
                <a:gd name="connsiteX3" fmla="*/ 184890 w 839859"/>
                <a:gd name="connsiteY3" fmla="*/ 143003 h 877869"/>
                <a:gd name="connsiteX4" fmla="*/ 23473 w 839859"/>
                <a:gd name="connsiteY4" fmla="*/ 358125 h 877869"/>
                <a:gd name="connsiteX5" fmla="*/ 204036 w 839859"/>
                <a:gd name="connsiteY5" fmla="*/ 782919 h 877869"/>
                <a:gd name="connsiteX6" fmla="*/ 240306 w 839859"/>
                <a:gd name="connsiteY6" fmla="*/ 803312 h 877869"/>
                <a:gd name="connsiteX7" fmla="*/ 441729 w 839859"/>
                <a:gd name="connsiteY7" fmla="*/ 866353 h 877869"/>
                <a:gd name="connsiteX8" fmla="*/ 804728 w 839859"/>
                <a:gd name="connsiteY8" fmla="*/ 760038 h 877869"/>
                <a:gd name="connsiteX9" fmla="*/ 838193 w 839859"/>
                <a:gd name="connsiteY9" fmla="*/ 473624 h 877869"/>
                <a:gd name="connsiteX10" fmla="*/ 810022 w 839859"/>
                <a:gd name="connsiteY10" fmla="*/ 211805 h 8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9859" h="877869">
                  <a:moveTo>
                    <a:pt x="810022" y="211805"/>
                  </a:moveTo>
                  <a:cubicBezTo>
                    <a:pt x="805507" y="186432"/>
                    <a:pt x="784024" y="136776"/>
                    <a:pt x="776708" y="126036"/>
                  </a:cubicBezTo>
                  <a:cubicBezTo>
                    <a:pt x="732348" y="57546"/>
                    <a:pt x="653427" y="42603"/>
                    <a:pt x="578710" y="20031"/>
                  </a:cubicBezTo>
                  <a:cubicBezTo>
                    <a:pt x="420249" y="-32270"/>
                    <a:pt x="296345" y="30929"/>
                    <a:pt x="184890" y="143003"/>
                  </a:cubicBezTo>
                  <a:cubicBezTo>
                    <a:pt x="119202" y="204489"/>
                    <a:pt x="56627" y="272978"/>
                    <a:pt x="23473" y="358125"/>
                  </a:cubicBezTo>
                  <a:cubicBezTo>
                    <a:pt x="-41440" y="520322"/>
                    <a:pt x="56004" y="705401"/>
                    <a:pt x="204036" y="782919"/>
                  </a:cubicBezTo>
                  <a:cubicBezTo>
                    <a:pt x="216022" y="789458"/>
                    <a:pt x="228943" y="795529"/>
                    <a:pt x="240306" y="803312"/>
                  </a:cubicBezTo>
                  <a:cubicBezTo>
                    <a:pt x="301635" y="838802"/>
                    <a:pt x="373396" y="850943"/>
                    <a:pt x="441729" y="866353"/>
                  </a:cubicBezTo>
                  <a:cubicBezTo>
                    <a:pt x="569369" y="895461"/>
                    <a:pt x="729543" y="881609"/>
                    <a:pt x="804728" y="760038"/>
                  </a:cubicBezTo>
                  <a:cubicBezTo>
                    <a:pt x="855785" y="673958"/>
                    <a:pt x="842240" y="569355"/>
                    <a:pt x="838193" y="473624"/>
                  </a:cubicBezTo>
                  <a:cubicBezTo>
                    <a:pt x="832280" y="389879"/>
                    <a:pt x="822783" y="294927"/>
                    <a:pt x="810022" y="211805"/>
                  </a:cubicBezTo>
                  <a:close/>
                </a:path>
              </a:pathLst>
            </a:custGeom>
            <a:solidFill>
              <a:srgbClr val="FFFFFF"/>
            </a:solidFill>
            <a:ln w="154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13" name="圖形 16" descr="長波浪髮型的女子">
              <a:extLst>
                <a:ext uri="{FF2B5EF4-FFF2-40B4-BE49-F238E27FC236}">
                  <a16:creationId xmlns:a16="http://schemas.microsoft.com/office/drawing/2014/main" id="{6E211EB6-B48D-826E-7C9B-1A12A39D9415}"/>
                </a:ext>
              </a:extLst>
            </p:cNvPr>
            <p:cNvGrpSpPr/>
            <p:nvPr/>
          </p:nvGrpSpPr>
          <p:grpSpPr>
            <a:xfrm>
              <a:off x="10656614" y="1349483"/>
              <a:ext cx="1099282" cy="1197076"/>
              <a:chOff x="10656614" y="1349483"/>
              <a:chExt cx="1099282" cy="1197076"/>
            </a:xfrm>
            <a:solidFill>
              <a:srgbClr val="000000"/>
            </a:solidFill>
          </p:grpSpPr>
          <p:sp>
            <p:nvSpPr>
              <p:cNvPr id="14" name="手繪多邊形: 圖案 17">
                <a:extLst>
                  <a:ext uri="{FF2B5EF4-FFF2-40B4-BE49-F238E27FC236}">
                    <a16:creationId xmlns:a16="http://schemas.microsoft.com/office/drawing/2014/main" id="{A6177360-0E12-5815-9DD7-562457343B4F}"/>
                  </a:ext>
                </a:extLst>
              </p:cNvPr>
              <p:cNvSpPr/>
              <p:nvPr/>
            </p:nvSpPr>
            <p:spPr>
              <a:xfrm>
                <a:off x="10656614" y="1349483"/>
                <a:ext cx="1099282" cy="1197076"/>
              </a:xfrm>
              <a:custGeom>
                <a:avLst/>
                <a:gdLst>
                  <a:gd name="connsiteX0" fmla="*/ 82733 w 1099282"/>
                  <a:gd name="connsiteY0" fmla="*/ 1198445 h 1197076"/>
                  <a:gd name="connsiteX1" fmla="*/ 24672 w 1099282"/>
                  <a:gd name="connsiteY1" fmla="*/ 1073764 h 1197076"/>
                  <a:gd name="connsiteX2" fmla="*/ 61250 w 1099282"/>
                  <a:gd name="connsiteY2" fmla="*/ 1040141 h 1197076"/>
                  <a:gd name="connsiteX3" fmla="*/ 126318 w 1099282"/>
                  <a:gd name="connsiteY3" fmla="*/ 784547 h 1197076"/>
                  <a:gd name="connsiteX4" fmla="*/ 136279 w 1099282"/>
                  <a:gd name="connsiteY4" fmla="*/ 471048 h 1197076"/>
                  <a:gd name="connsiteX5" fmla="*/ 306106 w 1099282"/>
                  <a:gd name="connsiteY5" fmla="*/ 146654 h 1197076"/>
                  <a:gd name="connsiteX6" fmla="*/ 589250 w 1099282"/>
                  <a:gd name="connsiteY6" fmla="*/ 3136 h 1197076"/>
                  <a:gd name="connsiteX7" fmla="*/ 878155 w 1099282"/>
                  <a:gd name="connsiteY7" fmla="*/ 75518 h 1197076"/>
                  <a:gd name="connsiteX8" fmla="*/ 1045953 w 1099282"/>
                  <a:gd name="connsiteY8" fmla="*/ 290951 h 1197076"/>
                  <a:gd name="connsiteX9" fmla="*/ 1025720 w 1099282"/>
                  <a:gd name="connsiteY9" fmla="*/ 351347 h 1197076"/>
                  <a:gd name="connsiteX10" fmla="*/ 1027586 w 1099282"/>
                  <a:gd name="connsiteY10" fmla="*/ 358507 h 1197076"/>
                  <a:gd name="connsiteX11" fmla="*/ 1027586 w 1099282"/>
                  <a:gd name="connsiteY11" fmla="*/ 358507 h 1197076"/>
                  <a:gd name="connsiteX12" fmla="*/ 1072729 w 1099282"/>
                  <a:gd name="connsiteY12" fmla="*/ 694731 h 1197076"/>
                  <a:gd name="connsiteX13" fmla="*/ 1030542 w 1099282"/>
                  <a:gd name="connsiteY13" fmla="*/ 941453 h 1197076"/>
                  <a:gd name="connsiteX14" fmla="*/ 1034590 w 1099282"/>
                  <a:gd name="connsiteY14" fmla="*/ 956084 h 1197076"/>
                  <a:gd name="connsiteX15" fmla="*/ 1034590 w 1099282"/>
                  <a:gd name="connsiteY15" fmla="*/ 956084 h 1197076"/>
                  <a:gd name="connsiteX16" fmla="*/ 1072106 w 1099282"/>
                  <a:gd name="connsiteY16" fmla="*/ 1056018 h 1197076"/>
                  <a:gd name="connsiteX17" fmla="*/ 1032412 w 1099282"/>
                  <a:gd name="connsiteY17" fmla="*/ 1143343 h 1197076"/>
                  <a:gd name="connsiteX18" fmla="*/ 993030 w 1099282"/>
                  <a:gd name="connsiteY18" fmla="*/ 1143499 h 1197076"/>
                  <a:gd name="connsiteX19" fmla="*/ 892786 w 1099282"/>
                  <a:gd name="connsiteY19" fmla="*/ 1147702 h 1197076"/>
                  <a:gd name="connsiteX20" fmla="*/ 816978 w 1099282"/>
                  <a:gd name="connsiteY20" fmla="*/ 1028778 h 1197076"/>
                  <a:gd name="connsiteX21" fmla="*/ 698523 w 1099282"/>
                  <a:gd name="connsiteY21" fmla="*/ 1025819 h 1197076"/>
                  <a:gd name="connsiteX22" fmla="*/ 636727 w 1099282"/>
                  <a:gd name="connsiteY22" fmla="*/ 1007762 h 1197076"/>
                  <a:gd name="connsiteX23" fmla="*/ 652137 w 1099282"/>
                  <a:gd name="connsiteY23" fmla="*/ 989084 h 1197076"/>
                  <a:gd name="connsiteX24" fmla="*/ 652137 w 1099282"/>
                  <a:gd name="connsiteY24" fmla="*/ 989084 h 1197076"/>
                  <a:gd name="connsiteX25" fmla="*/ 995986 w 1099282"/>
                  <a:gd name="connsiteY25" fmla="*/ 921217 h 1197076"/>
                  <a:gd name="connsiteX26" fmla="*/ 1029456 w 1099282"/>
                  <a:gd name="connsiteY26" fmla="*/ 630911 h 1197076"/>
                  <a:gd name="connsiteX27" fmla="*/ 1018712 w 1099282"/>
                  <a:gd name="connsiteY27" fmla="*/ 349323 h 1197076"/>
                  <a:gd name="connsiteX28" fmla="*/ 1009842 w 1099282"/>
                  <a:gd name="connsiteY28" fmla="*/ 339984 h 1197076"/>
                  <a:gd name="connsiteX29" fmla="*/ 991472 w 1099282"/>
                  <a:gd name="connsiteY29" fmla="*/ 326286 h 1197076"/>
                  <a:gd name="connsiteX30" fmla="*/ 677975 w 1099282"/>
                  <a:gd name="connsiteY30" fmla="*/ 205182 h 1197076"/>
                  <a:gd name="connsiteX31" fmla="*/ 424716 w 1099282"/>
                  <a:gd name="connsiteY31" fmla="*/ 451279 h 1197076"/>
                  <a:gd name="connsiteX32" fmla="*/ 350778 w 1099282"/>
                  <a:gd name="connsiteY32" fmla="*/ 561020 h 1197076"/>
                  <a:gd name="connsiteX33" fmla="*/ 347822 w 1099282"/>
                  <a:gd name="connsiteY33" fmla="*/ 587793 h 1197076"/>
                  <a:gd name="connsiteX34" fmla="*/ 312798 w 1099282"/>
                  <a:gd name="connsiteY34" fmla="*/ 573162 h 1197076"/>
                  <a:gd name="connsiteX35" fmla="*/ 300500 w 1099282"/>
                  <a:gd name="connsiteY35" fmla="*/ 725551 h 1197076"/>
                  <a:gd name="connsiteX36" fmla="*/ 300500 w 1099282"/>
                  <a:gd name="connsiteY36" fmla="*/ 725551 h 1197076"/>
                  <a:gd name="connsiteX37" fmla="*/ 302370 w 1099282"/>
                  <a:gd name="connsiteY37" fmla="*/ 726642 h 1197076"/>
                  <a:gd name="connsiteX38" fmla="*/ 302522 w 1099282"/>
                  <a:gd name="connsiteY38" fmla="*/ 726642 h 1197076"/>
                  <a:gd name="connsiteX39" fmla="*/ 361985 w 1099282"/>
                  <a:gd name="connsiteY39" fmla="*/ 761977 h 1197076"/>
                  <a:gd name="connsiteX40" fmla="*/ 394675 w 1099282"/>
                  <a:gd name="connsiteY40" fmla="*/ 815367 h 1197076"/>
                  <a:gd name="connsiteX41" fmla="*/ 461142 w 1099282"/>
                  <a:gd name="connsiteY41" fmla="*/ 1116724 h 1197076"/>
                  <a:gd name="connsiteX42" fmla="*/ 364786 w 1099282"/>
                  <a:gd name="connsiteY42" fmla="*/ 1160777 h 1197076"/>
                  <a:gd name="connsiteX43" fmla="*/ 256915 w 1099282"/>
                  <a:gd name="connsiteY43" fmla="*/ 1165446 h 1197076"/>
                  <a:gd name="connsiteX44" fmla="*/ 161809 w 1099282"/>
                  <a:gd name="connsiteY44" fmla="*/ 1164668 h 1197076"/>
                  <a:gd name="connsiteX45" fmla="*/ 82733 w 1099282"/>
                  <a:gd name="connsiteY45" fmla="*/ 1198445 h 11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099282" h="1197076">
                    <a:moveTo>
                      <a:pt x="82733" y="1198445"/>
                    </a:moveTo>
                    <a:cubicBezTo>
                      <a:pt x="15175" y="1200469"/>
                      <a:pt x="-23896" y="1123886"/>
                      <a:pt x="24672" y="1073764"/>
                    </a:cubicBezTo>
                    <a:cubicBezTo>
                      <a:pt x="35567" y="1061310"/>
                      <a:pt x="48333" y="1050415"/>
                      <a:pt x="61250" y="1040141"/>
                    </a:cubicBezTo>
                    <a:cubicBezTo>
                      <a:pt x="147486" y="987060"/>
                      <a:pt x="138304" y="874051"/>
                      <a:pt x="126318" y="784547"/>
                    </a:cubicBezTo>
                    <a:cubicBezTo>
                      <a:pt x="113397" y="682279"/>
                      <a:pt x="114800" y="574095"/>
                      <a:pt x="136279" y="471048"/>
                    </a:cubicBezTo>
                    <a:cubicBezTo>
                      <a:pt x="161653" y="349167"/>
                      <a:pt x="215199" y="234602"/>
                      <a:pt x="306106" y="146654"/>
                    </a:cubicBezTo>
                    <a:cubicBezTo>
                      <a:pt x="375062" y="60106"/>
                      <a:pt x="480132" y="12475"/>
                      <a:pt x="589250" y="3136"/>
                    </a:cubicBezTo>
                    <a:cubicBezTo>
                      <a:pt x="690584" y="-5582"/>
                      <a:pt x="795343" y="18702"/>
                      <a:pt x="878155" y="75518"/>
                    </a:cubicBezTo>
                    <a:cubicBezTo>
                      <a:pt x="965322" y="112719"/>
                      <a:pt x="1027742" y="197243"/>
                      <a:pt x="1045953" y="290951"/>
                    </a:cubicBezTo>
                    <a:cubicBezTo>
                      <a:pt x="1051870" y="312432"/>
                      <a:pt x="1058562" y="351191"/>
                      <a:pt x="1025720" y="351347"/>
                    </a:cubicBezTo>
                    <a:cubicBezTo>
                      <a:pt x="1026339" y="353682"/>
                      <a:pt x="1026963" y="356171"/>
                      <a:pt x="1027586" y="358507"/>
                    </a:cubicBezTo>
                    <a:lnTo>
                      <a:pt x="1027586" y="358507"/>
                    </a:lnTo>
                    <a:cubicBezTo>
                      <a:pt x="1052960" y="474784"/>
                      <a:pt x="1060120" y="576118"/>
                      <a:pt x="1072729" y="694731"/>
                    </a:cubicBezTo>
                    <a:cubicBezTo>
                      <a:pt x="1082222" y="775364"/>
                      <a:pt x="1087516" y="873895"/>
                      <a:pt x="1030542" y="941453"/>
                    </a:cubicBezTo>
                    <a:cubicBezTo>
                      <a:pt x="1032256" y="946277"/>
                      <a:pt x="1033659" y="951104"/>
                      <a:pt x="1034590" y="956084"/>
                    </a:cubicBezTo>
                    <a:lnTo>
                      <a:pt x="1034590" y="956084"/>
                    </a:lnTo>
                    <a:cubicBezTo>
                      <a:pt x="1041442" y="993131"/>
                      <a:pt x="1059341" y="1022084"/>
                      <a:pt x="1072106" y="1056018"/>
                    </a:cubicBezTo>
                    <a:cubicBezTo>
                      <a:pt x="1132500" y="1083415"/>
                      <a:pt x="1093430" y="1175720"/>
                      <a:pt x="1032412" y="1143343"/>
                    </a:cubicBezTo>
                    <a:cubicBezTo>
                      <a:pt x="1019647" y="1147079"/>
                      <a:pt x="1005795" y="1147546"/>
                      <a:pt x="993030" y="1143499"/>
                    </a:cubicBezTo>
                    <a:cubicBezTo>
                      <a:pt x="965478" y="1169337"/>
                      <a:pt x="924229" y="1161710"/>
                      <a:pt x="892786" y="1147702"/>
                    </a:cubicBezTo>
                    <a:cubicBezTo>
                      <a:pt x="834414" y="1148012"/>
                      <a:pt x="787716" y="1081856"/>
                      <a:pt x="816978" y="1028778"/>
                    </a:cubicBezTo>
                    <a:cubicBezTo>
                      <a:pt x="778530" y="1030490"/>
                      <a:pt x="733702" y="1028155"/>
                      <a:pt x="698523" y="1025819"/>
                    </a:cubicBezTo>
                    <a:cubicBezTo>
                      <a:pt x="676884" y="1023951"/>
                      <a:pt x="651981" y="1024419"/>
                      <a:pt x="636727" y="1007762"/>
                    </a:cubicBezTo>
                    <a:cubicBezTo>
                      <a:pt x="624273" y="988305"/>
                      <a:pt x="629875" y="978654"/>
                      <a:pt x="652137" y="989084"/>
                    </a:cubicBezTo>
                    <a:lnTo>
                      <a:pt x="652137" y="989084"/>
                    </a:lnTo>
                    <a:cubicBezTo>
                      <a:pt x="766233" y="1015236"/>
                      <a:pt x="910685" y="1012744"/>
                      <a:pt x="995986" y="921217"/>
                    </a:cubicBezTo>
                    <a:cubicBezTo>
                      <a:pt x="1060587" y="842142"/>
                      <a:pt x="1034278" y="726798"/>
                      <a:pt x="1029456" y="630911"/>
                    </a:cubicBezTo>
                    <a:cubicBezTo>
                      <a:pt x="1021673" y="537048"/>
                      <a:pt x="1013422" y="442252"/>
                      <a:pt x="1018712" y="349323"/>
                    </a:cubicBezTo>
                    <a:cubicBezTo>
                      <a:pt x="1014821" y="347300"/>
                      <a:pt x="1011708" y="343875"/>
                      <a:pt x="1009842" y="339984"/>
                    </a:cubicBezTo>
                    <a:cubicBezTo>
                      <a:pt x="1001592" y="337493"/>
                      <a:pt x="997389" y="334380"/>
                      <a:pt x="991472" y="326286"/>
                    </a:cubicBezTo>
                    <a:cubicBezTo>
                      <a:pt x="918936" y="238338"/>
                      <a:pt x="785223" y="230243"/>
                      <a:pt x="677975" y="205182"/>
                    </a:cubicBezTo>
                    <a:cubicBezTo>
                      <a:pt x="609486" y="301069"/>
                      <a:pt x="521069" y="382790"/>
                      <a:pt x="424716" y="451279"/>
                    </a:cubicBezTo>
                    <a:cubicBezTo>
                      <a:pt x="398567" y="490817"/>
                      <a:pt x="376616" y="524284"/>
                      <a:pt x="350778" y="561020"/>
                    </a:cubicBezTo>
                    <a:cubicBezTo>
                      <a:pt x="367123" y="566779"/>
                      <a:pt x="365253" y="586860"/>
                      <a:pt x="347822" y="587793"/>
                    </a:cubicBezTo>
                    <a:cubicBezTo>
                      <a:pt x="336459" y="587793"/>
                      <a:pt x="324161" y="577365"/>
                      <a:pt x="312798" y="573162"/>
                    </a:cubicBezTo>
                    <a:cubicBezTo>
                      <a:pt x="260027" y="598223"/>
                      <a:pt x="249755" y="693798"/>
                      <a:pt x="300500" y="725551"/>
                    </a:cubicBezTo>
                    <a:lnTo>
                      <a:pt x="300500" y="725551"/>
                    </a:lnTo>
                    <a:cubicBezTo>
                      <a:pt x="301124" y="725863"/>
                      <a:pt x="301747" y="726175"/>
                      <a:pt x="302370" y="726642"/>
                    </a:cubicBezTo>
                    <a:cubicBezTo>
                      <a:pt x="302370" y="726642"/>
                      <a:pt x="302370" y="726642"/>
                      <a:pt x="302522" y="726642"/>
                    </a:cubicBezTo>
                    <a:cubicBezTo>
                      <a:pt x="316534" y="741273"/>
                      <a:pt x="390316" y="727575"/>
                      <a:pt x="361985" y="761977"/>
                    </a:cubicBezTo>
                    <a:cubicBezTo>
                      <a:pt x="375218" y="778164"/>
                      <a:pt x="385802" y="796377"/>
                      <a:pt x="394675" y="815367"/>
                    </a:cubicBezTo>
                    <a:cubicBezTo>
                      <a:pt x="454758" y="895221"/>
                      <a:pt x="504104" y="1027220"/>
                      <a:pt x="461142" y="1116724"/>
                    </a:cubicBezTo>
                    <a:cubicBezTo>
                      <a:pt x="443862" y="1151438"/>
                      <a:pt x="402614" y="1171984"/>
                      <a:pt x="364786" y="1160777"/>
                    </a:cubicBezTo>
                    <a:cubicBezTo>
                      <a:pt x="333035" y="1178834"/>
                      <a:pt x="288826" y="1187238"/>
                      <a:pt x="256915" y="1165446"/>
                    </a:cubicBezTo>
                    <a:cubicBezTo>
                      <a:pt x="227029" y="1178211"/>
                      <a:pt x="190136" y="1183658"/>
                      <a:pt x="161809" y="1164668"/>
                    </a:cubicBezTo>
                    <a:cubicBezTo>
                      <a:pt x="139859" y="1183658"/>
                      <a:pt x="112462" y="1198601"/>
                      <a:pt x="82733" y="11984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 dirty="0"/>
              </a:p>
            </p:txBody>
          </p:sp>
          <p:sp>
            <p:nvSpPr>
              <p:cNvPr id="15" name="手繪多邊形: 圖案 18">
                <a:extLst>
                  <a:ext uri="{FF2B5EF4-FFF2-40B4-BE49-F238E27FC236}">
                    <a16:creationId xmlns:a16="http://schemas.microsoft.com/office/drawing/2014/main" id="{F567FCB2-4664-DA18-3F2D-0195A167CCF5}"/>
                  </a:ext>
                </a:extLst>
              </p:cNvPr>
              <p:cNvSpPr/>
              <p:nvPr/>
            </p:nvSpPr>
            <p:spPr>
              <a:xfrm>
                <a:off x="10945077" y="1969965"/>
                <a:ext cx="81026" cy="52005"/>
              </a:xfrm>
              <a:custGeom>
                <a:avLst/>
                <a:gdLst>
                  <a:gd name="connsiteX0" fmla="*/ 66830 w 81026"/>
                  <a:gd name="connsiteY0" fmla="*/ 53391 h 52005"/>
                  <a:gd name="connsiteX1" fmla="*/ 49706 w 81026"/>
                  <a:gd name="connsiteY1" fmla="*/ 40937 h 52005"/>
                  <a:gd name="connsiteX2" fmla="*/ 12350 w 81026"/>
                  <a:gd name="connsiteY2" fmla="*/ 23971 h 52005"/>
                  <a:gd name="connsiteX3" fmla="*/ 6900 w 81026"/>
                  <a:gd name="connsiteY3" fmla="*/ 33622 h 52005"/>
                  <a:gd name="connsiteX4" fmla="*/ 3008 w 81026"/>
                  <a:gd name="connsiteY4" fmla="*/ 33000 h 52005"/>
                  <a:gd name="connsiteX5" fmla="*/ 60450 w 81026"/>
                  <a:gd name="connsiteY5" fmla="*/ 8405 h 52005"/>
                  <a:gd name="connsiteX6" fmla="*/ 66830 w 81026"/>
                  <a:gd name="connsiteY6" fmla="*/ 53391 h 5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026" h="52005">
                    <a:moveTo>
                      <a:pt x="66830" y="53391"/>
                    </a:moveTo>
                    <a:cubicBezTo>
                      <a:pt x="58580" y="53858"/>
                      <a:pt x="53909" y="47008"/>
                      <a:pt x="49706" y="40937"/>
                    </a:cubicBezTo>
                    <a:cubicBezTo>
                      <a:pt x="42235" y="28486"/>
                      <a:pt x="27136" y="14632"/>
                      <a:pt x="12350" y="23971"/>
                    </a:cubicBezTo>
                    <a:cubicBezTo>
                      <a:pt x="9393" y="26306"/>
                      <a:pt x="7523" y="29730"/>
                      <a:pt x="6900" y="33622"/>
                    </a:cubicBezTo>
                    <a:cubicBezTo>
                      <a:pt x="6588" y="35801"/>
                      <a:pt x="3164" y="35022"/>
                      <a:pt x="3008" y="33000"/>
                    </a:cubicBezTo>
                    <a:cubicBezTo>
                      <a:pt x="2853" y="4202"/>
                      <a:pt x="39278" y="-7161"/>
                      <a:pt x="60450" y="8405"/>
                    </a:cubicBezTo>
                    <a:cubicBezTo>
                      <a:pt x="79596" y="16967"/>
                      <a:pt x="99053" y="49188"/>
                      <a:pt x="66830" y="533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4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16" name="圖形 21" descr="笑臉">
            <a:extLst>
              <a:ext uri="{FF2B5EF4-FFF2-40B4-BE49-F238E27FC236}">
                <a16:creationId xmlns:a16="http://schemas.microsoft.com/office/drawing/2014/main" id="{B11429A0-FD83-28EA-24CC-F7BB72CFD5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862518">
            <a:off x="1112507" y="5310858"/>
            <a:ext cx="433226" cy="448266"/>
          </a:xfrm>
          <a:prstGeom prst="rect">
            <a:avLst/>
          </a:prstGeom>
        </p:spPr>
      </p:pic>
      <p:pic>
        <p:nvPicPr>
          <p:cNvPr id="19" name="圖形 20" descr="返回 以實心填滿">
            <a:extLst>
              <a:ext uri="{FF2B5EF4-FFF2-40B4-BE49-F238E27FC236}">
                <a16:creationId xmlns:a16="http://schemas.microsoft.com/office/drawing/2014/main" id="{92431178-E8F5-B8E8-FE5B-2990E29B84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8593" y="154181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826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29FAE65-C1A4-9E3F-3C59-71ADD3405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6A42-501B-4331-B78E-6EAA1B4C824E}" type="slidenum">
              <a:rPr lang="zh-TW" altLang="en-US" smtClean="0"/>
              <a:t>51</a:t>
            </a:fld>
            <a:endParaRPr lang="zh-TW" altLang="en-US"/>
          </a:p>
        </p:txBody>
      </p:sp>
      <p:graphicFrame>
        <p:nvGraphicFramePr>
          <p:cNvPr id="5" name="資料庫圖表 4">
            <a:extLst>
              <a:ext uri="{FF2B5EF4-FFF2-40B4-BE49-F238E27FC236}">
                <a16:creationId xmlns:a16="http://schemas.microsoft.com/office/drawing/2014/main" id="{3958F75C-A324-1406-F148-3F527A441D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3045072"/>
              </p:ext>
            </p:extLst>
          </p:nvPr>
        </p:nvGraphicFramePr>
        <p:xfrm>
          <a:off x="701511" y="1108918"/>
          <a:ext cx="10825316" cy="53627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箭號: 五邊形 5">
            <a:extLst>
              <a:ext uri="{FF2B5EF4-FFF2-40B4-BE49-F238E27FC236}">
                <a16:creationId xmlns:a16="http://schemas.microsoft.com/office/drawing/2014/main" id="{CCA4C29B-7254-AF02-8763-553E75BA12C3}"/>
              </a:ext>
            </a:extLst>
          </p:cNvPr>
          <p:cNvSpPr/>
          <p:nvPr/>
        </p:nvSpPr>
        <p:spPr>
          <a:xfrm>
            <a:off x="-1" y="1"/>
            <a:ext cx="10294071" cy="853802"/>
          </a:xfrm>
          <a:prstGeom prst="homePlat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R</a:t>
            </a:r>
            <a:r>
              <a:rPr lang="zh-TW" altLang="en-US" sz="2800" b="1" dirty="0"/>
              <a:t> 預 支 單 </a:t>
            </a:r>
            <a:r>
              <a:rPr lang="en-US" altLang="zh-TW" sz="2800" b="1" dirty="0"/>
              <a:t>–</a:t>
            </a:r>
            <a:r>
              <a:rPr lang="zh-TW" altLang="en-US" sz="2800" b="1" dirty="0"/>
              <a:t> 定 存 單 及 設 質 流 程 </a:t>
            </a:r>
            <a:r>
              <a:rPr lang="en-US" altLang="zh-TW" sz="2800" dirty="0"/>
              <a:t>(</a:t>
            </a:r>
            <a:r>
              <a:rPr lang="zh-TW" altLang="en-US" sz="2800" b="1" dirty="0">
                <a:solidFill>
                  <a:srgbClr val="FFCC66"/>
                </a:solidFill>
              </a:rPr>
              <a:t>秘書限定</a:t>
            </a:r>
            <a:r>
              <a:rPr lang="en-US" altLang="zh-TW" sz="2800" b="1" dirty="0"/>
              <a:t>)</a:t>
            </a:r>
            <a:endParaRPr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385791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4">
      <a:majorFont>
        <a:latin typeface="Calibri Light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4364</TotalTime>
  <Words>4531</Words>
  <Application>Microsoft Office PowerPoint</Application>
  <PresentationFormat>寬螢幕</PresentationFormat>
  <Paragraphs>671</Paragraphs>
  <Slides>51</Slides>
  <Notes>51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51</vt:i4>
      </vt:variant>
    </vt:vector>
  </HeadingPairs>
  <TitlesOfParts>
    <vt:vector size="57" baseType="lpstr">
      <vt:lpstr>微軟正黑體</vt:lpstr>
      <vt:lpstr>Arial</vt:lpstr>
      <vt:lpstr>Calibri</vt:lpstr>
      <vt:lpstr>Calibri Light</vt:lpstr>
      <vt:lpstr>Wingdings</vt:lpstr>
      <vt:lpstr>Office 佈景主題</vt:lpstr>
      <vt:lpstr>EIP表單介紹及注意事項</vt:lpstr>
      <vt:lpstr>PowerPoint 簡報</vt:lpstr>
      <vt:lpstr>PowerPoint 簡報</vt:lpstr>
      <vt:lpstr>PowerPoint 簡報</vt:lpstr>
      <vt:lpstr>請 購 單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 支 單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申 購 單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差 旅 單</vt:lpstr>
      <vt:lpstr>PowerPoint 簡報</vt:lpstr>
      <vt:lpstr>PowerPoint 簡報</vt:lpstr>
      <vt:lpstr>PowerPoint 簡報</vt:lpstr>
      <vt:lpstr>PowerPoint 簡報</vt:lpstr>
      <vt:lpstr>電信單</vt:lpstr>
      <vt:lpstr>PowerPoint 簡報</vt:lpstr>
      <vt:lpstr>PowerPoint 簡報</vt:lpstr>
      <vt:lpstr>郵 寄 單</vt:lpstr>
      <vt:lpstr>PowerPoint 簡報</vt:lpstr>
      <vt:lpstr>PowerPoint 簡報</vt:lpstr>
      <vt:lpstr>PowerPoint 簡報</vt:lpstr>
      <vt:lpstr>表單進階版篇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逢甲大學 地理資訊系統研究中心</dc:title>
  <dc:creator>育綸 Aaronhsu</dc:creator>
  <cp:lastModifiedBy>雅純 Anita</cp:lastModifiedBy>
  <cp:revision>233</cp:revision>
  <dcterms:created xsi:type="dcterms:W3CDTF">2023-02-21T02:04:06Z</dcterms:created>
  <dcterms:modified xsi:type="dcterms:W3CDTF">2024-06-04T03:22:20Z</dcterms:modified>
</cp:coreProperties>
</file>